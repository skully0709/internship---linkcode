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JetBrains Mono" panose="020B0604020202020204" charset="0"/>
      <p:regular r:id="rId20"/>
      <p:bold r:id="rId21"/>
      <p:italic r:id="rId22"/>
      <p:boldItalic r:id="rId23"/>
    </p:embeddedFont>
    <p:embeddedFont>
      <p:font typeface="Urbanist" panose="020B0604020202020204" charset="0"/>
      <p:regular r:id="rId24"/>
      <p:bold r:id="rId25"/>
      <p:italic r:id="rId26"/>
      <p:boldItalic r:id="rId27"/>
    </p:embeddedFont>
    <p:embeddedFont>
      <p:font typeface="Urbanist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846BE03-C682-4DF3-A649-B367F5DEE72B}">
  <a:tblStyle styleId="{9846BE03-C682-4DF3-A649-B367F5DEE72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00512" y="2105424"/>
            <a:ext cx="7790973" cy="115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Git &amp; GitHub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386012" y="3542258"/>
            <a:ext cx="74199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05032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DISTRIBUTED VERSION CONTROL &amp; GLOBAL COLLABORATION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5619748" y="4286811"/>
            <a:ext cx="952500" cy="571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386012" y="4536578"/>
            <a:ext cx="74199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A Guide to Git &amp; GitHub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7B2D79-92C4-7C56-82C4-8F6EEFCDE392}"/>
              </a:ext>
            </a:extLst>
          </p:cNvPr>
          <p:cNvSpPr txBox="1"/>
          <p:nvPr/>
        </p:nvSpPr>
        <p:spPr>
          <a:xfrm>
            <a:off x="9991484" y="5754782"/>
            <a:ext cx="2200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By: Sarthak Patani</a:t>
            </a:r>
          </a:p>
          <a:p>
            <a:r>
              <a:rPr lang="en-IN" dirty="0">
                <a:solidFill>
                  <a:schemeClr val="bg1"/>
                </a:solidFill>
              </a:rPr>
              <a:t>      Atharva Deshmukh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885473" y="2394644"/>
            <a:ext cx="842105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Section 01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1885473" y="3080444"/>
            <a:ext cx="8421052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05032"/>
                </a:solidFill>
                <a:latin typeface="Urbanist"/>
                <a:ea typeface="Urbanist"/>
                <a:cs typeface="Urbanist"/>
                <a:sym typeface="Urbanist"/>
              </a:rPr>
              <a:t>Git: The Local Powerhouse</a:t>
            </a:r>
            <a:endParaRPr dirty="0"/>
          </a:p>
        </p:txBody>
      </p:sp>
      <p:sp>
        <p:nvSpPr>
          <p:cNvPr id="96" name="Google Shape;96;p14"/>
          <p:cNvSpPr/>
          <p:nvPr/>
        </p:nvSpPr>
        <p:spPr>
          <a:xfrm>
            <a:off x="5619750" y="4120455"/>
            <a:ext cx="952500" cy="571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911" y="-27112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81025" y="1782762"/>
            <a:ext cx="549068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238636"/>
                </a:solidFill>
                <a:latin typeface="Urbanist"/>
                <a:ea typeface="Urbanist"/>
                <a:cs typeface="Urbanist"/>
                <a:sym typeface="Urbanist"/>
              </a:rPr>
              <a:t>The Engine of Version Control</a:t>
            </a:r>
            <a:endParaRPr sz="1600" dirty="0"/>
          </a:p>
        </p:txBody>
      </p:sp>
      <p:sp>
        <p:nvSpPr>
          <p:cNvPr id="104" name="Google Shape;104;p15"/>
          <p:cNvSpPr txBox="1"/>
          <p:nvPr/>
        </p:nvSpPr>
        <p:spPr>
          <a:xfrm>
            <a:off x="581025" y="2287587"/>
            <a:ext cx="5229225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Git is a </a:t>
            </a:r>
            <a:r>
              <a:rPr lang="en-US" sz="1600" b="1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Distributed Version Control System (DVCS)</a:t>
            </a: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created by Linus Torvalds. Unlike older systems, every developer has a full copy of the project history locally.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1009650" y="3671570"/>
            <a:ext cx="48006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Blazing fast local operations.</a:t>
            </a:r>
            <a:endParaRPr sz="1600"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1009650" y="4214495"/>
            <a:ext cx="48006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Powerful branching and merging.</a:t>
            </a:r>
            <a:endParaRPr sz="1600"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1009650" y="4757420"/>
            <a:ext cx="48006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Cryptographic data integrity.</a:t>
            </a:r>
            <a:endParaRPr sz="1600" dirty="0"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73710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7482" y="430305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6737" y="4906179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71525" y="682625"/>
            <a:ext cx="1138142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What is Git?</a:t>
            </a:r>
            <a:endParaRPr sz="1600"/>
          </a:p>
        </p:txBody>
      </p:sp>
      <p:sp>
        <p:nvSpPr>
          <p:cNvPr id="113" name="Google Shape;113;p15"/>
          <p:cNvSpPr/>
          <p:nvPr/>
        </p:nvSpPr>
        <p:spPr>
          <a:xfrm>
            <a:off x="581025" y="682625"/>
            <a:ext cx="57150" cy="485775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Free Git Social Media Social Network Icon">
            <a:extLst>
              <a:ext uri="{FF2B5EF4-FFF2-40B4-BE49-F238E27FC236}">
                <a16:creationId xmlns:a16="http://schemas.microsoft.com/office/drawing/2014/main" id="{E7DDDFF6-F0C9-EA21-9A3B-743805EA35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7751" y="1749425"/>
            <a:ext cx="3817409" cy="38174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6381750" y="1877378"/>
            <a:ext cx="549068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238636"/>
                </a:solidFill>
                <a:latin typeface="Urbanist"/>
                <a:ea typeface="Urbanist"/>
                <a:cs typeface="Urbanist"/>
                <a:sym typeface="Urbanist"/>
              </a:rPr>
              <a:t>Where the Magic Happens</a:t>
            </a:r>
            <a:endParaRPr sz="1600"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6381750" y="2382203"/>
            <a:ext cx="52292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When you run git </a:t>
            </a:r>
            <a:r>
              <a:rPr lang="en-US" sz="1600" b="0" i="0" u="none" strike="noStrike" cap="none" dirty="0" err="1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init</a:t>
            </a: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, a hidden directory called .git is created. This is your project's local database.</a:t>
            </a:r>
            <a:endParaRPr sz="1600"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6381750" y="3482340"/>
            <a:ext cx="52292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Inside the .git folder:</a:t>
            </a:r>
            <a:endParaRPr sz="1600"/>
          </a:p>
        </p:txBody>
      </p:sp>
      <p:sp>
        <p:nvSpPr>
          <p:cNvPr id="124" name="Google Shape;124;p16"/>
          <p:cNvSpPr txBox="1"/>
          <p:nvPr/>
        </p:nvSpPr>
        <p:spPr>
          <a:xfrm>
            <a:off x="6810375" y="3939540"/>
            <a:ext cx="48006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Objects:</a:t>
            </a: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Stores all content (Blobs, Trees, Commits).</a:t>
            </a:r>
            <a:endParaRPr sz="1600"/>
          </a:p>
        </p:txBody>
      </p:sp>
      <p:sp>
        <p:nvSpPr>
          <p:cNvPr id="125" name="Google Shape;125;p16"/>
          <p:cNvSpPr txBox="1"/>
          <p:nvPr/>
        </p:nvSpPr>
        <p:spPr>
          <a:xfrm>
            <a:off x="6810375" y="4482465"/>
            <a:ext cx="48006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Refs:</a:t>
            </a: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Pointers to your branches and tags.</a:t>
            </a:r>
            <a:endParaRPr sz="1600"/>
          </a:p>
        </p:txBody>
      </p:sp>
      <p:sp>
        <p:nvSpPr>
          <p:cNvPr id="126" name="Google Shape;126;p16"/>
          <p:cNvSpPr txBox="1"/>
          <p:nvPr/>
        </p:nvSpPr>
        <p:spPr>
          <a:xfrm>
            <a:off x="6810375" y="4991100"/>
            <a:ext cx="48006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HEAD:</a:t>
            </a: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Tracks where you are currently.</a:t>
            </a:r>
            <a:endParaRPr sz="1600"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97764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4862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50292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71525" y="581025"/>
            <a:ext cx="1138142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Local Storage: The .git Folder</a:t>
            </a:r>
            <a:endParaRPr sz="1600" dirty="0"/>
          </a:p>
        </p:txBody>
      </p:sp>
      <p:sp>
        <p:nvSpPr>
          <p:cNvPr id="131" name="Google Shape;131;p16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ABF0A0-CD43-7169-28C5-E3C566FC7E86}"/>
              </a:ext>
            </a:extLst>
          </p:cNvPr>
          <p:cNvSpPr/>
          <p:nvPr/>
        </p:nvSpPr>
        <p:spPr>
          <a:xfrm>
            <a:off x="939800" y="1954212"/>
            <a:ext cx="5099050" cy="37438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pic>
        <p:nvPicPr>
          <p:cNvPr id="2" name="Picture 1" descr="Learn Git Directory and Working Tree | Introduction to Git">
            <a:extLst>
              <a:ext uri="{FF2B5EF4-FFF2-40B4-BE49-F238E27FC236}">
                <a16:creationId xmlns:a16="http://schemas.microsoft.com/office/drawing/2014/main" id="{FB7F2E1D-CA72-255C-94E8-8FDDA36095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977" y="2135453"/>
            <a:ext cx="5516748" cy="3503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14587"/>
            <a:ext cx="348615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414587"/>
            <a:ext cx="348615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414587"/>
            <a:ext cx="3486150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803910" y="3452812"/>
            <a:ext cx="304038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38636"/>
                </a:solidFill>
                <a:latin typeface="Urbanist"/>
                <a:ea typeface="Urbanist"/>
                <a:cs typeface="Urbanist"/>
                <a:sym typeface="Urbanist"/>
              </a:rPr>
              <a:t>Working Directory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76300" y="3957637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The files you are currently editing on your disk. These are "untracked" or "modified".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575810" y="3452812"/>
            <a:ext cx="304038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38636"/>
                </a:solidFill>
                <a:latin typeface="Urbanist"/>
                <a:ea typeface="Urbanist"/>
                <a:cs typeface="Urbanist"/>
                <a:sym typeface="Urbanist"/>
              </a:rPr>
              <a:t>Staging Area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4648200" y="3957637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The index where you prepare files for your next commit. A draft snapshot.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347710" y="3452812"/>
            <a:ext cx="304038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38636"/>
                </a:solidFill>
                <a:latin typeface="Urbanist"/>
                <a:ea typeface="Urbanist"/>
                <a:cs typeface="Urbanist"/>
                <a:sym typeface="Urbanist"/>
              </a:rPr>
              <a:t>Repository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420100" y="3957637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The permanent history stored in the .git directory after a commit.</a:t>
            </a:r>
            <a:endParaRPr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6925" y="274796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7479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39300" y="27479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The Three States of Git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1175384" y="2394644"/>
            <a:ext cx="984123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Section 02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175384" y="3080444"/>
            <a:ext cx="984123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238636"/>
                </a:solidFill>
                <a:latin typeface="Urbanist"/>
                <a:ea typeface="Urbanist"/>
                <a:cs typeface="Urbanist"/>
                <a:sym typeface="Urbanist"/>
              </a:rPr>
              <a:t>GitHub: The Collaboration Hub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619750" y="4120455"/>
            <a:ext cx="952500" cy="571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771525" y="581025"/>
            <a:ext cx="474059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Cloud Repositories</a:t>
            </a:r>
            <a:endParaRPr sz="1600" dirty="0"/>
          </a:p>
        </p:txBody>
      </p:sp>
      <p:sp>
        <p:nvSpPr>
          <p:cNvPr id="165" name="Google Shape;165;p19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581025" y="2144268"/>
            <a:ext cx="5193242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GitHub is a hosting service for Git repositories. It takes the power of Git and adds a social layer for global collaboration.</a:t>
            </a:r>
            <a:endParaRPr sz="1600" dirty="0"/>
          </a:p>
        </p:txBody>
      </p:sp>
      <p:sp>
        <p:nvSpPr>
          <p:cNvPr id="168" name="Google Shape;168;p19"/>
          <p:cNvSpPr txBox="1"/>
          <p:nvPr/>
        </p:nvSpPr>
        <p:spPr>
          <a:xfrm>
            <a:off x="581025" y="3319462"/>
            <a:ext cx="5076824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Think of it as the </a:t>
            </a:r>
            <a:r>
              <a:rPr lang="en-US" sz="1600" b="1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central server</a:t>
            </a: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where developers sync their local work to share with the world or their team.</a:t>
            </a:r>
            <a:endParaRPr sz="1600" dirty="0"/>
          </a:p>
        </p:txBody>
      </p:sp>
      <p:sp>
        <p:nvSpPr>
          <p:cNvPr id="169" name="Google Shape;169;p19"/>
          <p:cNvSpPr txBox="1"/>
          <p:nvPr/>
        </p:nvSpPr>
        <p:spPr>
          <a:xfrm>
            <a:off x="1009650" y="4224337"/>
            <a:ext cx="42767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Off-site backup of your code.</a:t>
            </a:r>
            <a:endParaRPr sz="1600"/>
          </a:p>
        </p:txBody>
      </p:sp>
      <p:sp>
        <p:nvSpPr>
          <p:cNvPr id="170" name="Google Shape;170;p19"/>
          <p:cNvSpPr txBox="1"/>
          <p:nvPr/>
        </p:nvSpPr>
        <p:spPr>
          <a:xfrm>
            <a:off x="1009650" y="4767262"/>
            <a:ext cx="42767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Multi-user management.</a:t>
            </a:r>
            <a:endParaRPr sz="1600"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2624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8053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Repositories in a Cloud Project | Cloud | Umbraco Documentation">
            <a:extLst>
              <a:ext uri="{FF2B5EF4-FFF2-40B4-BE49-F238E27FC236}">
                <a16:creationId xmlns:a16="http://schemas.microsoft.com/office/drawing/2014/main" id="{BAECB49C-3107-3CC7-0AA9-0AB9298BAF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1255458"/>
            <a:ext cx="5180687" cy="47249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05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1060451" y="1822873"/>
            <a:ext cx="8413749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Pull Requests:</a:t>
            </a:r>
            <a:r>
              <a:rPr lang="en-US" sz="20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Propose changes and start discussions before merging code into the main branch.</a:t>
            </a:r>
            <a:endParaRPr sz="2000" dirty="0"/>
          </a:p>
        </p:txBody>
      </p:sp>
      <p:sp>
        <p:nvSpPr>
          <p:cNvPr id="179" name="Google Shape;179;p20"/>
          <p:cNvSpPr txBox="1"/>
          <p:nvPr/>
        </p:nvSpPr>
        <p:spPr>
          <a:xfrm>
            <a:off x="1060449" y="2769658"/>
            <a:ext cx="919162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Forking:</a:t>
            </a:r>
            <a:r>
              <a:rPr lang="en-US" sz="20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Copy any public project to your own account to experiment and contribute back.</a:t>
            </a:r>
            <a:endParaRPr sz="2000" dirty="0"/>
          </a:p>
        </p:txBody>
      </p:sp>
      <p:sp>
        <p:nvSpPr>
          <p:cNvPr id="180" name="Google Shape;180;p20"/>
          <p:cNvSpPr txBox="1"/>
          <p:nvPr/>
        </p:nvSpPr>
        <p:spPr>
          <a:xfrm>
            <a:off x="1103843" y="3828944"/>
            <a:ext cx="847195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GitHub Actions:</a:t>
            </a:r>
            <a:r>
              <a:rPr lang="en-US" sz="20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Automate your workflow with Continuous Integration (CI) and Deployment (CD).</a:t>
            </a:r>
            <a:endParaRPr sz="2000" dirty="0"/>
          </a:p>
        </p:txBody>
      </p:sp>
      <p:sp>
        <p:nvSpPr>
          <p:cNvPr id="181" name="Google Shape;181;p20"/>
          <p:cNvSpPr txBox="1"/>
          <p:nvPr/>
        </p:nvSpPr>
        <p:spPr>
          <a:xfrm>
            <a:off x="1060450" y="4888230"/>
            <a:ext cx="84137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Issue Tracking:</a:t>
            </a:r>
            <a:r>
              <a:rPr lang="en-US" sz="20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Manage bugs and feature requests directly alongside your code.</a:t>
            </a:r>
            <a:endParaRPr sz="2000" dirty="0"/>
          </a:p>
        </p:txBody>
      </p:sp>
      <p:pic>
        <p:nvPicPr>
          <p:cNvPr id="182" name="Google Shape;1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8795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5312" y="298041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98991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5312" y="506386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771525" y="581025"/>
            <a:ext cx="11381422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Beyond Simple Storage</a:t>
            </a:r>
            <a:endParaRPr sz="2000" dirty="0"/>
          </a:p>
        </p:txBody>
      </p:sp>
      <p:sp>
        <p:nvSpPr>
          <p:cNvPr id="187" name="Google Shape;187;p20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581025" y="1548432"/>
            <a:ext cx="5490686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238636"/>
                </a:solidFill>
                <a:latin typeface="Urbanist"/>
                <a:ea typeface="Urbanist"/>
                <a:cs typeface="Urbanist"/>
                <a:sym typeface="Urbanist"/>
              </a:rPr>
              <a:t>Parallel Development Without Overwrites</a:t>
            </a:r>
            <a:endParaRPr sz="1600" dirty="0"/>
          </a:p>
        </p:txBody>
      </p:sp>
      <p:sp>
        <p:nvSpPr>
          <p:cNvPr id="195" name="Google Shape;195;p21"/>
          <p:cNvSpPr txBox="1"/>
          <p:nvPr/>
        </p:nvSpPr>
        <p:spPr>
          <a:xfrm>
            <a:off x="581025" y="2469165"/>
            <a:ext cx="5229225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Version control shines when teams collaborate inside GitHub. Instead of sending zipped files back and forth, developers work in absolute sync:</a:t>
            </a:r>
            <a:endParaRPr sz="1600" dirty="0"/>
          </a:p>
        </p:txBody>
      </p:sp>
      <p:sp>
        <p:nvSpPr>
          <p:cNvPr id="197" name="Google Shape;197;p21"/>
          <p:cNvSpPr txBox="1"/>
          <p:nvPr/>
        </p:nvSpPr>
        <p:spPr>
          <a:xfrm>
            <a:off x="1009650" y="3709987"/>
            <a:ext cx="48006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Isolate:</a:t>
            </a: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Work on features inside separate branches.</a:t>
            </a:r>
            <a:endParaRPr sz="1600"/>
          </a:p>
        </p:txBody>
      </p:sp>
      <p:sp>
        <p:nvSpPr>
          <p:cNvPr id="198" name="Google Shape;198;p21"/>
          <p:cNvSpPr txBox="1"/>
          <p:nvPr/>
        </p:nvSpPr>
        <p:spPr>
          <a:xfrm>
            <a:off x="1009650" y="4252912"/>
            <a:ext cx="48006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Review:</a:t>
            </a: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Pull Requests enable visual line-by-line code reviews.</a:t>
            </a:r>
            <a:endParaRPr sz="1600" dirty="0"/>
          </a:p>
        </p:txBody>
      </p:sp>
      <p:sp>
        <p:nvSpPr>
          <p:cNvPr id="199" name="Google Shape;199;p21"/>
          <p:cNvSpPr txBox="1"/>
          <p:nvPr/>
        </p:nvSpPr>
        <p:spPr>
          <a:xfrm>
            <a:off x="1009650" y="5100637"/>
            <a:ext cx="48006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Resolve:</a:t>
            </a: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GitHub flags overlapping edits as merge conflicts, letting you safe-check files before merging.</a:t>
            </a:r>
            <a:endParaRPr sz="1600" dirty="0"/>
          </a:p>
        </p:txBody>
      </p:sp>
      <p:pic>
        <p:nvPicPr>
          <p:cNvPr id="200" name="Google Shape;20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592" y="385629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2029" y="4373689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6954" y="5192839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771525" y="581025"/>
            <a:ext cx="1138142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Collaborative Version Control</a:t>
            </a:r>
            <a:endParaRPr sz="1600" dirty="0"/>
          </a:p>
        </p:txBody>
      </p:sp>
      <p:sp>
        <p:nvSpPr>
          <p:cNvPr id="204" name="Google Shape;204;p21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D97416C-9B41-DAB2-C114-B776B39D19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281501"/>
            <a:ext cx="5713942" cy="28569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905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1188987" y="4153779"/>
            <a:ext cx="28860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Active Developers</a:t>
            </a:r>
            <a:endParaRPr sz="2000" dirty="0"/>
          </a:p>
        </p:txBody>
      </p:sp>
      <p:sp>
        <p:nvSpPr>
          <p:cNvPr id="211" name="Google Shape;211;p22"/>
          <p:cNvSpPr txBox="1"/>
          <p:nvPr/>
        </p:nvSpPr>
        <p:spPr>
          <a:xfrm>
            <a:off x="4966811" y="4153779"/>
            <a:ext cx="2990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Total Repositories</a:t>
            </a:r>
            <a:endParaRPr sz="2000" dirty="0"/>
          </a:p>
        </p:txBody>
      </p:sp>
      <p:sp>
        <p:nvSpPr>
          <p:cNvPr id="212" name="Google Shape;212;p22"/>
          <p:cNvSpPr txBox="1"/>
          <p:nvPr/>
        </p:nvSpPr>
        <p:spPr>
          <a:xfrm>
            <a:off x="8734807" y="4153779"/>
            <a:ext cx="27365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Fortune 100 Companies</a:t>
            </a:r>
            <a:endParaRPr sz="2000" dirty="0"/>
          </a:p>
        </p:txBody>
      </p:sp>
      <p:sp>
        <p:nvSpPr>
          <p:cNvPr id="213" name="Google Shape;213;p22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The Scale of GitHub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C495D2-2466-0878-30AF-6A008D3091E0}"/>
              </a:ext>
            </a:extLst>
          </p:cNvPr>
          <p:cNvSpPr txBox="1"/>
          <p:nvPr/>
        </p:nvSpPr>
        <p:spPr>
          <a:xfrm>
            <a:off x="1279425" y="2704221"/>
            <a:ext cx="325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rgbClr val="339933"/>
                </a:solidFill>
              </a:rPr>
              <a:t>100M+</a:t>
            </a:r>
            <a:endParaRPr lang="en-IN" dirty="0">
              <a:solidFill>
                <a:srgbClr val="33993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8FE99C-97C4-64D6-7C16-C15CB4CA9C38}"/>
              </a:ext>
            </a:extLst>
          </p:cNvPr>
          <p:cNvSpPr txBox="1"/>
          <p:nvPr/>
        </p:nvSpPr>
        <p:spPr>
          <a:xfrm>
            <a:off x="5051325" y="2683228"/>
            <a:ext cx="325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rgbClr val="339933"/>
                </a:solidFill>
              </a:rPr>
              <a:t>330M+</a:t>
            </a:r>
            <a:endParaRPr lang="en-IN" dirty="0">
              <a:solidFill>
                <a:srgbClr val="33993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65D596-CF8E-21E9-EC0A-4A9A8B93C274}"/>
              </a:ext>
            </a:extLst>
          </p:cNvPr>
          <p:cNvSpPr txBox="1"/>
          <p:nvPr/>
        </p:nvSpPr>
        <p:spPr>
          <a:xfrm>
            <a:off x="9053164" y="2683227"/>
            <a:ext cx="2089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rgbClr val="339933"/>
                </a:solidFill>
              </a:rPr>
              <a:t>90%</a:t>
            </a:r>
            <a:endParaRPr lang="en-IN" dirty="0">
              <a:solidFill>
                <a:srgbClr val="33993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2330529" y="2394644"/>
            <a:ext cx="753094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Section 03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2330529" y="3080444"/>
            <a:ext cx="7530941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Mastering the Terminal</a:t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5619750" y="4120455"/>
            <a:ext cx="952500" cy="5715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360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035045"/>
            <a:ext cx="5200650" cy="247761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581025" y="1612671"/>
            <a:ext cx="549068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238636"/>
                </a:solidFill>
                <a:latin typeface="Urbanist"/>
                <a:ea typeface="Urbanist"/>
                <a:cs typeface="Urbanist"/>
                <a:sym typeface="Urbanist"/>
              </a:rPr>
              <a:t>1. Installation</a:t>
            </a:r>
            <a:endParaRPr sz="1600" dirty="0"/>
          </a:p>
        </p:txBody>
      </p:sp>
      <p:sp>
        <p:nvSpPr>
          <p:cNvPr id="230" name="Google Shape;230;p24"/>
          <p:cNvSpPr txBox="1"/>
          <p:nvPr/>
        </p:nvSpPr>
        <p:spPr>
          <a:xfrm>
            <a:off x="581025" y="2169505"/>
            <a:ext cx="52292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Before using Git, install it on your PC or desktop operating system:</a:t>
            </a:r>
            <a:endParaRPr sz="1600" dirty="0"/>
          </a:p>
        </p:txBody>
      </p:sp>
      <p:sp>
        <p:nvSpPr>
          <p:cNvPr id="231" name="Google Shape;231;p24"/>
          <p:cNvSpPr txBox="1"/>
          <p:nvPr/>
        </p:nvSpPr>
        <p:spPr>
          <a:xfrm>
            <a:off x="6381750" y="1612670"/>
            <a:ext cx="549068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238636"/>
                </a:solidFill>
                <a:latin typeface="Urbanist"/>
                <a:ea typeface="Urbanist"/>
                <a:cs typeface="Urbanist"/>
                <a:sym typeface="Urbanist"/>
              </a:rPr>
              <a:t>2. Initial Shell Configuration</a:t>
            </a:r>
            <a:endParaRPr sz="1600" dirty="0"/>
          </a:p>
        </p:txBody>
      </p:sp>
      <p:sp>
        <p:nvSpPr>
          <p:cNvPr id="232" name="Google Shape;232;p24"/>
          <p:cNvSpPr txBox="1"/>
          <p:nvPr/>
        </p:nvSpPr>
        <p:spPr>
          <a:xfrm>
            <a:off x="6471761" y="2169505"/>
            <a:ext cx="52292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Tell Git who you are! Every commit is marked with this identity:</a:t>
            </a:r>
            <a:endParaRPr sz="1600" dirty="0"/>
          </a:p>
        </p:txBody>
      </p:sp>
      <p:sp>
        <p:nvSpPr>
          <p:cNvPr id="233" name="Google Shape;233;p24"/>
          <p:cNvSpPr txBox="1"/>
          <p:nvPr/>
        </p:nvSpPr>
        <p:spPr>
          <a:xfrm>
            <a:off x="1009650" y="3035046"/>
            <a:ext cx="48006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1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Windows:</a:t>
            </a: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Download and install </a:t>
            </a:r>
            <a:r>
              <a:rPr lang="en-US" sz="1600" b="1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Git for Windows</a:t>
            </a:r>
            <a:r>
              <a:rPr lang="en-US" sz="16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(which includes Git Bash).</a:t>
            </a:r>
            <a:endParaRPr sz="1600" dirty="0"/>
          </a:p>
        </p:txBody>
      </p:sp>
      <p:sp>
        <p:nvSpPr>
          <p:cNvPr id="234" name="Google Shape;234;p24"/>
          <p:cNvSpPr txBox="1"/>
          <p:nvPr/>
        </p:nvSpPr>
        <p:spPr>
          <a:xfrm>
            <a:off x="1009650" y="3882771"/>
            <a:ext cx="480060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macOS:</a:t>
            </a: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Open terminal and type git --version to prompt Xcode Command Line Tool install, or use brew install git.</a:t>
            </a:r>
            <a:endParaRPr sz="1600"/>
          </a:p>
        </p:txBody>
      </p:sp>
      <p:sp>
        <p:nvSpPr>
          <p:cNvPr id="235" name="Google Shape;235;p24"/>
          <p:cNvSpPr txBox="1"/>
          <p:nvPr/>
        </p:nvSpPr>
        <p:spPr>
          <a:xfrm>
            <a:off x="1009650" y="5013292"/>
            <a:ext cx="48006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Linux:</a:t>
            </a: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Run sudo apt install git-all (Ubuntu/Debian) or equivalent package manager command.</a:t>
            </a:r>
            <a:endParaRPr sz="1600"/>
          </a:p>
        </p:txBody>
      </p:sp>
      <p:sp>
        <p:nvSpPr>
          <p:cNvPr id="236" name="Google Shape;236;p24"/>
          <p:cNvSpPr/>
          <p:nvPr/>
        </p:nvSpPr>
        <p:spPr>
          <a:xfrm>
            <a:off x="6619875" y="3151664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6810375" y="3151664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7000875" y="3151664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6591300" y="3361930"/>
            <a:ext cx="4752975" cy="46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1" u="none" strike="noStrike" cap="none" dirty="0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Set your global commit username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 i="0" u="none" strike="noStrike" cap="none" dirty="0">
                <a:solidFill>
                  <a:srgbClr val="F050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-US" b="0" i="0" u="none" strike="noStrike" cap="none" dirty="0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git config --global user.name "John Doe"</a:t>
            </a:r>
            <a:endParaRPr sz="1600" dirty="0"/>
          </a:p>
        </p:txBody>
      </p:sp>
      <p:sp>
        <p:nvSpPr>
          <p:cNvPr id="240" name="Google Shape;240;p24"/>
          <p:cNvSpPr txBox="1"/>
          <p:nvPr/>
        </p:nvSpPr>
        <p:spPr>
          <a:xfrm>
            <a:off x="6591300" y="3963791"/>
            <a:ext cx="4752975" cy="691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1" u="none" strike="noStrike" cap="non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Set your global email address</a:t>
            </a:r>
            <a:b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 i="0" u="none" strike="noStrike" cap="none">
                <a:solidFill>
                  <a:srgbClr val="F050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-US" b="0" i="0" u="none" strike="noStrike" cap="non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git config --global user.email "john@example.com"</a:t>
            </a:r>
            <a:endParaRPr sz="1600"/>
          </a:p>
        </p:txBody>
      </p:sp>
      <p:sp>
        <p:nvSpPr>
          <p:cNvPr id="241" name="Google Shape;241;p24"/>
          <p:cNvSpPr txBox="1"/>
          <p:nvPr/>
        </p:nvSpPr>
        <p:spPr>
          <a:xfrm>
            <a:off x="6591300" y="4809432"/>
            <a:ext cx="4752975" cy="46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1" u="none" strike="noStrike" cap="non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Confirm setting values</a:t>
            </a:r>
            <a:b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 i="0" u="none" strike="noStrike" cap="none">
                <a:solidFill>
                  <a:srgbClr val="F050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-US" b="0" i="0" u="none" strike="noStrike" cap="none">
                <a:solidFill>
                  <a:srgbClr val="C9D1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git config --list</a:t>
            </a:r>
            <a:endParaRPr sz="1600"/>
          </a:p>
        </p:txBody>
      </p:sp>
      <p:pic>
        <p:nvPicPr>
          <p:cNvPr id="242" name="Google Shape;24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3151326"/>
            <a:ext cx="200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903630"/>
            <a:ext cx="1714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5056155"/>
            <a:ext cx="2000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781050" y="691092"/>
            <a:ext cx="1138142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Setting Up Git Locally</a:t>
            </a:r>
            <a:endParaRPr sz="1600" dirty="0"/>
          </a:p>
        </p:txBody>
      </p:sp>
      <p:sp>
        <p:nvSpPr>
          <p:cNvPr id="246" name="Google Shape;246;p24"/>
          <p:cNvSpPr/>
          <p:nvPr/>
        </p:nvSpPr>
        <p:spPr>
          <a:xfrm>
            <a:off x="581025" y="691092"/>
            <a:ext cx="57150" cy="485775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/>
          <p:nvPr/>
        </p:nvSpPr>
        <p:spPr>
          <a:xfrm>
            <a:off x="581025" y="2214562"/>
            <a:ext cx="11029950" cy="3486150"/>
          </a:xfrm>
          <a:prstGeom prst="roundRect">
            <a:avLst>
              <a:gd name="adj" fmla="val 0"/>
            </a:avLst>
          </a:prstGeom>
          <a:solidFill>
            <a:srgbClr val="0D1117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3" name="Google Shape;253;p25"/>
          <p:cNvGraphicFramePr/>
          <p:nvPr>
            <p:extLst>
              <p:ext uri="{D42A27DB-BD31-4B8C-83A1-F6EECF244321}">
                <p14:modId xmlns:p14="http://schemas.microsoft.com/office/powerpoint/2010/main" val="3981484451"/>
              </p:ext>
            </p:extLst>
          </p:nvPr>
        </p:nvGraphicFramePr>
        <p:xfrm>
          <a:off x="581025" y="2214562"/>
          <a:ext cx="11029950" cy="3486150"/>
        </p:xfrm>
        <a:graphic>
          <a:graphicData uri="http://schemas.openxmlformats.org/drawingml/2006/table">
            <a:tbl>
              <a:tblPr firstRow="1" bandRow="1">
                <a:noFill/>
                <a:tableStyleId>{9846BE03-C682-4DF3-A649-B367F5DEE72B}</a:tableStyleId>
              </a:tblPr>
              <a:tblGrid>
                <a:gridCol w="338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bg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Command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86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bg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Action</a:t>
                      </a:r>
                      <a:endParaRPr sz="16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86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bg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Context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8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git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init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Initialize a new local repo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Start of project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git add 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Stage all current changes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Preparing snapshot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git commit -m "msg"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Save staged changes to history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Local Repository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git push origin main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Send local commits to GitHub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Syncing to Remote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git pull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Fetch and merge remote changes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Updating Local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4" name="Google Shape;254;p25"/>
          <p:cNvSpPr/>
          <p:nvPr/>
        </p:nvSpPr>
        <p:spPr>
          <a:xfrm>
            <a:off x="581025" y="3286125"/>
            <a:ext cx="338822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3969246" y="3286125"/>
            <a:ext cx="4685853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8655099" y="3286125"/>
            <a:ext cx="295587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81025" y="3886200"/>
            <a:ext cx="338822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3969246" y="3886200"/>
            <a:ext cx="4685853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8655099" y="3886200"/>
            <a:ext cx="295587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81025" y="4486275"/>
            <a:ext cx="338822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3969246" y="4486275"/>
            <a:ext cx="4685853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8655099" y="4486275"/>
            <a:ext cx="295587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81025" y="5086350"/>
            <a:ext cx="338822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3969246" y="5086350"/>
            <a:ext cx="4685853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8655099" y="5086350"/>
            <a:ext cx="295587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81025" y="5686425"/>
            <a:ext cx="338822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3969246" y="5686425"/>
            <a:ext cx="4685853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8655099" y="5686425"/>
            <a:ext cx="295587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The Essential Command Manual</a:t>
            </a:r>
            <a:endParaRPr dirty="0"/>
          </a:p>
        </p:txBody>
      </p:sp>
      <p:sp>
        <p:nvSpPr>
          <p:cNvPr id="270" name="Google Shape;270;p25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05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5738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/>
          <p:cNvSpPr txBox="1"/>
          <p:nvPr/>
        </p:nvSpPr>
        <p:spPr>
          <a:xfrm>
            <a:off x="581025" y="2705100"/>
            <a:ext cx="549068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38636"/>
                </a:solidFill>
                <a:latin typeface="Urbanist"/>
                <a:ea typeface="Urbanist"/>
                <a:cs typeface="Urbanist"/>
                <a:sym typeface="Urbanist"/>
              </a:rPr>
              <a:t>Visualizing the Data Flow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581025" y="3209925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The core of Git/GitHub is the movement of code between these four areas. Understanding this "schematic" is key to resolving conflicts and managing versions.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581025" y="426720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Pro-Tip:</a:t>
            </a:r>
            <a:r>
              <a:rPr lang="en-US" sz="15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Always git pull before starting work to ensure you are on the latest version!</a:t>
            </a:r>
            <a:endParaRPr dirty="0"/>
          </a:p>
        </p:txBody>
      </p:sp>
      <p:pic>
        <p:nvPicPr>
          <p:cNvPr id="280" name="Google Shape;28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66912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The Complete Workflow</a:t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57387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9962" y="1647825"/>
            <a:ext cx="5350763" cy="4110037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 txBox="1"/>
          <p:nvPr/>
        </p:nvSpPr>
        <p:spPr>
          <a:xfrm>
            <a:off x="6381750" y="1550614"/>
            <a:ext cx="5679187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238636"/>
                </a:solidFill>
                <a:latin typeface="Urbanist"/>
                <a:ea typeface="Urbanist"/>
                <a:cs typeface="Urbanist"/>
                <a:sym typeface="Urbanist"/>
              </a:rPr>
              <a:t>Visualizing Changes Made Simple</a:t>
            </a:r>
            <a:endParaRPr sz="1800" dirty="0"/>
          </a:p>
        </p:txBody>
      </p:sp>
      <p:sp>
        <p:nvSpPr>
          <p:cNvPr id="291" name="Google Shape;291;p27"/>
          <p:cNvSpPr txBox="1"/>
          <p:nvPr/>
        </p:nvSpPr>
        <p:spPr>
          <a:xfrm>
            <a:off x="6381750" y="2767012"/>
            <a:ext cx="5771197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If the terminal feels intimidating, GitHub Desktop is the easiest way to manage your repos. It provides a GUI to visualize exactly what changed in every line of code.</a:t>
            </a:r>
            <a:endParaRPr sz="1800" dirty="0"/>
          </a:p>
        </p:txBody>
      </p:sp>
      <p:sp>
        <p:nvSpPr>
          <p:cNvPr id="292" name="Google Shape;292;p27"/>
          <p:cNvSpPr txBox="1"/>
          <p:nvPr/>
        </p:nvSpPr>
        <p:spPr>
          <a:xfrm>
            <a:off x="6839426" y="4335840"/>
            <a:ext cx="48006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View diffs (changes) side-by-side.</a:t>
            </a:r>
            <a:endParaRPr sz="1800" dirty="0"/>
          </a:p>
        </p:txBody>
      </p:sp>
      <p:sp>
        <p:nvSpPr>
          <p:cNvPr id="293" name="Google Shape;293;p27"/>
          <p:cNvSpPr txBox="1"/>
          <p:nvPr/>
        </p:nvSpPr>
        <p:spPr>
          <a:xfrm>
            <a:off x="6839426" y="4878765"/>
            <a:ext cx="48006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One-click commit and push.</a:t>
            </a:r>
            <a:endParaRPr sz="1800" dirty="0"/>
          </a:p>
        </p:txBody>
      </p:sp>
      <p:sp>
        <p:nvSpPr>
          <p:cNvPr id="294" name="Google Shape;294;p27"/>
          <p:cNvSpPr txBox="1"/>
          <p:nvPr/>
        </p:nvSpPr>
        <p:spPr>
          <a:xfrm>
            <a:off x="6839426" y="5421690"/>
            <a:ext cx="48006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Easy branch switching.</a:t>
            </a:r>
            <a:endParaRPr sz="1800" dirty="0"/>
          </a:p>
        </p:txBody>
      </p:sp>
      <p:pic>
        <p:nvPicPr>
          <p:cNvPr id="295" name="Google Shape;295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2225" y="444908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2797" y="500464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10801" y="5604771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7"/>
          <p:cNvSpPr txBox="1"/>
          <p:nvPr/>
        </p:nvSpPr>
        <p:spPr>
          <a:xfrm>
            <a:off x="771525" y="581025"/>
            <a:ext cx="1138142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Bonus: GitHub Desktop</a:t>
            </a:r>
            <a:endParaRPr sz="1800"/>
          </a:p>
        </p:txBody>
      </p:sp>
      <p:sp>
        <p:nvSpPr>
          <p:cNvPr id="299" name="Google Shape;299;p27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24100"/>
            <a:ext cx="5229225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24100"/>
            <a:ext cx="5229225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8"/>
          <p:cNvSpPr txBox="1"/>
          <p:nvPr/>
        </p:nvSpPr>
        <p:spPr>
          <a:xfrm>
            <a:off x="971550" y="2714625"/>
            <a:ext cx="467058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238636"/>
                </a:solidFill>
                <a:latin typeface="Urbanist"/>
                <a:ea typeface="Urbanist"/>
                <a:cs typeface="Urbanist"/>
                <a:sym typeface="Urbanist"/>
              </a:rPr>
              <a:t>Creating a Repository</a:t>
            </a:r>
            <a:endParaRPr sz="1600" dirty="0"/>
          </a:p>
        </p:txBody>
      </p:sp>
      <p:sp>
        <p:nvSpPr>
          <p:cNvPr id="308" name="Google Shape;308;p28"/>
          <p:cNvSpPr txBox="1"/>
          <p:nvPr/>
        </p:nvSpPr>
        <p:spPr>
          <a:xfrm>
            <a:off x="971550" y="3219450"/>
            <a:ext cx="444817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1. Go to GitHub.com &amp; click "New".</a:t>
            </a:r>
            <a:endParaRPr sz="1600"/>
          </a:p>
        </p:txBody>
      </p:sp>
      <p:sp>
        <p:nvSpPr>
          <p:cNvPr id="309" name="Google Shape;309;p28"/>
          <p:cNvSpPr txBox="1"/>
          <p:nvPr/>
        </p:nvSpPr>
        <p:spPr>
          <a:xfrm>
            <a:off x="971550" y="3667125"/>
            <a:ext cx="444817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2. Give it a name and description.</a:t>
            </a:r>
            <a:endParaRPr sz="1600"/>
          </a:p>
        </p:txBody>
      </p:sp>
      <p:sp>
        <p:nvSpPr>
          <p:cNvPr id="310" name="Google Shape;310;p28"/>
          <p:cNvSpPr txBox="1"/>
          <p:nvPr/>
        </p:nvSpPr>
        <p:spPr>
          <a:xfrm>
            <a:off x="971550" y="4114800"/>
            <a:ext cx="444817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3. Choose Public or Private.</a:t>
            </a:r>
            <a:endParaRPr sz="1600"/>
          </a:p>
        </p:txBody>
      </p:sp>
      <p:sp>
        <p:nvSpPr>
          <p:cNvPr id="311" name="Google Shape;311;p28"/>
          <p:cNvSpPr txBox="1"/>
          <p:nvPr/>
        </p:nvSpPr>
        <p:spPr>
          <a:xfrm>
            <a:off x="971550" y="4562475"/>
            <a:ext cx="444817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4. Clone it locally using git clone [URL].</a:t>
            </a:r>
            <a:endParaRPr sz="1600"/>
          </a:p>
        </p:txBody>
      </p:sp>
      <p:sp>
        <p:nvSpPr>
          <p:cNvPr id="312" name="Google Shape;312;p28"/>
          <p:cNvSpPr txBox="1"/>
          <p:nvPr/>
        </p:nvSpPr>
        <p:spPr>
          <a:xfrm>
            <a:off x="6772275" y="2714625"/>
            <a:ext cx="467058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38636"/>
                </a:solidFill>
                <a:latin typeface="Urbanist"/>
                <a:ea typeface="Urbanist"/>
                <a:cs typeface="Urbanist"/>
                <a:sym typeface="Urbanist"/>
              </a:rPr>
              <a:t>Creating a Branch</a:t>
            </a:r>
            <a:endParaRPr sz="1600"/>
          </a:p>
        </p:txBody>
      </p:sp>
      <p:sp>
        <p:nvSpPr>
          <p:cNvPr id="313" name="Google Shape;313;p28"/>
          <p:cNvSpPr txBox="1"/>
          <p:nvPr/>
        </p:nvSpPr>
        <p:spPr>
          <a:xfrm>
            <a:off x="6772275" y="3219450"/>
            <a:ext cx="444817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1. Use git checkout -b feature-name.</a:t>
            </a:r>
            <a:endParaRPr sz="1600"/>
          </a:p>
        </p:txBody>
      </p:sp>
      <p:sp>
        <p:nvSpPr>
          <p:cNvPr id="314" name="Google Shape;314;p28"/>
          <p:cNvSpPr txBox="1"/>
          <p:nvPr/>
        </p:nvSpPr>
        <p:spPr>
          <a:xfrm>
            <a:off x="6772275" y="3667125"/>
            <a:ext cx="444817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2. This creates a separate timeline for your changes.</a:t>
            </a:r>
            <a:endParaRPr sz="1600"/>
          </a:p>
        </p:txBody>
      </p:sp>
      <p:sp>
        <p:nvSpPr>
          <p:cNvPr id="315" name="Google Shape;315;p28"/>
          <p:cNvSpPr txBox="1"/>
          <p:nvPr/>
        </p:nvSpPr>
        <p:spPr>
          <a:xfrm>
            <a:off x="6772275" y="4114800"/>
            <a:ext cx="444817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3. Commits here don't affect the 'main' branch.</a:t>
            </a:r>
            <a:endParaRPr sz="1600"/>
          </a:p>
        </p:txBody>
      </p:sp>
      <p:sp>
        <p:nvSpPr>
          <p:cNvPr id="316" name="Google Shape;316;p28"/>
          <p:cNvSpPr txBox="1"/>
          <p:nvPr/>
        </p:nvSpPr>
        <p:spPr>
          <a:xfrm>
            <a:off x="6772275" y="4562475"/>
            <a:ext cx="444817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4. Merge back when your feature is done!</a:t>
            </a:r>
            <a:endParaRPr sz="1600"/>
          </a:p>
        </p:txBody>
      </p:sp>
      <p:sp>
        <p:nvSpPr>
          <p:cNvPr id="317" name="Google Shape;317;p28"/>
          <p:cNvSpPr txBox="1"/>
          <p:nvPr/>
        </p:nvSpPr>
        <p:spPr>
          <a:xfrm>
            <a:off x="771525" y="581025"/>
            <a:ext cx="1138142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Your First Repository</a:t>
            </a:r>
            <a:endParaRPr sz="1600"/>
          </a:p>
        </p:txBody>
      </p:sp>
      <p:sp>
        <p:nvSpPr>
          <p:cNvPr id="318" name="Google Shape;318;p28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9"/>
          <p:cNvSpPr txBox="1"/>
          <p:nvPr/>
        </p:nvSpPr>
        <p:spPr>
          <a:xfrm>
            <a:off x="4110751" y="2045940"/>
            <a:ext cx="3970496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4205287" y="3074640"/>
            <a:ext cx="37814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05032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THANK YOU FOR YOUR TIME!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844</Words>
  <Application>Microsoft Office PowerPoint</Application>
  <PresentationFormat>Widescreen</PresentationFormat>
  <Paragraphs>107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JetBrains Mono</vt:lpstr>
      <vt:lpstr>Calibri</vt:lpstr>
      <vt:lpstr>Urbanist</vt:lpstr>
      <vt:lpstr>Arial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RIYA</dc:creator>
  <cp:lastModifiedBy>Riya Patani</cp:lastModifiedBy>
  <cp:revision>3</cp:revision>
  <dcterms:modified xsi:type="dcterms:W3CDTF">2026-06-21T19:10:58Z</dcterms:modified>
</cp:coreProperties>
</file>