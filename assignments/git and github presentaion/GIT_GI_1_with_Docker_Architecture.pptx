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8" r:id="rId31"/>
    <p:sldId id="275" r:id="rId32"/>
    <p:sldId id="276" r:id="rId33"/>
    <p:sldId id="27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DCBCD18-1AE6-4903-9235-ED97D672884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7DF235-3801-4B4B-A6EA-F2AF330BCE3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4DBEAFD-2B68-4AE7-BE7D-719A618743A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064751C-51E1-48DC-BB06-64812D9B371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41330067-8339-463F-82BB-A6E39E99655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AE0EEF7A-D178-464F-B3D3-BA8DE33C197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7A6CF1E9-6859-4CDB-98E4-1DD803292D6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9737A49-2BD4-45E6-8807-42566944460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1EB8531-9389-4ECA-BA0E-13F40544AA6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D52F5D7D-F483-4DC6-85BC-A9154E94595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A8794E27-AE2E-4AFB-99CF-B34BAA28D49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01942E-BE5E-4F93-B2A5-FF8408D8E4B7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9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620B785-4E1B-4E0F-ABC7-176A1E452D77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D737F76-8113-4376-AC16-63B7CCA03B77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77B933A-2D68-4265-AA8E-8D2A965BFBAD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4DF2805-6991-4753-A54C-6789A9C8DA75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4347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A8C033-D596-4E55-A6B1-0F4EF95C5BE9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83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83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404B8C-1DC6-46BB-9AD4-2AF949BE8EA0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624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70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624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70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96DF1F1-DB8C-4E3A-864C-AAA38FC8A472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739B5F3-D44E-4AD8-A0D4-3DE403EC8785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740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83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29F30F-65F3-4584-BD25-8BE6D2191117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4994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395AE5-44EB-4E81-9B99-4B4670467B60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3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85;p13"/>
          <p:cNvSpPr/>
          <p:nvPr/>
        </p:nvSpPr>
        <p:spPr>
          <a:xfrm>
            <a:off x="2200680" y="2338200"/>
            <a:ext cx="7790760" cy="117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rgbClr val="F0F6FC"/>
                </a:solidFill>
                <a:latin typeface="Urbanist"/>
                <a:ea typeface="Urbanist"/>
              </a:rPr>
              <a:t>Git &amp; GitHub</a:t>
            </a:r>
            <a:br>
              <a:rPr sz="1800"/>
            </a:br>
            <a:endParaRPr lang="en-US" sz="5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86;p13"/>
          <p:cNvSpPr/>
          <p:nvPr/>
        </p:nvSpPr>
        <p:spPr>
          <a:xfrm>
            <a:off x="2386080" y="3542400"/>
            <a:ext cx="7419600" cy="43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59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F05032"/>
                </a:solidFill>
                <a:latin typeface="Urbanist SemiBold"/>
                <a:ea typeface="Urbanist SemiBold"/>
              </a:rPr>
              <a:t>DISTRIBUTED VERSION CONTROL &amp; GLOBAL COLLABORATION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87;p13"/>
          <p:cNvSpPr/>
          <p:nvPr/>
        </p:nvSpPr>
        <p:spPr>
          <a:xfrm>
            <a:off x="5619600" y="4286880"/>
            <a:ext cx="952200" cy="568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71" name="Google Shape;88;p13"/>
          <p:cNvSpPr/>
          <p:nvPr/>
        </p:nvSpPr>
        <p:spPr>
          <a:xfrm>
            <a:off x="2386080" y="4536720"/>
            <a:ext cx="741960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650" b="0" strike="noStrike" spc="-1">
                <a:solidFill>
                  <a:srgbClr val="8B949E"/>
                </a:solidFill>
                <a:latin typeface="Urbanist"/>
                <a:ea typeface="Urbanist"/>
              </a:rPr>
              <a:t>A Guide to Git &amp; GitHub</a:t>
            </a:r>
            <a:endParaRPr lang="en-US" sz="1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1"/>
          <p:cNvSpPr/>
          <p:nvPr/>
        </p:nvSpPr>
        <p:spPr>
          <a:xfrm>
            <a:off x="9991440" y="5754960"/>
            <a:ext cx="22003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0" strike="noStrike" spc="-1">
                <a:solidFill>
                  <a:schemeClr val="lt1"/>
                </a:solidFill>
                <a:latin typeface="Arial"/>
                <a:ea typeface="Arial"/>
              </a:rPr>
              <a:t>By: Sarthak Patani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0" strike="noStrike" spc="-1">
                <a:solidFill>
                  <a:schemeClr val="lt1"/>
                </a:solidFill>
                <a:latin typeface="Arial"/>
                <a:ea typeface="Arial"/>
              </a:rPr>
              <a:t>      Atharva Deshmukh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93;p14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4" name="Google Shape;94;p14"/>
          <p:cNvSpPr/>
          <p:nvPr/>
        </p:nvSpPr>
        <p:spPr>
          <a:xfrm>
            <a:off x="1885320" y="2394720"/>
            <a:ext cx="842076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500" b="1" strike="noStrike" spc="-1">
                <a:solidFill>
                  <a:srgbClr val="F0F6FC"/>
                </a:solidFill>
                <a:latin typeface="Urbanist"/>
                <a:ea typeface="Urbanist"/>
              </a:rPr>
              <a:t>Section 01</a:t>
            </a:r>
            <a:endParaRPr lang="en-US" sz="4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Google Shape;95;p14"/>
          <p:cNvSpPr/>
          <p:nvPr/>
        </p:nvSpPr>
        <p:spPr>
          <a:xfrm>
            <a:off x="1885320" y="3080520"/>
            <a:ext cx="8420760" cy="180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rgbClr val="F05032"/>
                </a:solidFill>
                <a:latin typeface="Urbanist"/>
                <a:ea typeface="Urbanist"/>
              </a:rPr>
              <a:t>Git: The Local Powerhouse</a:t>
            </a:r>
            <a:endParaRPr lang="en-US" sz="5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96;p14"/>
          <p:cNvSpPr/>
          <p:nvPr/>
        </p:nvSpPr>
        <p:spPr>
          <a:xfrm>
            <a:off x="5619600" y="4120560"/>
            <a:ext cx="952200" cy="568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01;p15" descr="image.png"/>
          <p:cNvPicPr/>
          <p:nvPr/>
        </p:nvPicPr>
        <p:blipFill>
          <a:blip r:embed="rId2"/>
          <a:stretch/>
        </p:blipFill>
        <p:spPr>
          <a:xfrm>
            <a:off x="91080" y="-27108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8" name="Google Shape;103;p15"/>
          <p:cNvSpPr/>
          <p:nvPr/>
        </p:nvSpPr>
        <p:spPr>
          <a:xfrm>
            <a:off x="581040" y="1782720"/>
            <a:ext cx="5490360" cy="8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The Engine of Version Control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Google Shape;104;p15"/>
          <p:cNvSpPr/>
          <p:nvPr/>
        </p:nvSpPr>
        <p:spPr>
          <a:xfrm>
            <a:off x="581040" y="2287440"/>
            <a:ext cx="522900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Git is a </a:t>
            </a: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Distributed Version Control System (DVCS)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created by Linus Torvalds. Unlike older systems, every developer has a full copy of the project history locally.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Google Shape;106;p15"/>
          <p:cNvSpPr/>
          <p:nvPr/>
        </p:nvSpPr>
        <p:spPr>
          <a:xfrm>
            <a:off x="1009800" y="3671640"/>
            <a:ext cx="48002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Blazing fast local operations.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107;p15"/>
          <p:cNvSpPr/>
          <p:nvPr/>
        </p:nvSpPr>
        <p:spPr>
          <a:xfrm>
            <a:off x="1009800" y="4214520"/>
            <a:ext cx="48002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Powerful branching and merging.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Google Shape;108;p15"/>
          <p:cNvSpPr/>
          <p:nvPr/>
        </p:nvSpPr>
        <p:spPr>
          <a:xfrm>
            <a:off x="1009800" y="4757400"/>
            <a:ext cx="48002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Cryptographic data integrity.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Google Shape;109;p15" descr="image.png"/>
          <p:cNvPicPr/>
          <p:nvPr/>
        </p:nvPicPr>
        <p:blipFill>
          <a:blip r:embed="rId3"/>
          <a:stretch/>
        </p:blipFill>
        <p:spPr>
          <a:xfrm>
            <a:off x="581040" y="373716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110;p15" descr="image.png"/>
          <p:cNvPicPr/>
          <p:nvPr/>
        </p:nvPicPr>
        <p:blipFill>
          <a:blip r:embed="rId4"/>
          <a:stretch/>
        </p:blipFill>
        <p:spPr>
          <a:xfrm>
            <a:off x="607320" y="430308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85" name="Google Shape;111;p15" descr="image.png"/>
          <p:cNvPicPr/>
          <p:nvPr/>
        </p:nvPicPr>
        <p:blipFill>
          <a:blip r:embed="rId5"/>
          <a:stretch/>
        </p:blipFill>
        <p:spPr>
          <a:xfrm>
            <a:off x="566640" y="4906080"/>
            <a:ext cx="228240" cy="247320"/>
          </a:xfrm>
          <a:prstGeom prst="rect">
            <a:avLst/>
          </a:prstGeom>
          <a:ln w="0">
            <a:noFill/>
          </a:ln>
        </p:spPr>
      </p:pic>
      <p:sp>
        <p:nvSpPr>
          <p:cNvPr id="86" name="Google Shape;112;p15"/>
          <p:cNvSpPr/>
          <p:nvPr/>
        </p:nvSpPr>
        <p:spPr>
          <a:xfrm>
            <a:off x="771480" y="682560"/>
            <a:ext cx="113810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0F6FC"/>
                </a:solidFill>
                <a:latin typeface="Urbanist"/>
                <a:ea typeface="Urbanist"/>
              </a:rPr>
              <a:t>What is Git?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113;p15"/>
          <p:cNvSpPr/>
          <p:nvPr/>
        </p:nvSpPr>
        <p:spPr>
          <a:xfrm>
            <a:off x="581040" y="68256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88" name="Picture 1" descr="Free Git Social Media Social Network Icon"/>
          <p:cNvPicPr/>
          <p:nvPr/>
        </p:nvPicPr>
        <p:blipFill>
          <a:blip r:embed="rId6"/>
          <a:stretch/>
        </p:blipFill>
        <p:spPr>
          <a:xfrm>
            <a:off x="6997680" y="1749600"/>
            <a:ext cx="3817080" cy="381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118;p16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90" name="Google Shape;121;p16"/>
          <p:cNvSpPr/>
          <p:nvPr/>
        </p:nvSpPr>
        <p:spPr>
          <a:xfrm>
            <a:off x="6381720" y="1877400"/>
            <a:ext cx="5490360" cy="42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Where the Magic Happens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22;p16"/>
          <p:cNvSpPr/>
          <p:nvPr/>
        </p:nvSpPr>
        <p:spPr>
          <a:xfrm>
            <a:off x="6381720" y="2382120"/>
            <a:ext cx="5229000" cy="7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When you run git init, a hidden directory called .git is created. This is your project's local database.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23;p16"/>
          <p:cNvSpPr/>
          <p:nvPr/>
        </p:nvSpPr>
        <p:spPr>
          <a:xfrm>
            <a:off x="6381720" y="3482280"/>
            <a:ext cx="52290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Inside the .git folder: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24;p16"/>
          <p:cNvSpPr/>
          <p:nvPr/>
        </p:nvSpPr>
        <p:spPr>
          <a:xfrm>
            <a:off x="6810480" y="3939480"/>
            <a:ext cx="4800240" cy="7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Objects: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Stores all content (Blobs, Trees, Commits).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25;p16"/>
          <p:cNvSpPr/>
          <p:nvPr/>
        </p:nvSpPr>
        <p:spPr>
          <a:xfrm>
            <a:off x="6810480" y="4482360"/>
            <a:ext cx="48002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Refs: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Pointers to your branches and tags.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26;p16"/>
          <p:cNvSpPr/>
          <p:nvPr/>
        </p:nvSpPr>
        <p:spPr>
          <a:xfrm>
            <a:off x="6810480" y="4991040"/>
            <a:ext cx="48002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HEAD: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Tracks where you are currently.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Google Shape;127;p16" descr="image.png"/>
          <p:cNvPicPr/>
          <p:nvPr/>
        </p:nvPicPr>
        <p:blipFill>
          <a:blip r:embed="rId3"/>
          <a:stretch/>
        </p:blipFill>
        <p:spPr>
          <a:xfrm>
            <a:off x="6390360" y="4012560"/>
            <a:ext cx="256680" cy="24732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128;p16" descr="image.png"/>
          <p:cNvPicPr/>
          <p:nvPr/>
        </p:nvPicPr>
        <p:blipFill>
          <a:blip r:embed="rId4"/>
          <a:stretch/>
        </p:blipFill>
        <p:spPr>
          <a:xfrm>
            <a:off x="6404760" y="459936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98" name="Google Shape;129;p16" descr="image.png"/>
          <p:cNvPicPr/>
          <p:nvPr/>
        </p:nvPicPr>
        <p:blipFill>
          <a:blip r:embed="rId5"/>
          <a:stretch/>
        </p:blipFill>
        <p:spPr>
          <a:xfrm>
            <a:off x="6390360" y="5119560"/>
            <a:ext cx="228240" cy="247320"/>
          </a:xfrm>
          <a:prstGeom prst="rect">
            <a:avLst/>
          </a:prstGeom>
          <a:ln w="0">
            <a:noFill/>
          </a:ln>
        </p:spPr>
      </p:pic>
      <p:sp>
        <p:nvSpPr>
          <p:cNvPr id="99" name="Google Shape;130;p16"/>
          <p:cNvSpPr/>
          <p:nvPr/>
        </p:nvSpPr>
        <p:spPr>
          <a:xfrm>
            <a:off x="771480" y="581040"/>
            <a:ext cx="113810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0F6FC"/>
                </a:solidFill>
                <a:latin typeface="Urbanist"/>
                <a:ea typeface="Urbanist"/>
              </a:rPr>
              <a:t>Local Storage: The .git Folder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31;p16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01" name="Rectangle: Rounded Corners 3"/>
          <p:cNvSpPr/>
          <p:nvPr/>
        </p:nvSpPr>
        <p:spPr>
          <a:xfrm>
            <a:off x="594360" y="1807560"/>
            <a:ext cx="5098680" cy="374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79646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600" b="0" strike="noStrike" spc="-1">
              <a:solidFill>
                <a:schemeClr val="dk1"/>
              </a:solidFill>
              <a:latin typeface="Arial"/>
              <a:ea typeface="Arial"/>
            </a:endParaRPr>
          </a:p>
        </p:txBody>
      </p:sp>
      <p:pic>
        <p:nvPicPr>
          <p:cNvPr id="102" name="Picture 1" descr="Learn Git Directory and Working Tree | Introduction to Git"/>
          <p:cNvPicPr/>
          <p:nvPr/>
        </p:nvPicPr>
        <p:blipFill>
          <a:blip r:embed="rId6"/>
          <a:stretch/>
        </p:blipFill>
        <p:spPr>
          <a:xfrm>
            <a:off x="319680" y="1988640"/>
            <a:ext cx="5516280" cy="3502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36;p17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04" name="Google Shape;137;p17" descr="image.png"/>
          <p:cNvPicPr/>
          <p:nvPr/>
        </p:nvPicPr>
        <p:blipFill>
          <a:blip r:embed="rId3"/>
          <a:stretch/>
        </p:blipFill>
        <p:spPr>
          <a:xfrm>
            <a:off x="581040" y="2414520"/>
            <a:ext cx="3485880" cy="28951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pic>
        <p:nvPicPr>
          <p:cNvPr id="105" name="Google Shape;138;p17" descr="image.png"/>
          <p:cNvPicPr/>
          <p:nvPr/>
        </p:nvPicPr>
        <p:blipFill>
          <a:blip r:embed="rId4"/>
          <a:stretch/>
        </p:blipFill>
        <p:spPr>
          <a:xfrm>
            <a:off x="4352760" y="2414520"/>
            <a:ext cx="3485880" cy="2895120"/>
          </a:xfrm>
          <a:prstGeom prst="rect">
            <a:avLst/>
          </a:prstGeom>
          <a:ln w="0">
            <a:noFill/>
          </a:ln>
        </p:spPr>
      </p:pic>
      <p:pic>
        <p:nvPicPr>
          <p:cNvPr id="106" name="Google Shape;139;p17" descr="image.png"/>
          <p:cNvPicPr/>
          <p:nvPr/>
        </p:nvPicPr>
        <p:blipFill>
          <a:blip r:embed="rId5"/>
          <a:stretch/>
        </p:blipFill>
        <p:spPr>
          <a:xfrm>
            <a:off x="8124840" y="2414520"/>
            <a:ext cx="3485880" cy="2895120"/>
          </a:xfrm>
          <a:prstGeom prst="rect">
            <a:avLst/>
          </a:prstGeom>
          <a:ln w="0">
            <a:noFill/>
          </a:ln>
        </p:spPr>
      </p:pic>
      <p:sp>
        <p:nvSpPr>
          <p:cNvPr id="107" name="Google Shape;140;p17"/>
          <p:cNvSpPr/>
          <p:nvPr/>
        </p:nvSpPr>
        <p:spPr>
          <a:xfrm>
            <a:off x="803880" y="3452760"/>
            <a:ext cx="3040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238636"/>
                </a:solidFill>
                <a:latin typeface="Urbanist"/>
                <a:ea typeface="Urbanist"/>
              </a:rPr>
              <a:t>Working Directory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41;p17"/>
          <p:cNvSpPr/>
          <p:nvPr/>
        </p:nvSpPr>
        <p:spPr>
          <a:xfrm>
            <a:off x="876240" y="3957480"/>
            <a:ext cx="28951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8B949E"/>
                </a:solidFill>
                <a:latin typeface="Urbanist"/>
                <a:ea typeface="Urbanist"/>
              </a:rPr>
              <a:t>The files you are currently editing on your disk. These are "untracked" or "modified".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42;p17"/>
          <p:cNvSpPr/>
          <p:nvPr/>
        </p:nvSpPr>
        <p:spPr>
          <a:xfrm>
            <a:off x="4575960" y="3452760"/>
            <a:ext cx="3040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238636"/>
                </a:solidFill>
                <a:latin typeface="Urbanist"/>
                <a:ea typeface="Urbanist"/>
              </a:rPr>
              <a:t>Staging Area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143;p17"/>
          <p:cNvSpPr/>
          <p:nvPr/>
        </p:nvSpPr>
        <p:spPr>
          <a:xfrm>
            <a:off x="4648320" y="3957480"/>
            <a:ext cx="28951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8B949E"/>
                </a:solidFill>
                <a:latin typeface="Urbanist"/>
                <a:ea typeface="Urbanist"/>
              </a:rPr>
              <a:t>The index where you prepare files for your next commit. A draft snapshot.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44;p17"/>
          <p:cNvSpPr/>
          <p:nvPr/>
        </p:nvSpPr>
        <p:spPr>
          <a:xfrm>
            <a:off x="8347680" y="3452760"/>
            <a:ext cx="3040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238636"/>
                </a:solidFill>
                <a:latin typeface="Urbanist"/>
                <a:ea typeface="Urbanist"/>
              </a:rPr>
              <a:t>Repository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45;p17"/>
          <p:cNvSpPr/>
          <p:nvPr/>
        </p:nvSpPr>
        <p:spPr>
          <a:xfrm>
            <a:off x="8420040" y="3957480"/>
            <a:ext cx="28951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6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8B949E"/>
                </a:solidFill>
                <a:latin typeface="Urbanist"/>
                <a:ea typeface="Urbanist"/>
              </a:rPr>
              <a:t>The permanent history stored in the .git directory after a commit.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Google Shape;146;p17" descr="image.png"/>
          <p:cNvPicPr/>
          <p:nvPr/>
        </p:nvPicPr>
        <p:blipFill>
          <a:blip r:embed="rId6"/>
          <a:stretch/>
        </p:blipFill>
        <p:spPr>
          <a:xfrm>
            <a:off x="2066760" y="2747880"/>
            <a:ext cx="514080" cy="456840"/>
          </a:xfrm>
          <a:prstGeom prst="rect">
            <a:avLst/>
          </a:prstGeom>
          <a:ln w="0">
            <a:noFill/>
          </a:ln>
        </p:spPr>
      </p:pic>
      <p:pic>
        <p:nvPicPr>
          <p:cNvPr id="114" name="Google Shape;147;p17" descr="image.png"/>
          <p:cNvPicPr/>
          <p:nvPr/>
        </p:nvPicPr>
        <p:blipFill>
          <a:blip r:embed="rId7"/>
          <a:stretch/>
        </p:blipFill>
        <p:spPr>
          <a:xfrm>
            <a:off x="5867280" y="2747880"/>
            <a:ext cx="456840" cy="456840"/>
          </a:xfrm>
          <a:prstGeom prst="rect">
            <a:avLst/>
          </a:prstGeom>
          <a:ln w="0">
            <a:noFill/>
          </a:ln>
        </p:spPr>
      </p:pic>
      <p:pic>
        <p:nvPicPr>
          <p:cNvPr id="115" name="Google Shape;148;p17" descr="image.png"/>
          <p:cNvPicPr/>
          <p:nvPr/>
        </p:nvPicPr>
        <p:blipFill>
          <a:blip r:embed="rId8"/>
          <a:stretch/>
        </p:blipFill>
        <p:spPr>
          <a:xfrm>
            <a:off x="9639360" y="274788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16" name="Google Shape;149;p17"/>
          <p:cNvSpPr/>
          <p:nvPr/>
        </p:nvSpPr>
        <p:spPr>
          <a:xfrm>
            <a:off x="771480" y="581040"/>
            <a:ext cx="11381040" cy="48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strike="noStrike" spc="-1">
                <a:solidFill>
                  <a:srgbClr val="F0F6FC"/>
                </a:solidFill>
                <a:latin typeface="Urbanist"/>
                <a:ea typeface="Urbanist"/>
              </a:rPr>
              <a:t>The Three States of Git</a:t>
            </a:r>
            <a:endParaRPr lang="en-US" sz="3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150;p17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55;p18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156;p18"/>
          <p:cNvSpPr/>
          <p:nvPr/>
        </p:nvSpPr>
        <p:spPr>
          <a:xfrm>
            <a:off x="1175400" y="2394720"/>
            <a:ext cx="984096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500" b="1" strike="noStrike" spc="-1">
                <a:solidFill>
                  <a:srgbClr val="F0F6FC"/>
                </a:solidFill>
                <a:latin typeface="Urbanist"/>
                <a:ea typeface="Urbanist"/>
              </a:rPr>
              <a:t>Section 02</a:t>
            </a:r>
            <a:endParaRPr lang="en-US" sz="4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57;p18"/>
          <p:cNvSpPr/>
          <p:nvPr/>
        </p:nvSpPr>
        <p:spPr>
          <a:xfrm>
            <a:off x="1175400" y="3080520"/>
            <a:ext cx="9840960" cy="180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rgbClr val="238636"/>
                </a:solidFill>
                <a:latin typeface="Urbanist"/>
                <a:ea typeface="Urbanist"/>
              </a:rPr>
              <a:t>GitHub: The Collaboration Hub</a:t>
            </a:r>
            <a:endParaRPr lang="en-US" sz="5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58;p18"/>
          <p:cNvSpPr/>
          <p:nvPr/>
        </p:nvSpPr>
        <p:spPr>
          <a:xfrm>
            <a:off x="5619600" y="4120560"/>
            <a:ext cx="952200" cy="56880"/>
          </a:xfrm>
          <a:prstGeom prst="rect">
            <a:avLst/>
          </a:prstGeom>
          <a:solidFill>
            <a:srgbClr val="2386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63;p19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164;p19"/>
          <p:cNvSpPr/>
          <p:nvPr/>
        </p:nvSpPr>
        <p:spPr>
          <a:xfrm>
            <a:off x="771480" y="581040"/>
            <a:ext cx="474012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0F6FC"/>
                </a:solidFill>
                <a:latin typeface="Urbanist"/>
                <a:ea typeface="Urbanist"/>
              </a:rPr>
              <a:t>Cloud Repositories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165;p19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25" name="Google Shape;167;p19"/>
          <p:cNvSpPr/>
          <p:nvPr/>
        </p:nvSpPr>
        <p:spPr>
          <a:xfrm>
            <a:off x="581040" y="2144160"/>
            <a:ext cx="519300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GitHub is a hosting service for Git repositories. It takes the power of Git and adds a social layer for global collaboration.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168;p19"/>
          <p:cNvSpPr/>
          <p:nvPr/>
        </p:nvSpPr>
        <p:spPr>
          <a:xfrm>
            <a:off x="581040" y="3319560"/>
            <a:ext cx="5076360" cy="116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Think of it as the </a:t>
            </a: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central server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where developers sync their local work to share with the world or their team.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69;p19"/>
          <p:cNvSpPr/>
          <p:nvPr/>
        </p:nvSpPr>
        <p:spPr>
          <a:xfrm>
            <a:off x="1009800" y="4224240"/>
            <a:ext cx="42764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Off-site backup of your code.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170;p19"/>
          <p:cNvSpPr/>
          <p:nvPr/>
        </p:nvSpPr>
        <p:spPr>
          <a:xfrm>
            <a:off x="1009800" y="4767120"/>
            <a:ext cx="42764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Multi-user management.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" name="Google Shape;171;p19" descr="image.png"/>
          <p:cNvPicPr/>
          <p:nvPr/>
        </p:nvPicPr>
        <p:blipFill>
          <a:blip r:embed="rId3"/>
          <a:stretch/>
        </p:blipFill>
        <p:spPr>
          <a:xfrm>
            <a:off x="581040" y="4262400"/>
            <a:ext cx="285480" cy="247320"/>
          </a:xfrm>
          <a:prstGeom prst="rect">
            <a:avLst/>
          </a:prstGeom>
          <a:ln w="0">
            <a:noFill/>
          </a:ln>
        </p:spPr>
      </p:pic>
      <p:pic>
        <p:nvPicPr>
          <p:cNvPr id="130" name="Google Shape;172;p19" descr="image.png"/>
          <p:cNvPicPr/>
          <p:nvPr/>
        </p:nvPicPr>
        <p:blipFill>
          <a:blip r:embed="rId4"/>
          <a:stretch/>
        </p:blipFill>
        <p:spPr>
          <a:xfrm>
            <a:off x="581040" y="4805280"/>
            <a:ext cx="285480" cy="24732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4" descr="Repositories in a Cloud Project | Cloud | Umbraco Documentation"/>
          <p:cNvPicPr/>
          <p:nvPr/>
        </p:nvPicPr>
        <p:blipFill>
          <a:blip r:embed="rId5"/>
          <a:stretch/>
        </p:blipFill>
        <p:spPr>
          <a:xfrm>
            <a:off x="6296040" y="1255320"/>
            <a:ext cx="5180400" cy="4724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77;p20" descr="image.png"/>
          <p:cNvPicPr/>
          <p:nvPr/>
        </p:nvPicPr>
        <p:blipFill>
          <a:blip r:embed="rId2"/>
          <a:stretch/>
        </p:blipFill>
        <p:spPr>
          <a:xfrm>
            <a:off x="3888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33" name="Google Shape;178;p20"/>
          <p:cNvSpPr/>
          <p:nvPr/>
        </p:nvSpPr>
        <p:spPr>
          <a:xfrm>
            <a:off x="1060560" y="1823040"/>
            <a:ext cx="8413560" cy="97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8B949E"/>
                </a:solidFill>
                <a:latin typeface="Urbanist"/>
                <a:ea typeface="Urbanist"/>
              </a:rPr>
              <a:t>Pull Requests:</a:t>
            </a:r>
            <a:r>
              <a:rPr lang="en-US" sz="2000" b="0" strike="noStrike" spc="-1">
                <a:solidFill>
                  <a:srgbClr val="8B949E"/>
                </a:solidFill>
                <a:latin typeface="Urbanist"/>
                <a:ea typeface="Urbanist"/>
              </a:rPr>
              <a:t> Propose changes and start discussions before merging code into the main branch.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Google Shape;179;p20"/>
          <p:cNvSpPr/>
          <p:nvPr/>
        </p:nvSpPr>
        <p:spPr>
          <a:xfrm>
            <a:off x="1060560" y="2769480"/>
            <a:ext cx="9191160" cy="97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8B949E"/>
                </a:solidFill>
                <a:latin typeface="Urbanist"/>
                <a:ea typeface="Urbanist"/>
              </a:rPr>
              <a:t>Forking:</a:t>
            </a:r>
            <a:r>
              <a:rPr lang="en-US" sz="2000" b="0" strike="noStrike" spc="-1">
                <a:solidFill>
                  <a:srgbClr val="8B949E"/>
                </a:solidFill>
                <a:latin typeface="Urbanist"/>
                <a:ea typeface="Urbanist"/>
              </a:rPr>
              <a:t> Copy any public project to your own account to experiment and contribute back.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Google Shape;180;p20"/>
          <p:cNvSpPr/>
          <p:nvPr/>
        </p:nvSpPr>
        <p:spPr>
          <a:xfrm>
            <a:off x="1103760" y="3828960"/>
            <a:ext cx="8471520" cy="97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8B949E"/>
                </a:solidFill>
                <a:latin typeface="Urbanist"/>
                <a:ea typeface="Urbanist"/>
              </a:rPr>
              <a:t>GitHub Actions:</a:t>
            </a:r>
            <a:r>
              <a:rPr lang="en-US" sz="2000" b="0" strike="noStrike" spc="-1">
                <a:solidFill>
                  <a:srgbClr val="8B949E"/>
                </a:solidFill>
                <a:latin typeface="Urbanist"/>
                <a:ea typeface="Urbanist"/>
              </a:rPr>
              <a:t> Automate your workflow with Continuous Integration (CI) and Deployment (CD).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181;p20"/>
          <p:cNvSpPr/>
          <p:nvPr/>
        </p:nvSpPr>
        <p:spPr>
          <a:xfrm>
            <a:off x="1060560" y="4888080"/>
            <a:ext cx="8413560" cy="97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8B949E"/>
                </a:solidFill>
                <a:latin typeface="Urbanist"/>
                <a:ea typeface="Urbanist"/>
              </a:rPr>
              <a:t>Issue Tracking:</a:t>
            </a:r>
            <a:r>
              <a:rPr lang="en-US" sz="2000" b="0" strike="noStrike" spc="-1">
                <a:solidFill>
                  <a:srgbClr val="8B949E"/>
                </a:solidFill>
                <a:latin typeface="Urbanist"/>
                <a:ea typeface="Urbanist"/>
              </a:rPr>
              <a:t> Manage bugs and feature requests directly alongside your code.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" name="Google Shape;182;p20" descr="image.png"/>
          <p:cNvPicPr/>
          <p:nvPr/>
        </p:nvPicPr>
        <p:blipFill>
          <a:blip r:embed="rId3"/>
          <a:stretch/>
        </p:blipFill>
        <p:spPr>
          <a:xfrm>
            <a:off x="581040" y="1987920"/>
            <a:ext cx="228240" cy="247320"/>
          </a:xfrm>
          <a:prstGeom prst="rect">
            <a:avLst/>
          </a:prstGeom>
          <a:ln w="0">
            <a:noFill/>
          </a:ln>
        </p:spPr>
      </p:pic>
      <p:pic>
        <p:nvPicPr>
          <p:cNvPr id="138" name="Google Shape;183;p20" descr="image.png"/>
          <p:cNvPicPr/>
          <p:nvPr/>
        </p:nvPicPr>
        <p:blipFill>
          <a:blip r:embed="rId4"/>
          <a:stretch/>
        </p:blipFill>
        <p:spPr>
          <a:xfrm>
            <a:off x="595440" y="298044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139" name="Google Shape;184;p20" descr="image.png"/>
          <p:cNvPicPr/>
          <p:nvPr/>
        </p:nvPicPr>
        <p:blipFill>
          <a:blip r:embed="rId5"/>
          <a:stretch/>
        </p:blipFill>
        <p:spPr>
          <a:xfrm>
            <a:off x="581040" y="3989880"/>
            <a:ext cx="228240" cy="247320"/>
          </a:xfrm>
          <a:prstGeom prst="rect">
            <a:avLst/>
          </a:prstGeom>
          <a:ln w="0">
            <a:noFill/>
          </a:ln>
        </p:spPr>
      </p:pic>
      <p:pic>
        <p:nvPicPr>
          <p:cNvPr id="140" name="Google Shape;185;p20" descr="image.png"/>
          <p:cNvPicPr/>
          <p:nvPr/>
        </p:nvPicPr>
        <p:blipFill>
          <a:blip r:embed="rId6"/>
          <a:stretch/>
        </p:blipFill>
        <p:spPr>
          <a:xfrm>
            <a:off x="595440" y="5063760"/>
            <a:ext cx="228240" cy="247320"/>
          </a:xfrm>
          <a:prstGeom prst="rect">
            <a:avLst/>
          </a:prstGeom>
          <a:ln w="0">
            <a:noFill/>
          </a:ln>
        </p:spPr>
      </p:pic>
      <p:sp>
        <p:nvSpPr>
          <p:cNvPr id="141" name="Google Shape;186;p20"/>
          <p:cNvSpPr/>
          <p:nvPr/>
        </p:nvSpPr>
        <p:spPr>
          <a:xfrm>
            <a:off x="771480" y="581040"/>
            <a:ext cx="11381040" cy="60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0F6FC"/>
                </a:solidFill>
                <a:latin typeface="Urbanist"/>
                <a:ea typeface="Urbanist"/>
              </a:rPr>
              <a:t>Beyond Simple Storage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187;p20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92;p21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44" name="Google Shape;194;p21"/>
          <p:cNvSpPr/>
          <p:nvPr/>
        </p:nvSpPr>
        <p:spPr>
          <a:xfrm>
            <a:off x="581040" y="1548360"/>
            <a:ext cx="5490360" cy="85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Parallel Development Without Overwrites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195;p21"/>
          <p:cNvSpPr/>
          <p:nvPr/>
        </p:nvSpPr>
        <p:spPr>
          <a:xfrm>
            <a:off x="581040" y="2469240"/>
            <a:ext cx="522900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Version control shines when teams collaborate inside GitHub. Instead of sending zipped files back and forth, developers work in absolute sync: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197;p21"/>
          <p:cNvSpPr/>
          <p:nvPr/>
        </p:nvSpPr>
        <p:spPr>
          <a:xfrm>
            <a:off x="1009800" y="3710160"/>
            <a:ext cx="4800240" cy="7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Isolate: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Work on features inside separate branches.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198;p21"/>
          <p:cNvSpPr/>
          <p:nvPr/>
        </p:nvSpPr>
        <p:spPr>
          <a:xfrm>
            <a:off x="1009800" y="4253040"/>
            <a:ext cx="4800240" cy="7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Review: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Pull Requests enable visual line-by-line code reviews.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199;p21"/>
          <p:cNvSpPr/>
          <p:nvPr/>
        </p:nvSpPr>
        <p:spPr>
          <a:xfrm>
            <a:off x="1009800" y="5100480"/>
            <a:ext cx="4800240" cy="116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Resolve: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GitHub flags overlapping edits as merge conflicts, letting you safe-check files before merging.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9" name="Google Shape;200;p21" descr="image.png"/>
          <p:cNvPicPr/>
          <p:nvPr/>
        </p:nvPicPr>
        <p:blipFill>
          <a:blip r:embed="rId3"/>
          <a:stretch/>
        </p:blipFill>
        <p:spPr>
          <a:xfrm>
            <a:off x="627480" y="385632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150" name="Google Shape;201;p21" descr="image.png"/>
          <p:cNvPicPr/>
          <p:nvPr/>
        </p:nvPicPr>
        <p:blipFill>
          <a:blip r:embed="rId4"/>
          <a:stretch/>
        </p:blipFill>
        <p:spPr>
          <a:xfrm>
            <a:off x="572040" y="4373640"/>
            <a:ext cx="285480" cy="247320"/>
          </a:xfrm>
          <a:prstGeom prst="rect">
            <a:avLst/>
          </a:prstGeom>
          <a:ln w="0">
            <a:noFill/>
          </a:ln>
        </p:spPr>
      </p:pic>
      <p:pic>
        <p:nvPicPr>
          <p:cNvPr id="151" name="Google Shape;202;p21" descr="image.png"/>
          <p:cNvPicPr/>
          <p:nvPr/>
        </p:nvPicPr>
        <p:blipFill>
          <a:blip r:embed="rId5"/>
          <a:stretch/>
        </p:blipFill>
        <p:spPr>
          <a:xfrm>
            <a:off x="606960" y="5193000"/>
            <a:ext cx="228240" cy="247320"/>
          </a:xfrm>
          <a:prstGeom prst="rect">
            <a:avLst/>
          </a:prstGeom>
          <a:ln w="0">
            <a:noFill/>
          </a:ln>
        </p:spPr>
      </p:pic>
      <p:sp>
        <p:nvSpPr>
          <p:cNvPr id="152" name="Google Shape;203;p21"/>
          <p:cNvSpPr/>
          <p:nvPr/>
        </p:nvSpPr>
        <p:spPr>
          <a:xfrm>
            <a:off x="771480" y="581040"/>
            <a:ext cx="113810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0F6FC"/>
                </a:solidFill>
                <a:latin typeface="Urbanist"/>
                <a:ea typeface="Urbanist"/>
              </a:rPr>
              <a:t>Collaborative Version Control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204;p21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154" name="Picture 24"/>
          <p:cNvPicPr/>
          <p:nvPr/>
        </p:nvPicPr>
        <p:blipFill>
          <a:blip r:embed="rId6"/>
          <a:stretch/>
        </p:blipFill>
        <p:spPr>
          <a:xfrm>
            <a:off x="6095880" y="2281680"/>
            <a:ext cx="5713560" cy="2856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209;p22" descr="image.png"/>
          <p:cNvPicPr/>
          <p:nvPr/>
        </p:nvPicPr>
        <p:blipFill>
          <a:blip r:embed="rId2"/>
          <a:stretch/>
        </p:blipFill>
        <p:spPr>
          <a:xfrm>
            <a:off x="-3888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56" name="Google Shape;210;p22"/>
          <p:cNvSpPr/>
          <p:nvPr/>
        </p:nvSpPr>
        <p:spPr>
          <a:xfrm>
            <a:off x="1189080" y="4153680"/>
            <a:ext cx="28857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8B949E"/>
                </a:solidFill>
                <a:latin typeface="Urbanist"/>
                <a:ea typeface="Urbanist"/>
              </a:rPr>
              <a:t>Active Developers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211;p22"/>
          <p:cNvSpPr/>
          <p:nvPr/>
        </p:nvSpPr>
        <p:spPr>
          <a:xfrm>
            <a:off x="4966920" y="4153680"/>
            <a:ext cx="299052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8B949E"/>
                </a:solidFill>
                <a:latin typeface="Urbanist"/>
                <a:ea typeface="Urbanist"/>
              </a:rPr>
              <a:t>Total Repositories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Google Shape;212;p22"/>
          <p:cNvSpPr/>
          <p:nvPr/>
        </p:nvSpPr>
        <p:spPr>
          <a:xfrm>
            <a:off x="8734680" y="4153680"/>
            <a:ext cx="27363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8B949E"/>
                </a:solidFill>
                <a:latin typeface="Urbanist"/>
                <a:ea typeface="Urbanist"/>
              </a:rPr>
              <a:t>Fortune 100 Companies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213;p22"/>
          <p:cNvSpPr/>
          <p:nvPr/>
        </p:nvSpPr>
        <p:spPr>
          <a:xfrm>
            <a:off x="771480" y="581040"/>
            <a:ext cx="11381040" cy="48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strike="noStrike" spc="-1">
                <a:solidFill>
                  <a:srgbClr val="F0F6FC"/>
                </a:solidFill>
                <a:latin typeface="Urbanist"/>
                <a:ea typeface="Urbanist"/>
              </a:rPr>
              <a:t>The Scale of GitHub</a:t>
            </a:r>
            <a:endParaRPr lang="en-US" sz="3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214;p22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61" name="TextBox 1"/>
          <p:cNvSpPr/>
          <p:nvPr/>
        </p:nvSpPr>
        <p:spPr>
          <a:xfrm>
            <a:off x="1279440" y="2704320"/>
            <a:ext cx="32508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7200" b="0" strike="noStrike" spc="-1">
                <a:solidFill>
                  <a:srgbClr val="339933"/>
                </a:solidFill>
                <a:latin typeface="Arial"/>
                <a:ea typeface="Arial"/>
              </a:rPr>
              <a:t>100M+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5051160" y="2683080"/>
            <a:ext cx="32508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7200" b="0" strike="noStrike" spc="-1">
                <a:solidFill>
                  <a:srgbClr val="339933"/>
                </a:solidFill>
                <a:latin typeface="Arial"/>
                <a:ea typeface="Arial"/>
              </a:rPr>
              <a:t>330M+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9053280" y="2683080"/>
            <a:ext cx="20890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7200" b="0" strike="noStrike" spc="-1">
                <a:solidFill>
                  <a:srgbClr val="339933"/>
                </a:solidFill>
                <a:latin typeface="Arial"/>
                <a:ea typeface="Arial"/>
              </a:rPr>
              <a:t>90%</a:t>
            </a:r>
            <a:endParaRPr lang="en-US" sz="7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219;p23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65" name="Google Shape;220;p23"/>
          <p:cNvSpPr/>
          <p:nvPr/>
        </p:nvSpPr>
        <p:spPr>
          <a:xfrm>
            <a:off x="2330640" y="2394720"/>
            <a:ext cx="753048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500" b="1" strike="noStrike" spc="-1">
                <a:solidFill>
                  <a:srgbClr val="F0F6FC"/>
                </a:solidFill>
                <a:latin typeface="Urbanist"/>
                <a:ea typeface="Urbanist"/>
              </a:rPr>
              <a:t>Section 03</a:t>
            </a:r>
            <a:endParaRPr lang="en-US" sz="4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Google Shape;221;p23"/>
          <p:cNvSpPr/>
          <p:nvPr/>
        </p:nvSpPr>
        <p:spPr>
          <a:xfrm>
            <a:off x="2330640" y="3080520"/>
            <a:ext cx="7530480" cy="180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rgbClr val="F0F6FC"/>
                </a:solidFill>
                <a:latin typeface="Urbanist"/>
                <a:ea typeface="Urbanist"/>
              </a:rPr>
              <a:t>Mastering the Terminal</a:t>
            </a:r>
            <a:endParaRPr lang="en-US" sz="5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222;p23"/>
          <p:cNvSpPr/>
          <p:nvPr/>
        </p:nvSpPr>
        <p:spPr>
          <a:xfrm>
            <a:off x="5619600" y="4120560"/>
            <a:ext cx="952200" cy="56880"/>
          </a:xfrm>
          <a:prstGeom prst="rect">
            <a:avLst/>
          </a:prstGeom>
          <a:solidFill>
            <a:srgbClr val="F0F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227;p24" descr="image.png"/>
          <p:cNvPicPr/>
          <p:nvPr/>
        </p:nvPicPr>
        <p:blipFill>
          <a:blip r:embed="rId2"/>
          <a:stretch/>
        </p:blipFill>
        <p:spPr>
          <a:xfrm>
            <a:off x="0" y="21348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69" name="Google Shape;228;p24" descr="image.png"/>
          <p:cNvPicPr/>
          <p:nvPr/>
        </p:nvPicPr>
        <p:blipFill>
          <a:blip r:embed="rId3"/>
          <a:stretch/>
        </p:blipFill>
        <p:spPr>
          <a:xfrm>
            <a:off x="6381720" y="3035160"/>
            <a:ext cx="5200200" cy="2477160"/>
          </a:xfrm>
          <a:prstGeom prst="rect">
            <a:avLst/>
          </a:prstGeom>
          <a:ln w="0">
            <a:noFill/>
          </a:ln>
        </p:spPr>
      </p:pic>
      <p:sp>
        <p:nvSpPr>
          <p:cNvPr id="170" name="Google Shape;229;p24"/>
          <p:cNvSpPr/>
          <p:nvPr/>
        </p:nvSpPr>
        <p:spPr>
          <a:xfrm>
            <a:off x="581040" y="1612800"/>
            <a:ext cx="5490360" cy="42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1. Installation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230;p24"/>
          <p:cNvSpPr/>
          <p:nvPr/>
        </p:nvSpPr>
        <p:spPr>
          <a:xfrm>
            <a:off x="581040" y="2169360"/>
            <a:ext cx="5229000" cy="7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Before using Git, install it on your PC or desktop operating system: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Google Shape;231;p24"/>
          <p:cNvSpPr/>
          <p:nvPr/>
        </p:nvSpPr>
        <p:spPr>
          <a:xfrm>
            <a:off x="6381720" y="1612800"/>
            <a:ext cx="5490360" cy="8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2. Initial Shell Configuration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232;p24"/>
          <p:cNvSpPr/>
          <p:nvPr/>
        </p:nvSpPr>
        <p:spPr>
          <a:xfrm>
            <a:off x="6471720" y="2169360"/>
            <a:ext cx="5229000" cy="7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Tell Git who you are! Every commit is marked with this identity: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233;p24"/>
          <p:cNvSpPr/>
          <p:nvPr/>
        </p:nvSpPr>
        <p:spPr>
          <a:xfrm>
            <a:off x="1009800" y="3035160"/>
            <a:ext cx="4800240" cy="7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</a:t>
            </a: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Windows: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Download and install </a:t>
            </a: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Git for Windows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(which includes Git Bash).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Google Shape;234;p24"/>
          <p:cNvSpPr/>
          <p:nvPr/>
        </p:nvSpPr>
        <p:spPr>
          <a:xfrm>
            <a:off x="1009800" y="3882600"/>
            <a:ext cx="480024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</a:t>
            </a: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macOS: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Open terminal and type git --version to prompt Xcode Command Line Tool install, or use brew install git.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35;p24"/>
          <p:cNvSpPr/>
          <p:nvPr/>
        </p:nvSpPr>
        <p:spPr>
          <a:xfrm>
            <a:off x="1009800" y="5013360"/>
            <a:ext cx="4800240" cy="116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</a:t>
            </a: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Linux: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Run sudo apt install git-all (Ubuntu/Debian) or equivalent package manager command.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Google Shape;236;p24"/>
          <p:cNvSpPr/>
          <p:nvPr/>
        </p:nvSpPr>
        <p:spPr>
          <a:xfrm>
            <a:off x="6620040" y="3151800"/>
            <a:ext cx="114120" cy="11412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8" name="Google Shape;237;p24"/>
          <p:cNvSpPr/>
          <p:nvPr/>
        </p:nvSpPr>
        <p:spPr>
          <a:xfrm>
            <a:off x="6810480" y="3151800"/>
            <a:ext cx="114120" cy="11412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79" name="Google Shape;238;p24"/>
          <p:cNvSpPr/>
          <p:nvPr/>
        </p:nvSpPr>
        <p:spPr>
          <a:xfrm>
            <a:off x="7000920" y="3151800"/>
            <a:ext cx="114120" cy="11412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0320" bIns="403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0" name="Google Shape;239;p24"/>
          <p:cNvSpPr/>
          <p:nvPr/>
        </p:nvSpPr>
        <p:spPr>
          <a:xfrm>
            <a:off x="6591240" y="3362040"/>
            <a:ext cx="475272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6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8B949E"/>
                </a:solidFill>
                <a:latin typeface="JetBrains Mono"/>
                <a:ea typeface="JetBrains Mono"/>
              </a:rPr>
              <a:t># Set your global commit username</a:t>
            </a:r>
            <a:br>
              <a:rPr sz="2000"/>
            </a:br>
            <a:r>
              <a:rPr lang="en-US" sz="1400" b="1" strike="noStrike" spc="-1">
                <a:solidFill>
                  <a:srgbClr val="F05032"/>
                </a:solidFill>
                <a:latin typeface="JetBrains Mono"/>
                <a:ea typeface="JetBrains Mono"/>
              </a:rPr>
              <a:t>$</a:t>
            </a:r>
            <a:r>
              <a:rPr lang="en-US" sz="1400" b="0" strike="noStrike" spc="-1">
                <a:solidFill>
                  <a:srgbClr val="C9D1D9"/>
                </a:solidFill>
                <a:latin typeface="JetBrains Mono"/>
                <a:ea typeface="JetBrains Mono"/>
              </a:rPr>
              <a:t> git config --global user.name "John Doe"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240;p24"/>
          <p:cNvSpPr/>
          <p:nvPr/>
        </p:nvSpPr>
        <p:spPr>
          <a:xfrm>
            <a:off x="6591240" y="3963960"/>
            <a:ext cx="475272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6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8B949E"/>
                </a:solidFill>
                <a:latin typeface="JetBrains Mono"/>
                <a:ea typeface="JetBrains Mono"/>
              </a:rPr>
              <a:t># Set your global email address</a:t>
            </a:r>
            <a:br>
              <a:rPr sz="2000"/>
            </a:br>
            <a:r>
              <a:rPr lang="en-US" sz="1400" b="1" strike="noStrike" spc="-1">
                <a:solidFill>
                  <a:srgbClr val="F05032"/>
                </a:solidFill>
                <a:latin typeface="JetBrains Mono"/>
                <a:ea typeface="JetBrains Mono"/>
              </a:rPr>
              <a:t>$</a:t>
            </a:r>
            <a:r>
              <a:rPr lang="en-US" sz="1400" b="0" strike="noStrike" spc="-1">
                <a:solidFill>
                  <a:srgbClr val="C9D1D9"/>
                </a:solidFill>
                <a:latin typeface="JetBrains Mono"/>
                <a:ea typeface="JetBrains Mono"/>
              </a:rPr>
              <a:t> git config --global user.email "john@example.com"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241;p24"/>
          <p:cNvSpPr/>
          <p:nvPr/>
        </p:nvSpPr>
        <p:spPr>
          <a:xfrm>
            <a:off x="6591240" y="4809600"/>
            <a:ext cx="475272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6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8B949E"/>
                </a:solidFill>
                <a:latin typeface="JetBrains Mono"/>
                <a:ea typeface="JetBrains Mono"/>
              </a:rPr>
              <a:t># Confirm setting values</a:t>
            </a:r>
            <a:br>
              <a:rPr sz="2000"/>
            </a:br>
            <a:r>
              <a:rPr lang="en-US" sz="1400" b="1" strike="noStrike" spc="-1">
                <a:solidFill>
                  <a:srgbClr val="F05032"/>
                </a:solidFill>
                <a:latin typeface="JetBrains Mono"/>
                <a:ea typeface="JetBrains Mono"/>
              </a:rPr>
              <a:t>$</a:t>
            </a:r>
            <a:r>
              <a:rPr lang="en-US" sz="1400" b="0" strike="noStrike" spc="-1">
                <a:solidFill>
                  <a:srgbClr val="C9D1D9"/>
                </a:solidFill>
                <a:latin typeface="JetBrains Mono"/>
                <a:ea typeface="JetBrains Mono"/>
              </a:rPr>
              <a:t> git config --list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" name="Google Shape;242;p24" descr="image.png"/>
          <p:cNvPicPr/>
          <p:nvPr/>
        </p:nvPicPr>
        <p:blipFill>
          <a:blip r:embed="rId4"/>
          <a:stretch/>
        </p:blipFill>
        <p:spPr>
          <a:xfrm>
            <a:off x="609480" y="3151440"/>
            <a:ext cx="199800" cy="237600"/>
          </a:xfrm>
          <a:prstGeom prst="rect">
            <a:avLst/>
          </a:prstGeom>
          <a:ln w="0">
            <a:noFill/>
          </a:ln>
        </p:spPr>
      </p:pic>
      <p:pic>
        <p:nvPicPr>
          <p:cNvPr id="184" name="Google Shape;243;p24" descr="image.png"/>
          <p:cNvPicPr/>
          <p:nvPr/>
        </p:nvPicPr>
        <p:blipFill>
          <a:blip r:embed="rId5"/>
          <a:stretch/>
        </p:blipFill>
        <p:spPr>
          <a:xfrm>
            <a:off x="581040" y="3903480"/>
            <a:ext cx="171000" cy="237600"/>
          </a:xfrm>
          <a:prstGeom prst="rect">
            <a:avLst/>
          </a:prstGeom>
          <a:ln w="0">
            <a:noFill/>
          </a:ln>
        </p:spPr>
      </p:pic>
      <p:pic>
        <p:nvPicPr>
          <p:cNvPr id="185" name="Google Shape;244;p24" descr="image.png"/>
          <p:cNvPicPr/>
          <p:nvPr/>
        </p:nvPicPr>
        <p:blipFill>
          <a:blip r:embed="rId6"/>
          <a:stretch/>
        </p:blipFill>
        <p:spPr>
          <a:xfrm>
            <a:off x="581040" y="5056200"/>
            <a:ext cx="199800" cy="237600"/>
          </a:xfrm>
          <a:prstGeom prst="rect">
            <a:avLst/>
          </a:prstGeom>
          <a:ln w="0">
            <a:noFill/>
          </a:ln>
        </p:spPr>
      </p:pic>
      <p:sp>
        <p:nvSpPr>
          <p:cNvPr id="186" name="Google Shape;245;p24"/>
          <p:cNvSpPr/>
          <p:nvPr/>
        </p:nvSpPr>
        <p:spPr>
          <a:xfrm>
            <a:off x="781200" y="691200"/>
            <a:ext cx="113810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0F6FC"/>
                </a:solidFill>
                <a:latin typeface="Urbanist"/>
                <a:ea typeface="Urbanist"/>
              </a:rPr>
              <a:t>Setting Up Git Locally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246;p24"/>
          <p:cNvSpPr/>
          <p:nvPr/>
        </p:nvSpPr>
        <p:spPr>
          <a:xfrm>
            <a:off x="581040" y="69120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251;p25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89" name="Google Shape;252;p25"/>
          <p:cNvSpPr/>
          <p:nvPr/>
        </p:nvSpPr>
        <p:spPr>
          <a:xfrm>
            <a:off x="581040" y="2214720"/>
            <a:ext cx="11029680" cy="3485880"/>
          </a:xfrm>
          <a:prstGeom prst="roundRect">
            <a:avLst>
              <a:gd name="adj" fmla="val 0"/>
            </a:avLst>
          </a:prstGeom>
          <a:solidFill>
            <a:srgbClr val="0D1117"/>
          </a:solidFill>
          <a:ln w="9525">
            <a:solidFill>
              <a:srgbClr val="4A7D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graphicFrame>
        <p:nvGraphicFramePr>
          <p:cNvPr id="190" name="Google Shape;253;p25"/>
          <p:cNvGraphicFramePr/>
          <p:nvPr/>
        </p:nvGraphicFramePr>
        <p:xfrm>
          <a:off x="581040" y="2214720"/>
          <a:ext cx="11029320" cy="3484080"/>
        </p:xfrm>
        <a:graphic>
          <a:graphicData uri="http://schemas.openxmlformats.org/drawingml/2006/table">
            <a:tbl>
              <a:tblPr/>
              <a:tblGrid>
                <a:gridCol w="338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lt1"/>
                          </a:solidFill>
                          <a:latin typeface="JetBrains Mono"/>
                          <a:ea typeface="JetBrains Mono"/>
                        </a:rPr>
                        <a:t>Command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86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lt1"/>
                          </a:solidFill>
                          <a:latin typeface="JetBrains Mono"/>
                          <a:ea typeface="JetBrains Mono"/>
                        </a:rPr>
                        <a:t>Action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86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lt1"/>
                          </a:solidFill>
                          <a:latin typeface="JetBrains Mono"/>
                          <a:ea typeface="JetBrains Mono"/>
                        </a:rPr>
                        <a:t>Context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8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git init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Initialize a new local repo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Start of project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git add .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Stage all current changes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Preparing snapshot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git commit -m "msg"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Save staged changes to history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Local Repository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git push origin main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Send local commits to GitHub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Syncing to Remote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git pull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Fetch and merge remote changes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Updating Local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1" name="Google Shape;254;p25"/>
          <p:cNvSpPr/>
          <p:nvPr/>
        </p:nvSpPr>
        <p:spPr>
          <a:xfrm>
            <a:off x="581040" y="328608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2" name="Google Shape;255;p25"/>
          <p:cNvSpPr/>
          <p:nvPr/>
        </p:nvSpPr>
        <p:spPr>
          <a:xfrm>
            <a:off x="3969360" y="328608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3" name="Google Shape;256;p25"/>
          <p:cNvSpPr/>
          <p:nvPr/>
        </p:nvSpPr>
        <p:spPr>
          <a:xfrm>
            <a:off x="8655120" y="328608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4" name="Google Shape;257;p25"/>
          <p:cNvSpPr/>
          <p:nvPr/>
        </p:nvSpPr>
        <p:spPr>
          <a:xfrm>
            <a:off x="581040" y="388620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5" name="Google Shape;258;p25"/>
          <p:cNvSpPr/>
          <p:nvPr/>
        </p:nvSpPr>
        <p:spPr>
          <a:xfrm>
            <a:off x="3969360" y="388620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6" name="Google Shape;259;p25"/>
          <p:cNvSpPr/>
          <p:nvPr/>
        </p:nvSpPr>
        <p:spPr>
          <a:xfrm>
            <a:off x="8655120" y="388620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7" name="Google Shape;260;p25"/>
          <p:cNvSpPr/>
          <p:nvPr/>
        </p:nvSpPr>
        <p:spPr>
          <a:xfrm>
            <a:off x="581040" y="448632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8" name="Google Shape;261;p25"/>
          <p:cNvSpPr/>
          <p:nvPr/>
        </p:nvSpPr>
        <p:spPr>
          <a:xfrm>
            <a:off x="3969360" y="448632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9" name="Google Shape;262;p25"/>
          <p:cNvSpPr/>
          <p:nvPr/>
        </p:nvSpPr>
        <p:spPr>
          <a:xfrm>
            <a:off x="8655120" y="448632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0" name="Google Shape;263;p25"/>
          <p:cNvSpPr/>
          <p:nvPr/>
        </p:nvSpPr>
        <p:spPr>
          <a:xfrm>
            <a:off x="581040" y="508644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1" name="Google Shape;264;p25"/>
          <p:cNvSpPr/>
          <p:nvPr/>
        </p:nvSpPr>
        <p:spPr>
          <a:xfrm>
            <a:off x="3969360" y="508644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2" name="Google Shape;265;p25"/>
          <p:cNvSpPr/>
          <p:nvPr/>
        </p:nvSpPr>
        <p:spPr>
          <a:xfrm>
            <a:off x="8655120" y="508644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3" name="Google Shape;266;p25"/>
          <p:cNvSpPr/>
          <p:nvPr/>
        </p:nvSpPr>
        <p:spPr>
          <a:xfrm>
            <a:off x="581040" y="568656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4" name="Google Shape;267;p25"/>
          <p:cNvSpPr/>
          <p:nvPr/>
        </p:nvSpPr>
        <p:spPr>
          <a:xfrm>
            <a:off x="3969360" y="568656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5" name="Google Shape;268;p25"/>
          <p:cNvSpPr/>
          <p:nvPr/>
        </p:nvSpPr>
        <p:spPr>
          <a:xfrm>
            <a:off x="8655120" y="568656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6" name="Google Shape;269;p25"/>
          <p:cNvSpPr/>
          <p:nvPr/>
        </p:nvSpPr>
        <p:spPr>
          <a:xfrm>
            <a:off x="771480" y="581040"/>
            <a:ext cx="11381040" cy="48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strike="noStrike" spc="-1">
                <a:solidFill>
                  <a:srgbClr val="F0F6FC"/>
                </a:solidFill>
                <a:latin typeface="Urbanist"/>
                <a:ea typeface="Urbanist"/>
              </a:rPr>
              <a:t>The Essential Command Manual</a:t>
            </a:r>
            <a:endParaRPr lang="en-US" sz="3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Google Shape;270;p25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75;p26" descr="image.png"/>
          <p:cNvPicPr/>
          <p:nvPr/>
        </p:nvPicPr>
        <p:blipFill>
          <a:blip r:embed="rId2"/>
          <a:stretch/>
        </p:blipFill>
        <p:spPr>
          <a:xfrm>
            <a:off x="3888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09" name="Google Shape;277;p26"/>
          <p:cNvSpPr/>
          <p:nvPr/>
        </p:nvSpPr>
        <p:spPr>
          <a:xfrm>
            <a:off x="590400" y="2103120"/>
            <a:ext cx="5490360" cy="42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Visualizing the Data Flow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Google Shape;278;p26"/>
          <p:cNvSpPr/>
          <p:nvPr/>
        </p:nvSpPr>
        <p:spPr>
          <a:xfrm>
            <a:off x="581040" y="2764800"/>
            <a:ext cx="5229000" cy="175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8B949E"/>
                </a:solidFill>
                <a:latin typeface="Urbanist"/>
                <a:ea typeface="Urbanist"/>
              </a:rPr>
              <a:t>The core of Git/GitHub is the movement of code between these four areas. Understanding this "schematic" is key to resolving conflicts and managing versions.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Google Shape;279;p26"/>
          <p:cNvSpPr/>
          <p:nvPr/>
        </p:nvSpPr>
        <p:spPr>
          <a:xfrm>
            <a:off x="590400" y="4537800"/>
            <a:ext cx="5229000" cy="87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8B949E"/>
                </a:solidFill>
                <a:latin typeface="Urbanist"/>
                <a:ea typeface="Urbanist"/>
              </a:rPr>
              <a:t>Pro-Tip:</a:t>
            </a:r>
            <a:r>
              <a:rPr lang="en-US" sz="1800" b="0" strike="noStrike" spc="-1">
                <a:solidFill>
                  <a:srgbClr val="8B949E"/>
                </a:solidFill>
                <a:latin typeface="Urbanist"/>
                <a:ea typeface="Urbanist"/>
              </a:rPr>
              <a:t> Always git pull before starting work to ensure you are on the latest version!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2" name="Google Shape;280;p26" descr="image.png"/>
          <p:cNvPicPr/>
          <p:nvPr/>
        </p:nvPicPr>
        <p:blipFill>
          <a:blip r:embed="rId3"/>
          <a:stretch/>
        </p:blipFill>
        <p:spPr>
          <a:xfrm>
            <a:off x="6352200" y="1923840"/>
            <a:ext cx="5209920" cy="3790440"/>
          </a:xfrm>
          <a:prstGeom prst="rect">
            <a:avLst/>
          </a:prstGeom>
          <a:ln w="0">
            <a:noFill/>
          </a:ln>
        </p:spPr>
      </p:pic>
      <p:sp>
        <p:nvSpPr>
          <p:cNvPr id="213" name="Google Shape;281;p26"/>
          <p:cNvSpPr/>
          <p:nvPr/>
        </p:nvSpPr>
        <p:spPr>
          <a:xfrm>
            <a:off x="771480" y="581040"/>
            <a:ext cx="11381040" cy="48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strike="noStrike" spc="-1">
                <a:solidFill>
                  <a:srgbClr val="F0F6FC"/>
                </a:solidFill>
                <a:latin typeface="Urbanist"/>
                <a:ea typeface="Urbanist"/>
              </a:rPr>
              <a:t>The Complete Workflow</a:t>
            </a:r>
            <a:endParaRPr lang="en-US" sz="3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Google Shape;282;p26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304;p28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16" name="Google Shape;305;p28" descr="image.png"/>
          <p:cNvPicPr/>
          <p:nvPr/>
        </p:nvPicPr>
        <p:blipFill>
          <a:blip r:embed="rId3"/>
          <a:stretch/>
        </p:blipFill>
        <p:spPr>
          <a:xfrm>
            <a:off x="581040" y="2324160"/>
            <a:ext cx="5229000" cy="3076200"/>
          </a:xfrm>
          <a:prstGeom prst="rect">
            <a:avLst/>
          </a:prstGeom>
          <a:ln w="0">
            <a:noFill/>
          </a:ln>
        </p:spPr>
      </p:pic>
      <p:pic>
        <p:nvPicPr>
          <p:cNvPr id="217" name="Google Shape;306;p28" descr="image.png"/>
          <p:cNvPicPr/>
          <p:nvPr/>
        </p:nvPicPr>
        <p:blipFill>
          <a:blip r:embed="rId4"/>
          <a:stretch/>
        </p:blipFill>
        <p:spPr>
          <a:xfrm>
            <a:off x="6381720" y="2324160"/>
            <a:ext cx="5229000" cy="3076200"/>
          </a:xfrm>
          <a:prstGeom prst="rect">
            <a:avLst/>
          </a:prstGeom>
          <a:ln w="0">
            <a:noFill/>
          </a:ln>
        </p:spPr>
      </p:pic>
      <p:sp>
        <p:nvSpPr>
          <p:cNvPr id="218" name="Google Shape;307;p28"/>
          <p:cNvSpPr/>
          <p:nvPr/>
        </p:nvSpPr>
        <p:spPr>
          <a:xfrm>
            <a:off x="971640" y="2714760"/>
            <a:ext cx="4670280" cy="42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Creating a Repository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308;p28"/>
          <p:cNvSpPr/>
          <p:nvPr/>
        </p:nvSpPr>
        <p:spPr>
          <a:xfrm>
            <a:off x="971640" y="3219480"/>
            <a:ext cx="4447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1. Go to GitHub.com &amp; click "New".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Google Shape;309;p28"/>
          <p:cNvSpPr/>
          <p:nvPr/>
        </p:nvSpPr>
        <p:spPr>
          <a:xfrm>
            <a:off x="971640" y="3666960"/>
            <a:ext cx="4447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2. Give it a name and description.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Google Shape;310;p28"/>
          <p:cNvSpPr/>
          <p:nvPr/>
        </p:nvSpPr>
        <p:spPr>
          <a:xfrm>
            <a:off x="971640" y="4114800"/>
            <a:ext cx="4447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3. Choose Public or Private.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Google Shape;311;p28"/>
          <p:cNvSpPr/>
          <p:nvPr/>
        </p:nvSpPr>
        <p:spPr>
          <a:xfrm>
            <a:off x="971640" y="4562640"/>
            <a:ext cx="4447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4. Clone it locally using git clone [URL].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Google Shape;312;p28"/>
          <p:cNvSpPr/>
          <p:nvPr/>
        </p:nvSpPr>
        <p:spPr>
          <a:xfrm>
            <a:off x="6772320" y="2714760"/>
            <a:ext cx="4670280" cy="42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Creating a Branch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Google Shape;313;p28"/>
          <p:cNvSpPr/>
          <p:nvPr/>
        </p:nvSpPr>
        <p:spPr>
          <a:xfrm>
            <a:off x="6772320" y="3219480"/>
            <a:ext cx="4447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1. Use git checkout -b feature-name.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Google Shape;314;p28"/>
          <p:cNvSpPr/>
          <p:nvPr/>
        </p:nvSpPr>
        <p:spPr>
          <a:xfrm>
            <a:off x="6772320" y="3666960"/>
            <a:ext cx="4447800" cy="7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2. This creates a separate timeline for your changes.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Google Shape;315;p28"/>
          <p:cNvSpPr/>
          <p:nvPr/>
        </p:nvSpPr>
        <p:spPr>
          <a:xfrm>
            <a:off x="6772320" y="4114800"/>
            <a:ext cx="4447800" cy="7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3. Commits here don't affect the 'main' branch.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Google Shape;316;p28"/>
          <p:cNvSpPr/>
          <p:nvPr/>
        </p:nvSpPr>
        <p:spPr>
          <a:xfrm>
            <a:off x="6772320" y="4562640"/>
            <a:ext cx="4447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4. Merge back when your feature is done!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Google Shape;317;p28"/>
          <p:cNvSpPr/>
          <p:nvPr/>
        </p:nvSpPr>
        <p:spPr>
          <a:xfrm>
            <a:off x="771480" y="581040"/>
            <a:ext cx="113810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0F6FC"/>
                </a:solidFill>
                <a:latin typeface="Urbanist"/>
                <a:ea typeface="Urbanist"/>
              </a:rPr>
              <a:t>Your First Repository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Google Shape;318;p28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84;p13" descr="image.png"/>
          <p:cNvPicPr/>
          <p:nvPr/>
        </p:nvPicPr>
        <p:blipFill>
          <a:blip r:embed="rId2"/>
          <a:stretch/>
        </p:blipFill>
        <p:spPr>
          <a:xfrm>
            <a:off x="30960" y="7632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31" name="Google Shape;85;p13" descr="image.png"/>
          <p:cNvPicPr/>
          <p:nvPr/>
        </p:nvPicPr>
        <p:blipFill>
          <a:blip r:embed="rId3"/>
          <a:stretch/>
        </p:blipFill>
        <p:spPr>
          <a:xfrm>
            <a:off x="8572680" y="2083680"/>
            <a:ext cx="3047760" cy="1971360"/>
          </a:xfrm>
          <a:prstGeom prst="rect">
            <a:avLst/>
          </a:prstGeom>
          <a:ln w="0">
            <a:noFill/>
          </a:ln>
        </p:spPr>
      </p:pic>
      <p:pic>
        <p:nvPicPr>
          <p:cNvPr id="232" name="Google Shape;86;p13" descr="image.png"/>
          <p:cNvPicPr/>
          <p:nvPr/>
        </p:nvPicPr>
        <p:blipFill>
          <a:blip r:embed="rId4"/>
          <a:stretch/>
        </p:blipFill>
        <p:spPr>
          <a:xfrm>
            <a:off x="8572680" y="4388760"/>
            <a:ext cx="3047760" cy="1971360"/>
          </a:xfrm>
          <a:prstGeom prst="rect">
            <a:avLst/>
          </a:prstGeom>
          <a:ln w="0">
            <a:noFill/>
          </a:ln>
        </p:spPr>
      </p:pic>
      <p:sp>
        <p:nvSpPr>
          <p:cNvPr id="233" name="Google Shape;87;p13"/>
          <p:cNvSpPr/>
          <p:nvPr/>
        </p:nvSpPr>
        <p:spPr>
          <a:xfrm>
            <a:off x="809640" y="582120"/>
            <a:ext cx="11351160" cy="48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strike="noStrike" spc="-1">
                <a:solidFill>
                  <a:srgbClr val="FFFFFF"/>
                </a:solidFill>
                <a:latin typeface="Urbanist"/>
                <a:ea typeface="Urbanist"/>
              </a:rPr>
              <a:t>COLLABORATIVE SUB-BRANCHING WORKFLOW</a:t>
            </a:r>
            <a:endParaRPr lang="en-US" sz="3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Google Shape;89;p13"/>
          <p:cNvSpPr/>
          <p:nvPr/>
        </p:nvSpPr>
        <p:spPr>
          <a:xfrm>
            <a:off x="809640" y="1285920"/>
            <a:ext cx="10753200" cy="2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50" b="0" strike="noStrike" spc="-1">
                <a:solidFill>
                  <a:srgbClr val="94A3B8"/>
                </a:solidFill>
                <a:latin typeface="Lato"/>
                <a:ea typeface="Lato"/>
              </a:rPr>
              <a:t>Streamlining multi-developer contributions from isolation to final integration.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5" name="Google Shape;90;p13"/>
          <p:cNvGraphicFramePr/>
          <p:nvPr/>
        </p:nvGraphicFramePr>
        <p:xfrm>
          <a:off x="581040" y="2043720"/>
          <a:ext cx="7619400" cy="4269240"/>
        </p:xfrm>
        <a:graphic>
          <a:graphicData uri="http://schemas.openxmlformats.org/drawingml/2006/table">
            <a:tbl>
              <a:tblPr/>
              <a:tblGrid>
                <a:gridCol w="136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strike="noStrike" spc="-1">
                          <a:solidFill>
                            <a:srgbClr val="FFFFFF"/>
                          </a:solidFill>
                          <a:latin typeface="JetBrains Mono"/>
                          <a:ea typeface="Source Code Pro SemiBold"/>
                        </a:rPr>
                        <a:t>Phase</a:t>
                      </a:r>
                      <a:endParaRPr lang="en-US" sz="13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strike="noStrike" spc="-1">
                          <a:solidFill>
                            <a:srgbClr val="FFFFFF"/>
                          </a:solidFill>
                          <a:latin typeface="JetBrains Mono"/>
                          <a:ea typeface="Source Code Pro SemiBold"/>
                        </a:rPr>
                        <a:t>Objective &amp; Description</a:t>
                      </a:r>
                      <a:endParaRPr lang="en-US" sz="13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strike="noStrike" spc="-1">
                          <a:solidFill>
                            <a:srgbClr val="FFFFFF"/>
                          </a:solidFill>
                          <a:latin typeface="JetBrains Mono"/>
                          <a:ea typeface="Source Code Pro SemiBold"/>
                        </a:rPr>
                        <a:t>Terminal Commands</a:t>
                      </a:r>
                      <a:endParaRPr lang="en-US" sz="135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1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1. SYNC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Get the latest version of main from the cloud.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JetBrains Mono"/>
                          <a:ea typeface="Source Code Pro Medium"/>
                        </a:rPr>
                        <a:t>git checkout main</a:t>
                      </a:r>
                      <a:br>
                        <a:rPr sz="1800"/>
                      </a:br>
                      <a:br>
                        <a:rPr sz="1200"/>
                      </a:b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JetBrains Mono"/>
                          <a:ea typeface="Source Code Pro Medium"/>
                        </a:rPr>
                        <a:t>git pull origin main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1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2. ISOLATE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Create a sub-branch for your specific feature.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JetBrains Mono"/>
                          <a:ea typeface="Source Code Pro Medium"/>
                        </a:rPr>
                        <a:t>git checkout -b feature-name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1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3. SAVE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Stage and snapshot your progress locally.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JetBrains Mono"/>
                          <a:ea typeface="Source Code Pro Medium"/>
                        </a:rPr>
                        <a:t>git add .</a:t>
                      </a:r>
                      <a:br>
                        <a:rPr sz="1800"/>
                      </a:br>
                      <a:br>
                        <a:rPr sz="1200"/>
                      </a:b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JetBrains Mono"/>
                          <a:ea typeface="Source Code Pro Medium"/>
                        </a:rPr>
                        <a:t>git commit -m "Note"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1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4. UPLOAD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Share your timeline with the 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team on GitHub.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JetBrains Mono"/>
                          <a:ea typeface="Source Code Pro Medium"/>
                        </a:rPr>
                        <a:t>git push origin feature-name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9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1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5. MERGE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80" b="0" strike="noStrike" spc="-1">
                          <a:solidFill>
                            <a:srgbClr val="1E293B"/>
                          </a:solidFill>
                          <a:latin typeface="JetBrains Mono"/>
                          <a:ea typeface="Lato"/>
                        </a:rPr>
                        <a:t>Combine your feature back into the main code.</a:t>
                      </a:r>
                      <a:endParaRPr lang="en-US" sz="128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JetBrains Mono"/>
                          <a:ea typeface="Source Code Pro Medium"/>
                        </a:rPr>
                        <a:t>git checkout main</a:t>
                      </a:r>
                      <a:br>
                        <a:rPr sz="1800"/>
                      </a:br>
                      <a:br>
                        <a:rPr sz="1200"/>
                      </a:br>
                      <a:r>
                        <a:rPr lang="en-US" sz="1200" b="0" strike="noStrike" spc="-1">
                          <a:solidFill>
                            <a:srgbClr val="000000"/>
                          </a:solidFill>
                          <a:latin typeface="JetBrains Mono"/>
                          <a:ea typeface="Source Code Pro Medium"/>
                        </a:rPr>
                        <a:t>git merge feature-name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BD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6" name="Google Shape;91;p13"/>
          <p:cNvSpPr/>
          <p:nvPr/>
        </p:nvSpPr>
        <p:spPr>
          <a:xfrm>
            <a:off x="9124920" y="2522160"/>
            <a:ext cx="235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2DD4BF"/>
                </a:solidFill>
                <a:latin typeface="Urbanist"/>
                <a:ea typeface="Urbanist"/>
              </a:rPr>
              <a:t>Productivity Tip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Google Shape;92;p13"/>
          <p:cNvSpPr/>
          <p:nvPr/>
        </p:nvSpPr>
        <p:spPr>
          <a:xfrm>
            <a:off x="8820000" y="2893320"/>
            <a:ext cx="255240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94A3B8"/>
                </a:solidFill>
                <a:latin typeface="Lato"/>
                <a:ea typeface="Lato"/>
              </a:rPr>
              <a:t>Never code directly on the main branch. Sub-branches allow you to experiment safely without breaking the production code for others.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93;p13"/>
          <p:cNvSpPr/>
          <p:nvPr/>
        </p:nvSpPr>
        <p:spPr>
          <a:xfrm>
            <a:off x="9124920" y="4826880"/>
            <a:ext cx="235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87171"/>
                </a:solidFill>
                <a:latin typeface="Urbanist"/>
                <a:ea typeface="Urbanist"/>
              </a:rPr>
              <a:t>The Safety Net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94;p13"/>
          <p:cNvSpPr/>
          <p:nvPr/>
        </p:nvSpPr>
        <p:spPr>
          <a:xfrm>
            <a:off x="8820000" y="5198400"/>
            <a:ext cx="2552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94A3B8"/>
                </a:solidFill>
                <a:latin typeface="Lato"/>
                <a:ea typeface="Lato"/>
              </a:rPr>
              <a:t>If you encounter conflicts, always rebase or merge main into your branch locally before pushing to the remote repository.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107;p13"/>
          <p:cNvSpPr/>
          <p:nvPr/>
        </p:nvSpPr>
        <p:spPr>
          <a:xfrm>
            <a:off x="571680" y="6791400"/>
            <a:ext cx="13712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1" name="Google Shape;108;p13"/>
          <p:cNvSpPr/>
          <p:nvPr/>
        </p:nvSpPr>
        <p:spPr>
          <a:xfrm>
            <a:off x="1943280" y="6791400"/>
            <a:ext cx="32000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2" name="Google Shape;109;p13"/>
          <p:cNvSpPr/>
          <p:nvPr/>
        </p:nvSpPr>
        <p:spPr>
          <a:xfrm>
            <a:off x="5143680" y="6791400"/>
            <a:ext cx="304776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pic>
        <p:nvPicPr>
          <p:cNvPr id="243" name="Google Shape;110;p13" descr="image.png"/>
          <p:cNvPicPr/>
          <p:nvPr/>
        </p:nvPicPr>
        <p:blipFill>
          <a:blip r:embed="rId5"/>
          <a:stretch/>
        </p:blipFill>
        <p:spPr>
          <a:xfrm>
            <a:off x="8820000" y="2540880"/>
            <a:ext cx="190080" cy="190080"/>
          </a:xfrm>
          <a:prstGeom prst="rect">
            <a:avLst/>
          </a:prstGeom>
          <a:ln w="0">
            <a:noFill/>
          </a:ln>
        </p:spPr>
      </p:pic>
      <p:pic>
        <p:nvPicPr>
          <p:cNvPr id="244" name="Google Shape;111;p13" descr="image.png"/>
          <p:cNvPicPr/>
          <p:nvPr/>
        </p:nvPicPr>
        <p:blipFill>
          <a:blip r:embed="rId6"/>
          <a:stretch/>
        </p:blipFill>
        <p:spPr>
          <a:xfrm>
            <a:off x="8820000" y="4845960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245" name="Google Shape;95;p13"/>
          <p:cNvSpPr/>
          <p:nvPr/>
        </p:nvSpPr>
        <p:spPr>
          <a:xfrm>
            <a:off x="520560" y="3505320"/>
            <a:ext cx="13712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6" name="Google Shape;96;p13"/>
          <p:cNvSpPr/>
          <p:nvPr/>
        </p:nvSpPr>
        <p:spPr>
          <a:xfrm>
            <a:off x="1892160" y="3505320"/>
            <a:ext cx="32000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7" name="Google Shape;97;p13"/>
          <p:cNvSpPr/>
          <p:nvPr/>
        </p:nvSpPr>
        <p:spPr>
          <a:xfrm>
            <a:off x="5092560" y="3505320"/>
            <a:ext cx="304776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8" name="Google Shape;95;p13"/>
          <p:cNvSpPr/>
          <p:nvPr/>
        </p:nvSpPr>
        <p:spPr>
          <a:xfrm>
            <a:off x="520560" y="4931640"/>
            <a:ext cx="13712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49" name="Google Shape;96;p13"/>
          <p:cNvSpPr/>
          <p:nvPr/>
        </p:nvSpPr>
        <p:spPr>
          <a:xfrm>
            <a:off x="1892160" y="4931640"/>
            <a:ext cx="32000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0" name="Google Shape;97;p13"/>
          <p:cNvSpPr/>
          <p:nvPr/>
        </p:nvSpPr>
        <p:spPr>
          <a:xfrm>
            <a:off x="5092560" y="4931640"/>
            <a:ext cx="304776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1" name="Google Shape;95;p13"/>
          <p:cNvSpPr/>
          <p:nvPr/>
        </p:nvSpPr>
        <p:spPr>
          <a:xfrm>
            <a:off x="520560" y="5646240"/>
            <a:ext cx="13712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2" name="Google Shape;96;p13"/>
          <p:cNvSpPr/>
          <p:nvPr/>
        </p:nvSpPr>
        <p:spPr>
          <a:xfrm>
            <a:off x="1892160" y="5646240"/>
            <a:ext cx="32000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3" name="Google Shape;97;p13"/>
          <p:cNvSpPr/>
          <p:nvPr/>
        </p:nvSpPr>
        <p:spPr>
          <a:xfrm>
            <a:off x="5092560" y="5646240"/>
            <a:ext cx="304776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4" name="Google Shape;95;p13"/>
          <p:cNvSpPr/>
          <p:nvPr/>
        </p:nvSpPr>
        <p:spPr>
          <a:xfrm>
            <a:off x="520560" y="4236480"/>
            <a:ext cx="13712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5" name="Google Shape;96;p13"/>
          <p:cNvSpPr/>
          <p:nvPr/>
        </p:nvSpPr>
        <p:spPr>
          <a:xfrm>
            <a:off x="1892160" y="4236480"/>
            <a:ext cx="320004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6" name="Google Shape;97;p13"/>
          <p:cNvSpPr/>
          <p:nvPr/>
        </p:nvSpPr>
        <p:spPr>
          <a:xfrm>
            <a:off x="5092560" y="4236480"/>
            <a:ext cx="3047760" cy="187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57" name="Google Shape;282;p26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87;p27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259" name="Google Shape;288;p27" descr="image.png"/>
          <p:cNvPicPr/>
          <p:nvPr/>
        </p:nvPicPr>
        <p:blipFill>
          <a:blip r:embed="rId3"/>
          <a:stretch/>
        </p:blipFill>
        <p:spPr>
          <a:xfrm>
            <a:off x="581040" y="1957320"/>
            <a:ext cx="5229000" cy="3809520"/>
          </a:xfrm>
          <a:prstGeom prst="rect">
            <a:avLst/>
          </a:prstGeom>
          <a:ln w="0">
            <a:noFill/>
          </a:ln>
        </p:spPr>
      </p:pic>
      <p:pic>
        <p:nvPicPr>
          <p:cNvPr id="260" name="Google Shape;289;p27" descr="image.png"/>
          <p:cNvPicPr/>
          <p:nvPr/>
        </p:nvPicPr>
        <p:blipFill>
          <a:blip r:embed="rId4"/>
          <a:stretch/>
        </p:blipFill>
        <p:spPr>
          <a:xfrm>
            <a:off x="450000" y="1647720"/>
            <a:ext cx="5350320" cy="4109760"/>
          </a:xfrm>
          <a:prstGeom prst="rect">
            <a:avLst/>
          </a:prstGeom>
          <a:ln w="0">
            <a:noFill/>
          </a:ln>
        </p:spPr>
      </p:pic>
      <p:sp>
        <p:nvSpPr>
          <p:cNvPr id="261" name="Google Shape;290;p27"/>
          <p:cNvSpPr/>
          <p:nvPr/>
        </p:nvSpPr>
        <p:spPr>
          <a:xfrm>
            <a:off x="6381720" y="1550520"/>
            <a:ext cx="5679000" cy="97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238636"/>
                </a:solidFill>
                <a:latin typeface="Urbanist"/>
                <a:ea typeface="Urbanist"/>
              </a:rPr>
              <a:t>Visualizing Changes Made Simple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Google Shape;291;p27"/>
          <p:cNvSpPr/>
          <p:nvPr/>
        </p:nvSpPr>
        <p:spPr>
          <a:xfrm>
            <a:off x="6381720" y="2766960"/>
            <a:ext cx="5770800" cy="175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8B949E"/>
                </a:solidFill>
                <a:latin typeface="Urbanist"/>
                <a:ea typeface="Urbanist"/>
              </a:rPr>
              <a:t>If the terminal feels intimidating, GitHub Desktop is the easiest way to manage your repos. It provides a GUI to visualize exactly what changed in every line of code.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292;p27"/>
          <p:cNvSpPr/>
          <p:nvPr/>
        </p:nvSpPr>
        <p:spPr>
          <a:xfrm>
            <a:off x="6839280" y="4335840"/>
            <a:ext cx="4800240" cy="43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8B949E"/>
                </a:solidFill>
                <a:latin typeface="Urbanist"/>
                <a:ea typeface="Urbanist"/>
              </a:rPr>
              <a:t>View diffs (changes) side-by-side.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Google Shape;293;p27"/>
          <p:cNvSpPr/>
          <p:nvPr/>
        </p:nvSpPr>
        <p:spPr>
          <a:xfrm>
            <a:off x="6839280" y="4878720"/>
            <a:ext cx="4800240" cy="43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8B949E"/>
                </a:solidFill>
                <a:latin typeface="Urbanist"/>
                <a:ea typeface="Urbanist"/>
              </a:rPr>
              <a:t>One-click commit and push.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Google Shape;294;p27"/>
          <p:cNvSpPr/>
          <p:nvPr/>
        </p:nvSpPr>
        <p:spPr>
          <a:xfrm>
            <a:off x="6839280" y="5421600"/>
            <a:ext cx="4800240" cy="43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8B949E"/>
                </a:solidFill>
                <a:latin typeface="Urbanist"/>
                <a:ea typeface="Urbanist"/>
              </a:rPr>
              <a:t>Easy branch switching.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6" name="Google Shape;295;p27" descr="image.png"/>
          <p:cNvPicPr/>
          <p:nvPr/>
        </p:nvPicPr>
        <p:blipFill>
          <a:blip r:embed="rId5"/>
          <a:stretch/>
        </p:blipFill>
        <p:spPr>
          <a:xfrm>
            <a:off x="6382080" y="4449240"/>
            <a:ext cx="256680" cy="247320"/>
          </a:xfrm>
          <a:prstGeom prst="rect">
            <a:avLst/>
          </a:prstGeom>
          <a:ln w="0">
            <a:noFill/>
          </a:ln>
        </p:spPr>
      </p:pic>
      <p:pic>
        <p:nvPicPr>
          <p:cNvPr id="267" name="Google Shape;296;p27" descr="image.png"/>
          <p:cNvPicPr/>
          <p:nvPr/>
        </p:nvPicPr>
        <p:blipFill>
          <a:blip r:embed="rId6"/>
          <a:stretch/>
        </p:blipFill>
        <p:spPr>
          <a:xfrm>
            <a:off x="6392880" y="500472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268" name="Google Shape;297;p27" descr="image.png"/>
          <p:cNvPicPr/>
          <p:nvPr/>
        </p:nvPicPr>
        <p:blipFill>
          <a:blip r:embed="rId7"/>
          <a:stretch/>
        </p:blipFill>
        <p:spPr>
          <a:xfrm>
            <a:off x="6410880" y="5604840"/>
            <a:ext cx="199800" cy="247320"/>
          </a:xfrm>
          <a:prstGeom prst="rect">
            <a:avLst/>
          </a:prstGeom>
          <a:ln w="0">
            <a:noFill/>
          </a:ln>
        </p:spPr>
      </p:pic>
      <p:sp>
        <p:nvSpPr>
          <p:cNvPr id="269" name="Google Shape;298;p27"/>
          <p:cNvSpPr/>
          <p:nvPr/>
        </p:nvSpPr>
        <p:spPr>
          <a:xfrm>
            <a:off x="771480" y="581040"/>
            <a:ext cx="11381040" cy="54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F0F6FC"/>
                </a:solidFill>
                <a:latin typeface="Urbanist"/>
                <a:ea typeface="Urbanist"/>
              </a:rPr>
              <a:t>Bonus: GitHub Desktop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Google Shape;299;p27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19;p23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72" name="Google Shape;220;p23"/>
          <p:cNvSpPr/>
          <p:nvPr/>
        </p:nvSpPr>
        <p:spPr>
          <a:xfrm>
            <a:off x="2330640" y="2394720"/>
            <a:ext cx="753048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500" b="1" strike="noStrike" spc="-1">
                <a:solidFill>
                  <a:srgbClr val="F0F6FC"/>
                </a:solidFill>
                <a:latin typeface="Urbanist"/>
                <a:ea typeface="Urbanist"/>
              </a:rPr>
              <a:t>Section 04</a:t>
            </a:r>
            <a:endParaRPr lang="en-US" sz="4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Google Shape;221;p23"/>
          <p:cNvSpPr/>
          <p:nvPr/>
        </p:nvSpPr>
        <p:spPr>
          <a:xfrm>
            <a:off x="2330640" y="3080520"/>
            <a:ext cx="7530480" cy="180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rgbClr val="F0F6FC"/>
                </a:solidFill>
                <a:latin typeface="Urbanist"/>
                <a:ea typeface="Urbanist"/>
              </a:rPr>
              <a:t>Docker &amp; Containers</a:t>
            </a:r>
            <a:endParaRPr lang="en-US" sz="5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Google Shape;222;p23"/>
          <p:cNvSpPr/>
          <p:nvPr/>
        </p:nvSpPr>
        <p:spPr>
          <a:xfrm>
            <a:off x="5619600" y="4120560"/>
            <a:ext cx="952200" cy="56880"/>
          </a:xfrm>
          <a:prstGeom prst="rect">
            <a:avLst/>
          </a:prstGeom>
          <a:solidFill>
            <a:srgbClr val="F0F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8440" bIns="28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101;p15" descr="image.png"/>
          <p:cNvPicPr/>
          <p:nvPr/>
        </p:nvPicPr>
        <p:blipFill>
          <a:blip r:embed="rId2"/>
          <a:stretch/>
        </p:blipFill>
        <p:spPr>
          <a:xfrm>
            <a:off x="91080" y="-27108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76" name="Google Shape;103;p15"/>
          <p:cNvSpPr/>
          <p:nvPr/>
        </p:nvSpPr>
        <p:spPr>
          <a:xfrm>
            <a:off x="581040" y="1782720"/>
            <a:ext cx="5490360" cy="8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The Engine of Containerization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104;p15"/>
          <p:cNvSpPr/>
          <p:nvPr/>
        </p:nvSpPr>
        <p:spPr>
          <a:xfrm>
            <a:off x="581040" y="2287440"/>
            <a:ext cx="522900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Docker is a </a:t>
            </a: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containerization platform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that packages an app with its code, runtime, libraries, and settings into one portable unit called a container.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6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Google Shape;106;p15"/>
          <p:cNvSpPr/>
          <p:nvPr/>
        </p:nvSpPr>
        <p:spPr>
          <a:xfrm>
            <a:off x="1009800" y="3671640"/>
            <a:ext cx="4800240" cy="7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Consistent environments from laptop to production.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Google Shape;107;p15"/>
          <p:cNvSpPr/>
          <p:nvPr/>
        </p:nvSpPr>
        <p:spPr>
          <a:xfrm>
            <a:off x="1009800" y="4214520"/>
            <a:ext cx="480024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Lightweight containers that start in seconds.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Google Shape;108;p15"/>
          <p:cNvSpPr/>
          <p:nvPr/>
        </p:nvSpPr>
        <p:spPr>
          <a:xfrm>
            <a:off x="1009800" y="4757400"/>
            <a:ext cx="4800240" cy="7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Isolated processes that don’t conflict with each other.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1" name="Google Shape;109;p15" descr="image.png"/>
          <p:cNvPicPr/>
          <p:nvPr/>
        </p:nvPicPr>
        <p:blipFill>
          <a:blip r:embed="rId3"/>
          <a:stretch/>
        </p:blipFill>
        <p:spPr>
          <a:xfrm>
            <a:off x="581040" y="373716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282" name="Google Shape;110;p15" descr="image.png"/>
          <p:cNvPicPr/>
          <p:nvPr/>
        </p:nvPicPr>
        <p:blipFill>
          <a:blip r:embed="rId4"/>
          <a:stretch/>
        </p:blipFill>
        <p:spPr>
          <a:xfrm>
            <a:off x="607320" y="430308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283" name="Google Shape;111;p15" descr="image.png"/>
          <p:cNvPicPr/>
          <p:nvPr/>
        </p:nvPicPr>
        <p:blipFill>
          <a:blip r:embed="rId5"/>
          <a:stretch/>
        </p:blipFill>
        <p:spPr>
          <a:xfrm>
            <a:off x="566640" y="4906080"/>
            <a:ext cx="228240" cy="247320"/>
          </a:xfrm>
          <a:prstGeom prst="rect">
            <a:avLst/>
          </a:prstGeom>
          <a:ln w="0">
            <a:noFill/>
          </a:ln>
        </p:spPr>
      </p:pic>
      <p:sp>
        <p:nvSpPr>
          <p:cNvPr id="284" name="Google Shape;112;p15"/>
          <p:cNvSpPr/>
          <p:nvPr/>
        </p:nvSpPr>
        <p:spPr>
          <a:xfrm>
            <a:off x="771480" y="682560"/>
            <a:ext cx="113810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0F6FC"/>
                </a:solidFill>
                <a:latin typeface="Urbanist"/>
                <a:ea typeface="Urbanist"/>
              </a:rPr>
              <a:t>What is Docker?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Google Shape;113;p15"/>
          <p:cNvSpPr/>
          <p:nvPr/>
        </p:nvSpPr>
        <p:spPr>
          <a:xfrm>
            <a:off x="581040" y="68256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86" name="Docker Icon Card"/>
          <p:cNvSpPr/>
          <p:nvPr/>
        </p:nvSpPr>
        <p:spPr>
          <a:xfrm>
            <a:off x="6997680" y="1749600"/>
            <a:ext cx="3817080" cy="381708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9525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87" name="Layer Back"/>
          <p:cNvSpPr/>
          <p:nvPr/>
        </p:nvSpPr>
        <p:spPr>
          <a:xfrm>
            <a:off x="7397640" y="3549600"/>
            <a:ext cx="2499480" cy="1399680"/>
          </a:xfrm>
          <a:prstGeom prst="roundRect">
            <a:avLst>
              <a:gd name="adj" fmla="val 9000"/>
            </a:avLst>
          </a:prstGeom>
          <a:solidFill>
            <a:srgbClr val="143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88" name="Layer Middle"/>
          <p:cNvSpPr/>
          <p:nvPr/>
        </p:nvSpPr>
        <p:spPr>
          <a:xfrm>
            <a:off x="7897680" y="3049560"/>
            <a:ext cx="2499480" cy="1399680"/>
          </a:xfrm>
          <a:prstGeom prst="roundRect">
            <a:avLst>
              <a:gd name="adj" fmla="val 9000"/>
            </a:avLst>
          </a:prstGeom>
          <a:solidFill>
            <a:srgbClr val="1D63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89" name="Layer Front"/>
          <p:cNvSpPr/>
          <p:nvPr/>
        </p:nvSpPr>
        <p:spPr>
          <a:xfrm>
            <a:off x="8397720" y="2549520"/>
            <a:ext cx="2499480" cy="1399680"/>
          </a:xfrm>
          <a:prstGeom prst="roundRect">
            <a:avLst>
              <a:gd name="adj" fmla="val 9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0F6FC"/>
                </a:solidFill>
                <a:latin typeface="Urbanist"/>
                <a:ea typeface="Urbanist"/>
              </a:rPr>
              <a:t>docker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Shape1001"/>
          <p:cNvSpPr/>
          <p:nvPr/>
        </p:nvSpPr>
        <p:spPr>
          <a:xfrm>
            <a:off x="581040" y="68256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/>
            <a:endParaRPr sz="1000"/>
          </a:p>
        </p:txBody>
      </p:sp>
      <p:sp>
        <p:nvSpPr>
          <p:cNvPr id="1002" name="Text1002"/>
          <p:cNvSpPr/>
          <p:nvPr/>
        </p:nvSpPr>
        <p:spPr>
          <a:xfrm>
            <a:off x="771480" y="682560"/>
            <a:ext cx="113810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spc="-1">
                <a:solidFill>
                  <a:srgbClr val="F0F6FC"/>
                </a:solidFill>
                <a:latin typeface="Urbanist"/>
                <a:ea typeface="Urbanist"/>
              </a:rPr>
              <a:t>Docker Architecture</a:t>
            </a:r>
          </a:p>
        </p:txBody>
      </p:sp>
      <p:sp>
        <p:nvSpPr>
          <p:cNvPr id="1003" name="Text1003"/>
          <p:cNvSpPr/>
          <p:nvPr/>
        </p:nvSpPr>
        <p:spPr>
          <a:xfrm>
            <a:off x="771480" y="1230000"/>
            <a:ext cx="11381040" cy="4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0" spc="-1">
                <a:solidFill>
                  <a:srgbClr val="8B949E"/>
                </a:solidFill>
                <a:latin typeface="Urbanist"/>
                <a:ea typeface="Urbanist"/>
              </a:rPr>
              <a:t>Containers share the host OS kernel; virtual machines each carry their own</a:t>
            </a:r>
          </a:p>
        </p:txBody>
      </p:sp>
      <p:sp>
        <p:nvSpPr>
          <p:cNvPr id="1004" name="Text1004"/>
          <p:cNvSpPr/>
          <p:nvPr/>
        </p:nvSpPr>
        <p:spPr>
          <a:xfrm>
            <a:off x="581040" y="1780000"/>
            <a:ext cx="6000000" cy="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spc="-1">
                <a:solidFill>
                  <a:srgbClr val="F0F6FC"/>
                </a:solidFill>
                <a:latin typeface="Urbanist"/>
                <a:ea typeface="Urbanist"/>
              </a:rPr>
              <a:t>Containerized Applications</a:t>
            </a:r>
          </a:p>
        </p:txBody>
      </p:sp>
      <p:sp>
        <p:nvSpPr>
          <p:cNvPr id="1005" name="Shape1005"/>
          <p:cNvSpPr/>
          <p:nvPr/>
        </p:nvSpPr>
        <p:spPr>
          <a:xfrm>
            <a:off x="581040" y="2140000"/>
            <a:ext cx="1788333" cy="75000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200" b="1" spc="-1">
                <a:solidFill>
                  <a:srgbClr val="FFFFFF"/>
                </a:solidFill>
                <a:latin typeface="Urbanist"/>
                <a:ea typeface="Urbanist"/>
              </a:rPr>
              <a:t>App A</a:t>
            </a:r>
          </a:p>
        </p:txBody>
      </p:sp>
      <p:sp>
        <p:nvSpPr>
          <p:cNvPr id="1006" name="Shape1006"/>
          <p:cNvSpPr/>
          <p:nvPr/>
        </p:nvSpPr>
        <p:spPr>
          <a:xfrm>
            <a:off x="2429373" y="2140000"/>
            <a:ext cx="1788333" cy="75000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200" b="1" spc="-1">
                <a:solidFill>
                  <a:srgbClr val="FFFFFF"/>
                </a:solidFill>
                <a:latin typeface="Urbanist"/>
                <a:ea typeface="Urbanist"/>
              </a:rPr>
              <a:t>App B</a:t>
            </a:r>
          </a:p>
        </p:txBody>
      </p:sp>
      <p:sp>
        <p:nvSpPr>
          <p:cNvPr id="1007" name="Shape1007"/>
          <p:cNvSpPr/>
          <p:nvPr/>
        </p:nvSpPr>
        <p:spPr>
          <a:xfrm>
            <a:off x="4277706" y="2140000"/>
            <a:ext cx="1788333" cy="75000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200" b="1" spc="-1">
                <a:solidFill>
                  <a:srgbClr val="FFFFFF"/>
                </a:solidFill>
                <a:latin typeface="Urbanist"/>
                <a:ea typeface="Urbanist"/>
              </a:rPr>
              <a:t>App C</a:t>
            </a:r>
          </a:p>
        </p:txBody>
      </p:sp>
      <p:sp>
        <p:nvSpPr>
          <p:cNvPr id="1008" name="Shape1008"/>
          <p:cNvSpPr/>
          <p:nvPr/>
        </p:nvSpPr>
        <p:spPr>
          <a:xfrm>
            <a:off x="6126039" y="2140000"/>
            <a:ext cx="1788333" cy="75000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200" b="1" spc="-1">
                <a:solidFill>
                  <a:srgbClr val="FFFFFF"/>
                </a:solidFill>
                <a:latin typeface="Urbanist"/>
                <a:ea typeface="Urbanist"/>
              </a:rPr>
              <a:t>App D</a:t>
            </a:r>
          </a:p>
        </p:txBody>
      </p:sp>
      <p:sp>
        <p:nvSpPr>
          <p:cNvPr id="1009" name="Shape1009"/>
          <p:cNvSpPr/>
          <p:nvPr/>
        </p:nvSpPr>
        <p:spPr>
          <a:xfrm>
            <a:off x="7974372" y="2140000"/>
            <a:ext cx="1788333" cy="75000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200" b="1" spc="-1">
                <a:solidFill>
                  <a:srgbClr val="FFFFFF"/>
                </a:solidFill>
                <a:latin typeface="Urbanist"/>
                <a:ea typeface="Urbanist"/>
              </a:rPr>
              <a:t>App E</a:t>
            </a:r>
          </a:p>
        </p:txBody>
      </p:sp>
      <p:sp>
        <p:nvSpPr>
          <p:cNvPr id="1010" name="Shape1010"/>
          <p:cNvSpPr/>
          <p:nvPr/>
        </p:nvSpPr>
        <p:spPr>
          <a:xfrm>
            <a:off x="9822705" y="2140000"/>
            <a:ext cx="1788333" cy="75000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200" b="1" spc="-1">
                <a:solidFill>
                  <a:srgbClr val="FFFFFF"/>
                </a:solidFill>
                <a:latin typeface="Urbanist"/>
                <a:ea typeface="Urbanist"/>
              </a:rPr>
              <a:t>App F</a:t>
            </a:r>
          </a:p>
        </p:txBody>
      </p:sp>
      <p:sp>
        <p:nvSpPr>
          <p:cNvPr id="1011" name="Shape1011"/>
          <p:cNvSpPr/>
          <p:nvPr/>
        </p:nvSpPr>
        <p:spPr>
          <a:xfrm>
            <a:off x="581040" y="2980000"/>
            <a:ext cx="11030000" cy="400000"/>
          </a:xfrm>
          <a:prstGeom prst="roundRect">
            <a:avLst>
              <a:gd name="adj" fmla="val 4000"/>
            </a:avLst>
          </a:prstGeom>
          <a:solidFill>
            <a:srgbClr val="1D63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spc="-1">
                <a:solidFill>
                  <a:srgbClr val="FFFFFF"/>
                </a:solidFill>
                <a:latin typeface="Urbanist"/>
                <a:ea typeface="Urbanist"/>
              </a:rPr>
              <a:t>Docker</a:t>
            </a:r>
          </a:p>
        </p:txBody>
      </p:sp>
      <p:sp>
        <p:nvSpPr>
          <p:cNvPr id="1012" name="Shape1012"/>
          <p:cNvSpPr/>
          <p:nvPr/>
        </p:nvSpPr>
        <p:spPr>
          <a:xfrm>
            <a:off x="581040" y="3440000"/>
            <a:ext cx="11030000" cy="400000"/>
          </a:xfrm>
          <a:prstGeom prst="roundRect">
            <a:avLst>
              <a:gd name="adj" fmla="val 4000"/>
            </a:avLst>
          </a:prstGeom>
          <a:solidFill>
            <a:srgbClr val="D6E8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spc="-1">
                <a:solidFill>
                  <a:srgbClr val="0D1117"/>
                </a:solidFill>
                <a:latin typeface="Urbanist"/>
                <a:ea typeface="Urbanist"/>
              </a:rPr>
              <a:t>Host Operating System</a:t>
            </a:r>
          </a:p>
        </p:txBody>
      </p:sp>
      <p:sp>
        <p:nvSpPr>
          <p:cNvPr id="1013" name="Shape1013"/>
          <p:cNvSpPr/>
          <p:nvPr/>
        </p:nvSpPr>
        <p:spPr>
          <a:xfrm>
            <a:off x="581040" y="3900000"/>
            <a:ext cx="11030000" cy="400000"/>
          </a:xfrm>
          <a:prstGeom prst="roundRect">
            <a:avLst>
              <a:gd name="adj" fmla="val 4000"/>
            </a:avLst>
          </a:prstGeom>
          <a:solidFill>
            <a:srgbClr val="2386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spc="-1">
                <a:solidFill>
                  <a:srgbClr val="FFFFFF"/>
                </a:solidFill>
                <a:latin typeface="Urbanist"/>
                <a:ea typeface="Urbanist"/>
              </a:rPr>
              <a:t>Infrastructure</a:t>
            </a:r>
          </a:p>
        </p:txBody>
      </p:sp>
      <p:sp>
        <p:nvSpPr>
          <p:cNvPr id="1014" name="Shape1014"/>
          <p:cNvSpPr/>
          <p:nvPr/>
        </p:nvSpPr>
        <p:spPr>
          <a:xfrm>
            <a:off x="581040" y="4600000"/>
            <a:ext cx="5365000" cy="3400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spc="-1">
                <a:solidFill>
                  <a:srgbClr val="F0F6FC"/>
                </a:solidFill>
                <a:latin typeface="Urbanist"/>
                <a:ea typeface="Urbanist"/>
              </a:rPr>
              <a:t>Virtual Machine Architecture</a:t>
            </a:r>
          </a:p>
        </p:txBody>
      </p:sp>
      <p:sp>
        <p:nvSpPr>
          <p:cNvPr id="1015" name="Shape1015"/>
          <p:cNvSpPr/>
          <p:nvPr/>
        </p:nvSpPr>
        <p:spPr>
          <a:xfrm>
            <a:off x="6246040" y="4600000"/>
            <a:ext cx="5365000" cy="3400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 w="9525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spc="-1">
                <a:solidFill>
                  <a:srgbClr val="F0F6FC"/>
                </a:solidFill>
                <a:latin typeface="Urbanist"/>
                <a:ea typeface="Urbanist"/>
              </a:rPr>
              <a:t>Docker Architecture</a:t>
            </a:r>
          </a:p>
        </p:txBody>
      </p:sp>
      <p:sp>
        <p:nvSpPr>
          <p:cNvPr id="1016" name="Shape1016"/>
          <p:cNvSpPr/>
          <p:nvPr/>
        </p:nvSpPr>
        <p:spPr>
          <a:xfrm>
            <a:off x="581040" y="5060000"/>
            <a:ext cx="1748333" cy="300000"/>
          </a:xfrm>
          <a:prstGeom prst="roundRect">
            <a:avLst>
              <a:gd name="adj" fmla="val 6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APP1</a:t>
            </a:r>
          </a:p>
        </p:txBody>
      </p:sp>
      <p:sp>
        <p:nvSpPr>
          <p:cNvPr id="1017" name="Shape1017"/>
          <p:cNvSpPr/>
          <p:nvPr/>
        </p:nvSpPr>
        <p:spPr>
          <a:xfrm>
            <a:off x="581040" y="5390000"/>
            <a:ext cx="1748333" cy="300000"/>
          </a:xfrm>
          <a:prstGeom prst="roundRect">
            <a:avLst>
              <a:gd name="adj" fmla="val 6000"/>
            </a:avLst>
          </a:prstGeom>
          <a:solidFill>
            <a:srgbClr val="1D63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900" b="1" spc="-1">
                <a:solidFill>
                  <a:srgbClr val="FFFFFF"/>
                </a:solidFill>
                <a:latin typeface="Urbanist"/>
                <a:ea typeface="Urbanist"/>
              </a:rPr>
              <a:t>BINS/</a:t>
            </a:r>
          </a:p>
          <a:p>
            <a:pPr algn="ctr">
              <a:lnSpc>
                <a:spcPct val="110000"/>
              </a:lnSpc>
            </a:pPr>
            <a:r>
              <a:rPr lang="en-US" sz="900" b="1" spc="-1">
                <a:solidFill>
                  <a:srgbClr val="FFFFFF"/>
                </a:solidFill>
                <a:latin typeface="Urbanist"/>
                <a:ea typeface="Urbanist"/>
              </a:rPr>
              <a:t>LIBS</a:t>
            </a:r>
          </a:p>
        </p:txBody>
      </p:sp>
      <p:sp>
        <p:nvSpPr>
          <p:cNvPr id="1018" name="Shape1018"/>
          <p:cNvSpPr/>
          <p:nvPr/>
        </p:nvSpPr>
        <p:spPr>
          <a:xfrm>
            <a:off x="581040" y="5720000"/>
            <a:ext cx="1748333" cy="330000"/>
          </a:xfrm>
          <a:prstGeom prst="roundRect">
            <a:avLst>
              <a:gd name="adj" fmla="val 6000"/>
            </a:avLst>
          </a:prstGeom>
          <a:solidFill>
            <a:srgbClr val="143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GUEST OS</a:t>
            </a:r>
          </a:p>
        </p:txBody>
      </p:sp>
      <p:sp>
        <p:nvSpPr>
          <p:cNvPr id="1019" name="Shape1019"/>
          <p:cNvSpPr/>
          <p:nvPr/>
        </p:nvSpPr>
        <p:spPr>
          <a:xfrm>
            <a:off x="2389373" y="5060000"/>
            <a:ext cx="1748333" cy="300000"/>
          </a:xfrm>
          <a:prstGeom prst="roundRect">
            <a:avLst>
              <a:gd name="adj" fmla="val 6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APP2</a:t>
            </a:r>
          </a:p>
        </p:txBody>
      </p:sp>
      <p:sp>
        <p:nvSpPr>
          <p:cNvPr id="1020" name="Shape1020"/>
          <p:cNvSpPr/>
          <p:nvPr/>
        </p:nvSpPr>
        <p:spPr>
          <a:xfrm>
            <a:off x="2389373" y="5390000"/>
            <a:ext cx="1748333" cy="300000"/>
          </a:xfrm>
          <a:prstGeom prst="roundRect">
            <a:avLst>
              <a:gd name="adj" fmla="val 6000"/>
            </a:avLst>
          </a:prstGeom>
          <a:solidFill>
            <a:srgbClr val="1D63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900" b="1" spc="-1">
                <a:solidFill>
                  <a:srgbClr val="FFFFFF"/>
                </a:solidFill>
                <a:latin typeface="Urbanist"/>
                <a:ea typeface="Urbanist"/>
              </a:rPr>
              <a:t>BINS/</a:t>
            </a:r>
          </a:p>
          <a:p>
            <a:pPr algn="ctr">
              <a:lnSpc>
                <a:spcPct val="110000"/>
              </a:lnSpc>
            </a:pPr>
            <a:r>
              <a:rPr lang="en-US" sz="900" b="1" spc="-1">
                <a:solidFill>
                  <a:srgbClr val="FFFFFF"/>
                </a:solidFill>
                <a:latin typeface="Urbanist"/>
                <a:ea typeface="Urbanist"/>
              </a:rPr>
              <a:t>LIBS</a:t>
            </a:r>
          </a:p>
        </p:txBody>
      </p:sp>
      <p:sp>
        <p:nvSpPr>
          <p:cNvPr id="1021" name="Shape1021"/>
          <p:cNvSpPr/>
          <p:nvPr/>
        </p:nvSpPr>
        <p:spPr>
          <a:xfrm>
            <a:off x="2389373" y="5720000"/>
            <a:ext cx="1748333" cy="330000"/>
          </a:xfrm>
          <a:prstGeom prst="roundRect">
            <a:avLst>
              <a:gd name="adj" fmla="val 6000"/>
            </a:avLst>
          </a:prstGeom>
          <a:solidFill>
            <a:srgbClr val="143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GUEST OS</a:t>
            </a:r>
          </a:p>
        </p:txBody>
      </p:sp>
      <p:sp>
        <p:nvSpPr>
          <p:cNvPr id="1022" name="Shape1022"/>
          <p:cNvSpPr/>
          <p:nvPr/>
        </p:nvSpPr>
        <p:spPr>
          <a:xfrm>
            <a:off x="4197706" y="5060000"/>
            <a:ext cx="1748333" cy="300000"/>
          </a:xfrm>
          <a:prstGeom prst="roundRect">
            <a:avLst>
              <a:gd name="adj" fmla="val 6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APP3</a:t>
            </a:r>
          </a:p>
        </p:txBody>
      </p:sp>
      <p:sp>
        <p:nvSpPr>
          <p:cNvPr id="1023" name="Shape1023"/>
          <p:cNvSpPr/>
          <p:nvPr/>
        </p:nvSpPr>
        <p:spPr>
          <a:xfrm>
            <a:off x="4197706" y="5390000"/>
            <a:ext cx="1748333" cy="300000"/>
          </a:xfrm>
          <a:prstGeom prst="roundRect">
            <a:avLst>
              <a:gd name="adj" fmla="val 6000"/>
            </a:avLst>
          </a:prstGeom>
          <a:solidFill>
            <a:srgbClr val="1D63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900" b="1" spc="-1">
                <a:solidFill>
                  <a:srgbClr val="FFFFFF"/>
                </a:solidFill>
                <a:latin typeface="Urbanist"/>
                <a:ea typeface="Urbanist"/>
              </a:rPr>
              <a:t>BINS/</a:t>
            </a:r>
          </a:p>
          <a:p>
            <a:pPr algn="ctr">
              <a:lnSpc>
                <a:spcPct val="110000"/>
              </a:lnSpc>
            </a:pPr>
            <a:r>
              <a:rPr lang="en-US" sz="900" b="1" spc="-1">
                <a:solidFill>
                  <a:srgbClr val="FFFFFF"/>
                </a:solidFill>
                <a:latin typeface="Urbanist"/>
                <a:ea typeface="Urbanist"/>
              </a:rPr>
              <a:t>LIBS</a:t>
            </a:r>
          </a:p>
        </p:txBody>
      </p:sp>
      <p:sp>
        <p:nvSpPr>
          <p:cNvPr id="1024" name="Shape1024"/>
          <p:cNvSpPr/>
          <p:nvPr/>
        </p:nvSpPr>
        <p:spPr>
          <a:xfrm>
            <a:off x="4197706" y="5720000"/>
            <a:ext cx="1748333" cy="330000"/>
          </a:xfrm>
          <a:prstGeom prst="roundRect">
            <a:avLst>
              <a:gd name="adj" fmla="val 6000"/>
            </a:avLst>
          </a:prstGeom>
          <a:solidFill>
            <a:srgbClr val="143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GUEST OS</a:t>
            </a:r>
          </a:p>
        </p:txBody>
      </p:sp>
      <p:sp>
        <p:nvSpPr>
          <p:cNvPr id="1025" name="Shape1025"/>
          <p:cNvSpPr/>
          <p:nvPr/>
        </p:nvSpPr>
        <p:spPr>
          <a:xfrm>
            <a:off x="581040" y="6080000"/>
            <a:ext cx="5365000" cy="350000"/>
          </a:xfrm>
          <a:prstGeom prst="roundRect">
            <a:avLst>
              <a:gd name="adj" fmla="val 4000"/>
            </a:avLst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300" b="1" spc="-1">
                <a:solidFill>
                  <a:srgbClr val="FFFFFF"/>
                </a:solidFill>
                <a:latin typeface="Urbanist"/>
                <a:ea typeface="Urbanist"/>
              </a:rPr>
              <a:t>HYPERVISOR</a:t>
            </a:r>
          </a:p>
        </p:txBody>
      </p:sp>
      <p:sp>
        <p:nvSpPr>
          <p:cNvPr id="1026" name="Shape1026"/>
          <p:cNvSpPr/>
          <p:nvPr/>
        </p:nvSpPr>
        <p:spPr>
          <a:xfrm>
            <a:off x="581040" y="6490000"/>
            <a:ext cx="5365000" cy="350000"/>
          </a:xfrm>
          <a:prstGeom prst="roundRect">
            <a:avLst>
              <a:gd name="adj" fmla="val 4000"/>
            </a:avLst>
          </a:prstGeom>
          <a:solidFill>
            <a:srgbClr val="30363D"/>
          </a:solidFill>
          <a:ln w="9525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300" b="1" spc="-1">
                <a:solidFill>
                  <a:srgbClr val="F0F6FC"/>
                </a:solidFill>
                <a:latin typeface="Urbanist"/>
                <a:ea typeface="Urbanist"/>
              </a:rPr>
              <a:t>HOST OS</a:t>
            </a:r>
          </a:p>
        </p:txBody>
      </p:sp>
      <p:sp>
        <p:nvSpPr>
          <p:cNvPr id="1027" name="Shape1027"/>
          <p:cNvSpPr/>
          <p:nvPr/>
        </p:nvSpPr>
        <p:spPr>
          <a:xfrm>
            <a:off x="6246040" y="5060000"/>
            <a:ext cx="2532500" cy="300000"/>
          </a:xfrm>
          <a:prstGeom prst="roundRect">
            <a:avLst>
              <a:gd name="adj" fmla="val 6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CONTAINER 1</a:t>
            </a:r>
          </a:p>
        </p:txBody>
      </p:sp>
      <p:sp>
        <p:nvSpPr>
          <p:cNvPr id="1028" name="Shape1028"/>
          <p:cNvSpPr/>
          <p:nvPr/>
        </p:nvSpPr>
        <p:spPr>
          <a:xfrm>
            <a:off x="9078540" y="5060000"/>
            <a:ext cx="2532500" cy="300000"/>
          </a:xfrm>
          <a:prstGeom prst="roundRect">
            <a:avLst>
              <a:gd name="adj" fmla="val 6000"/>
            </a:avLst>
          </a:prstGeom>
          <a:solidFill>
            <a:srgbClr val="2496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CONTAINER 2</a:t>
            </a:r>
          </a:p>
        </p:txBody>
      </p:sp>
      <p:sp>
        <p:nvSpPr>
          <p:cNvPr id="1029" name="Text1029"/>
          <p:cNvSpPr/>
          <p:nvPr/>
        </p:nvSpPr>
        <p:spPr>
          <a:xfrm>
            <a:off x="6246040" y="5380000"/>
            <a:ext cx="2532500" cy="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pc="-1">
                <a:solidFill>
                  <a:srgbClr val="8B949E"/>
                </a:solidFill>
                <a:latin typeface="Urbanist"/>
                <a:ea typeface="Urbanist"/>
              </a:rPr>
              <a:t>↓</a:t>
            </a:r>
          </a:p>
        </p:txBody>
      </p:sp>
      <p:sp>
        <p:nvSpPr>
          <p:cNvPr id="1030" name="Text1030"/>
          <p:cNvSpPr/>
          <p:nvPr/>
        </p:nvSpPr>
        <p:spPr>
          <a:xfrm>
            <a:off x="9078540" y="5380000"/>
            <a:ext cx="2532500" cy="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pc="-1">
                <a:solidFill>
                  <a:srgbClr val="8B949E"/>
                </a:solidFill>
                <a:latin typeface="Urbanist"/>
                <a:ea typeface="Urbanist"/>
              </a:rPr>
              <a:t>↓</a:t>
            </a:r>
          </a:p>
        </p:txBody>
      </p:sp>
      <p:sp>
        <p:nvSpPr>
          <p:cNvPr id="1031" name="Shape1031"/>
          <p:cNvSpPr/>
          <p:nvPr/>
        </p:nvSpPr>
        <p:spPr>
          <a:xfrm>
            <a:off x="6246040" y="5600000"/>
            <a:ext cx="2532500" cy="450000"/>
          </a:xfrm>
          <a:prstGeom prst="roundRect">
            <a:avLst>
              <a:gd name="adj" fmla="val 6000"/>
            </a:avLst>
          </a:prstGeom>
          <a:solidFill>
            <a:srgbClr val="1D63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APP1</a:t>
            </a:r>
          </a:p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BINS/LIBS</a:t>
            </a:r>
          </a:p>
        </p:txBody>
      </p:sp>
      <p:sp>
        <p:nvSpPr>
          <p:cNvPr id="1032" name="Shape1032"/>
          <p:cNvSpPr/>
          <p:nvPr/>
        </p:nvSpPr>
        <p:spPr>
          <a:xfrm>
            <a:off x="9078540" y="5600000"/>
            <a:ext cx="2532500" cy="450000"/>
          </a:xfrm>
          <a:prstGeom prst="roundRect">
            <a:avLst>
              <a:gd name="adj" fmla="val 6000"/>
            </a:avLst>
          </a:prstGeom>
          <a:solidFill>
            <a:srgbClr val="1D63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APP2</a:t>
            </a:r>
          </a:p>
          <a:p>
            <a:pPr algn="ctr">
              <a:lnSpc>
                <a:spcPct val="110000"/>
              </a:lnSpc>
            </a:pPr>
            <a:r>
              <a:rPr lang="en-US" sz="1000" b="1" spc="-1">
                <a:solidFill>
                  <a:srgbClr val="FFFFFF"/>
                </a:solidFill>
                <a:latin typeface="Urbanist"/>
                <a:ea typeface="Urbanist"/>
              </a:rPr>
              <a:t>BINS/LIBS</a:t>
            </a:r>
          </a:p>
        </p:txBody>
      </p:sp>
      <p:sp>
        <p:nvSpPr>
          <p:cNvPr id="1033" name="Shape1033"/>
          <p:cNvSpPr/>
          <p:nvPr/>
        </p:nvSpPr>
        <p:spPr>
          <a:xfrm>
            <a:off x="6246040" y="6080000"/>
            <a:ext cx="5365000" cy="350000"/>
          </a:xfrm>
          <a:prstGeom prst="roundRect">
            <a:avLst>
              <a:gd name="adj" fmla="val 4000"/>
            </a:avLst>
          </a:prstGeom>
          <a:solidFill>
            <a:srgbClr val="2386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300" b="1" spc="-1">
                <a:solidFill>
                  <a:srgbClr val="FFFFFF"/>
                </a:solidFill>
                <a:latin typeface="Urbanist"/>
                <a:ea typeface="Urbanist"/>
              </a:rPr>
              <a:t>DOCKER ENGINE</a:t>
            </a:r>
          </a:p>
        </p:txBody>
      </p:sp>
      <p:sp>
        <p:nvSpPr>
          <p:cNvPr id="1034" name="Shape1034"/>
          <p:cNvSpPr/>
          <p:nvPr/>
        </p:nvSpPr>
        <p:spPr>
          <a:xfrm>
            <a:off x="6246040" y="6490000"/>
            <a:ext cx="5365000" cy="350000"/>
          </a:xfrm>
          <a:prstGeom prst="roundRect">
            <a:avLst>
              <a:gd name="adj" fmla="val 4000"/>
            </a:avLst>
          </a:prstGeom>
          <a:solidFill>
            <a:srgbClr val="30363D"/>
          </a:solidFill>
          <a:ln w="9525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18000" rIns="36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1300" b="1" spc="-1">
                <a:solidFill>
                  <a:srgbClr val="F0F6FC"/>
                </a:solidFill>
                <a:latin typeface="Urbanist"/>
                <a:ea typeface="Urbanist"/>
              </a:rPr>
              <a:t>HOST OS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192;p21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91" name="Google Shape;194;p21"/>
          <p:cNvSpPr/>
          <p:nvPr/>
        </p:nvSpPr>
        <p:spPr>
          <a:xfrm>
            <a:off x="581040" y="1548360"/>
            <a:ext cx="5490360" cy="85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38636"/>
                </a:solidFill>
                <a:latin typeface="Urbanist"/>
                <a:ea typeface="Urbanist"/>
              </a:rPr>
              <a:t>From Blueprint to Running App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Google Shape;195;p21"/>
          <p:cNvSpPr/>
          <p:nvPr/>
        </p:nvSpPr>
        <p:spPr>
          <a:xfrm>
            <a:off x="581040" y="2469240"/>
            <a:ext cx="5229000" cy="7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Docker’s workflow moves through three building blocks that turn source code into a running app: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Google Shape;197;p21"/>
          <p:cNvSpPr/>
          <p:nvPr/>
        </p:nvSpPr>
        <p:spPr>
          <a:xfrm>
            <a:off x="1009800" y="3710160"/>
            <a:ext cx="4800240" cy="7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Dockerfile: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A blueprint of steps to build an image.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Google Shape;198;p21"/>
          <p:cNvSpPr/>
          <p:nvPr/>
        </p:nvSpPr>
        <p:spPr>
          <a:xfrm>
            <a:off x="1009800" y="4253040"/>
            <a:ext cx="4800240" cy="7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Image: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A read-only snapshot built from the Dockerfile, ready to run.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Google Shape;199;p21"/>
          <p:cNvSpPr/>
          <p:nvPr/>
        </p:nvSpPr>
        <p:spPr>
          <a:xfrm>
            <a:off x="1009800" y="5100480"/>
            <a:ext cx="4800240" cy="7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B949E"/>
                </a:solidFill>
                <a:latin typeface="Urbanist"/>
                <a:ea typeface="Urbanist"/>
              </a:rPr>
              <a:t>Container:</a:t>
            </a:r>
            <a:r>
              <a:rPr lang="en-US" sz="1600" b="0" strike="noStrike" spc="-1">
                <a:solidFill>
                  <a:srgbClr val="8B949E"/>
                </a:solidFill>
                <a:latin typeface="Urbanist"/>
                <a:ea typeface="Urbanist"/>
              </a:rPr>
              <a:t> A live, running instance of an image, isolated and disposable.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6" name="Google Shape;200;p21" descr="image.png"/>
          <p:cNvPicPr/>
          <p:nvPr/>
        </p:nvPicPr>
        <p:blipFill>
          <a:blip r:embed="rId3"/>
          <a:stretch/>
        </p:blipFill>
        <p:spPr>
          <a:xfrm>
            <a:off x="627480" y="3856320"/>
            <a:ext cx="199800" cy="247320"/>
          </a:xfrm>
          <a:prstGeom prst="rect">
            <a:avLst/>
          </a:prstGeom>
          <a:ln w="0">
            <a:noFill/>
          </a:ln>
        </p:spPr>
      </p:pic>
      <p:pic>
        <p:nvPicPr>
          <p:cNvPr id="297" name="Google Shape;201;p21" descr="image.png"/>
          <p:cNvPicPr/>
          <p:nvPr/>
        </p:nvPicPr>
        <p:blipFill>
          <a:blip r:embed="rId4"/>
          <a:stretch/>
        </p:blipFill>
        <p:spPr>
          <a:xfrm>
            <a:off x="572040" y="4373640"/>
            <a:ext cx="285480" cy="247320"/>
          </a:xfrm>
          <a:prstGeom prst="rect">
            <a:avLst/>
          </a:prstGeom>
          <a:ln w="0">
            <a:noFill/>
          </a:ln>
        </p:spPr>
      </p:pic>
      <p:pic>
        <p:nvPicPr>
          <p:cNvPr id="298" name="Google Shape;202;p21" descr="image.png"/>
          <p:cNvPicPr/>
          <p:nvPr/>
        </p:nvPicPr>
        <p:blipFill>
          <a:blip r:embed="rId5"/>
          <a:stretch/>
        </p:blipFill>
        <p:spPr>
          <a:xfrm>
            <a:off x="606960" y="5193000"/>
            <a:ext cx="228240" cy="247320"/>
          </a:xfrm>
          <a:prstGeom prst="rect">
            <a:avLst/>
          </a:prstGeom>
          <a:ln w="0">
            <a:noFill/>
          </a:ln>
        </p:spPr>
      </p:pic>
      <p:sp>
        <p:nvSpPr>
          <p:cNvPr id="299" name="Google Shape;203;p21"/>
          <p:cNvSpPr/>
          <p:nvPr/>
        </p:nvSpPr>
        <p:spPr>
          <a:xfrm>
            <a:off x="771480" y="581040"/>
            <a:ext cx="113810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0F6FC"/>
                </a:solidFill>
                <a:latin typeface="Urbanist"/>
                <a:ea typeface="Urbanist"/>
              </a:rPr>
              <a:t>How Docker Works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Google Shape;204;p21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01" name="Flow Box Dockerfile"/>
          <p:cNvSpPr/>
          <p:nvPr/>
        </p:nvSpPr>
        <p:spPr>
          <a:xfrm>
            <a:off x="6095880" y="3060000"/>
            <a:ext cx="1449720" cy="1299600"/>
          </a:xfrm>
          <a:prstGeom prst="roundRect">
            <a:avLst>
              <a:gd name="adj" fmla="val 8000"/>
            </a:avLst>
          </a:prstGeom>
          <a:solidFill>
            <a:srgbClr val="14395C"/>
          </a:solidFill>
          <a:ln w="9525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0F6FC"/>
                </a:solidFill>
                <a:latin typeface="Urbanist"/>
                <a:ea typeface="Urbanist"/>
              </a:rPr>
              <a:t>Dockerfile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Flow Arrow 1"/>
          <p:cNvSpPr/>
          <p:nvPr/>
        </p:nvSpPr>
        <p:spPr>
          <a:xfrm>
            <a:off x="7545960" y="3560040"/>
            <a:ext cx="549720" cy="299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B94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03" name="Flow Box Image"/>
          <p:cNvSpPr/>
          <p:nvPr/>
        </p:nvSpPr>
        <p:spPr>
          <a:xfrm>
            <a:off x="8096040" y="3060000"/>
            <a:ext cx="1449720" cy="1299600"/>
          </a:xfrm>
          <a:prstGeom prst="roundRect">
            <a:avLst>
              <a:gd name="adj" fmla="val 8000"/>
            </a:avLst>
          </a:prstGeom>
          <a:solidFill>
            <a:srgbClr val="1D63A6"/>
          </a:solidFill>
          <a:ln w="9525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0F6FC"/>
                </a:solidFill>
                <a:latin typeface="Urbanist"/>
                <a:ea typeface="Urbanist"/>
              </a:rPr>
              <a:t>Image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Flow Arrow 2"/>
          <p:cNvSpPr/>
          <p:nvPr/>
        </p:nvSpPr>
        <p:spPr>
          <a:xfrm>
            <a:off x="9546120" y="3560040"/>
            <a:ext cx="549720" cy="299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B949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05" name="Flow Box Container"/>
          <p:cNvSpPr/>
          <p:nvPr/>
        </p:nvSpPr>
        <p:spPr>
          <a:xfrm>
            <a:off x="10095840" y="3060000"/>
            <a:ext cx="1449720" cy="129960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 w="9525">
            <a:solidFill>
              <a:srgbClr val="4A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0F6FC"/>
                </a:solidFill>
                <a:latin typeface="Urbanist"/>
                <a:ea typeface="Urbanist"/>
              </a:rPr>
              <a:t>Container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251;p25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07" name="Google Shape;252;p25"/>
          <p:cNvSpPr/>
          <p:nvPr/>
        </p:nvSpPr>
        <p:spPr>
          <a:xfrm>
            <a:off x="581040" y="2214720"/>
            <a:ext cx="11029680" cy="3485880"/>
          </a:xfrm>
          <a:prstGeom prst="roundRect">
            <a:avLst>
              <a:gd name="adj" fmla="val 0"/>
            </a:avLst>
          </a:prstGeom>
          <a:solidFill>
            <a:srgbClr val="0D1117"/>
          </a:solidFill>
          <a:ln w="9525">
            <a:solidFill>
              <a:srgbClr val="4A7DB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graphicFrame>
        <p:nvGraphicFramePr>
          <p:cNvPr id="308" name="Google Shape;253;p25"/>
          <p:cNvGraphicFramePr/>
          <p:nvPr/>
        </p:nvGraphicFramePr>
        <p:xfrm>
          <a:off x="581040" y="2214720"/>
          <a:ext cx="11029320" cy="3484080"/>
        </p:xfrm>
        <a:graphic>
          <a:graphicData uri="http://schemas.openxmlformats.org/drawingml/2006/table">
            <a:tbl>
              <a:tblPr/>
              <a:tblGrid>
                <a:gridCol w="3387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lt1"/>
                          </a:solidFill>
                          <a:latin typeface="JetBrains Mono"/>
                          <a:ea typeface="JetBrains Mono"/>
                        </a:rPr>
                        <a:t>Command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86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lt1"/>
                          </a:solidFill>
                          <a:latin typeface="JetBrains Mono"/>
                          <a:ea typeface="JetBrains Mono"/>
                        </a:rPr>
                        <a:t>Action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86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lt1"/>
                          </a:solidFill>
                          <a:latin typeface="JetBrains Mono"/>
                          <a:ea typeface="JetBrains Mono"/>
                        </a:rPr>
                        <a:t>Context</a:t>
                      </a:r>
                      <a:endParaRPr lang="en-US" sz="14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238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docker build -t app .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Build an image from a Dockerfile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Creating the Image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docker run -d app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Start a new container from an image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Launching the App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docker ps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List all running containers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Checking Status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docker stop app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Gracefully stop a running container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Shutting Down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docker pull nginx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Download an image from Docker Hub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strike="noStrike" spc="-1">
                          <a:solidFill>
                            <a:schemeClr val="dk1"/>
                          </a:solidFill>
                          <a:latin typeface="JetBrains Mono"/>
                          <a:ea typeface="JetBrains Mono"/>
                        </a:rPr>
                        <a:t>Fetching Images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63360" marR="63360" anchor="ctr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9" name="Google Shape;254;p25"/>
          <p:cNvSpPr/>
          <p:nvPr/>
        </p:nvSpPr>
        <p:spPr>
          <a:xfrm>
            <a:off x="581040" y="328608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0" name="Google Shape;255;p25"/>
          <p:cNvSpPr/>
          <p:nvPr/>
        </p:nvSpPr>
        <p:spPr>
          <a:xfrm>
            <a:off x="3969360" y="328608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1" name="Google Shape;256;p25"/>
          <p:cNvSpPr/>
          <p:nvPr/>
        </p:nvSpPr>
        <p:spPr>
          <a:xfrm>
            <a:off x="8655120" y="328608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2" name="Google Shape;257;p25"/>
          <p:cNvSpPr/>
          <p:nvPr/>
        </p:nvSpPr>
        <p:spPr>
          <a:xfrm>
            <a:off x="581040" y="388620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3" name="Google Shape;258;p25"/>
          <p:cNvSpPr/>
          <p:nvPr/>
        </p:nvSpPr>
        <p:spPr>
          <a:xfrm>
            <a:off x="3969360" y="388620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4" name="Google Shape;259;p25"/>
          <p:cNvSpPr/>
          <p:nvPr/>
        </p:nvSpPr>
        <p:spPr>
          <a:xfrm>
            <a:off x="8655120" y="388620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5" name="Google Shape;260;p25"/>
          <p:cNvSpPr/>
          <p:nvPr/>
        </p:nvSpPr>
        <p:spPr>
          <a:xfrm>
            <a:off x="581040" y="448632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6" name="Google Shape;261;p25"/>
          <p:cNvSpPr/>
          <p:nvPr/>
        </p:nvSpPr>
        <p:spPr>
          <a:xfrm>
            <a:off x="3969360" y="448632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7" name="Google Shape;262;p25"/>
          <p:cNvSpPr/>
          <p:nvPr/>
        </p:nvSpPr>
        <p:spPr>
          <a:xfrm>
            <a:off x="8655120" y="448632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8" name="Google Shape;263;p25"/>
          <p:cNvSpPr/>
          <p:nvPr/>
        </p:nvSpPr>
        <p:spPr>
          <a:xfrm>
            <a:off x="581040" y="508644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19" name="Google Shape;264;p25"/>
          <p:cNvSpPr/>
          <p:nvPr/>
        </p:nvSpPr>
        <p:spPr>
          <a:xfrm>
            <a:off x="3969360" y="508644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20" name="Google Shape;265;p25"/>
          <p:cNvSpPr/>
          <p:nvPr/>
        </p:nvSpPr>
        <p:spPr>
          <a:xfrm>
            <a:off x="8655120" y="508644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21" name="Google Shape;266;p25"/>
          <p:cNvSpPr/>
          <p:nvPr/>
        </p:nvSpPr>
        <p:spPr>
          <a:xfrm>
            <a:off x="581040" y="5686560"/>
            <a:ext cx="338796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22" name="Google Shape;267;p25"/>
          <p:cNvSpPr/>
          <p:nvPr/>
        </p:nvSpPr>
        <p:spPr>
          <a:xfrm>
            <a:off x="3969360" y="5686560"/>
            <a:ext cx="46854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23" name="Google Shape;268;p25"/>
          <p:cNvSpPr/>
          <p:nvPr/>
        </p:nvSpPr>
        <p:spPr>
          <a:xfrm>
            <a:off x="8655120" y="5686560"/>
            <a:ext cx="2955600" cy="9000"/>
          </a:xfrm>
          <a:prstGeom prst="rect">
            <a:avLst/>
          </a:prstGeom>
          <a:solidFill>
            <a:srgbClr val="3036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680" bIns="46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324" name="Google Shape;269;p25"/>
          <p:cNvSpPr/>
          <p:nvPr/>
        </p:nvSpPr>
        <p:spPr>
          <a:xfrm>
            <a:off x="771480" y="581040"/>
            <a:ext cx="11381040" cy="48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50" b="1" strike="noStrike" spc="-1">
                <a:solidFill>
                  <a:srgbClr val="F0F6FC"/>
                </a:solidFill>
                <a:latin typeface="Urbanist"/>
                <a:ea typeface="Urbanist"/>
              </a:rPr>
              <a:t>The Essential Docker Command Manual</a:t>
            </a:r>
            <a:endParaRPr lang="en-US" sz="3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Google Shape;270;p25"/>
          <p:cNvSpPr/>
          <p:nvPr/>
        </p:nvSpPr>
        <p:spPr>
          <a:xfrm>
            <a:off x="581040" y="581040"/>
            <a:ext cx="56880" cy="485280"/>
          </a:xfrm>
          <a:prstGeom prst="rect">
            <a:avLst/>
          </a:prstGeom>
          <a:solidFill>
            <a:srgbClr val="F050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3;p29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27" name="Google Shape;324;p29"/>
          <p:cNvSpPr/>
          <p:nvPr/>
        </p:nvSpPr>
        <p:spPr>
          <a:xfrm>
            <a:off x="4110840" y="2045880"/>
            <a:ext cx="39700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6000" b="1" strike="noStrike" spc="-1">
                <a:solidFill>
                  <a:srgbClr val="F0F6FC"/>
                </a:solidFill>
                <a:latin typeface="Urbanist"/>
                <a:ea typeface="Urbanist"/>
              </a:rPr>
              <a:t>Questions?</a:t>
            </a:r>
            <a:endParaRPr lang="en-US" sz="6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Google Shape;325;p29"/>
          <p:cNvSpPr/>
          <p:nvPr/>
        </p:nvSpPr>
        <p:spPr>
          <a:xfrm>
            <a:off x="4205160" y="3074760"/>
            <a:ext cx="3781080" cy="43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ct val="159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F05032"/>
                </a:solidFill>
                <a:latin typeface="Urbanist SemiBold"/>
                <a:ea typeface="Urbanist SemiBold"/>
              </a:rPr>
              <a:t>THANK YOU FOR YOUR TIME!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1282</Words>
  <Application>Microsoft Office PowerPoint</Application>
  <PresentationFormat>Widescreen</PresentationFormat>
  <Paragraphs>207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23</vt:i4>
      </vt:variant>
    </vt:vector>
  </HeadingPairs>
  <TitlesOfParts>
    <vt:vector size="43" baseType="lpstr">
      <vt:lpstr>Arial</vt:lpstr>
      <vt:lpstr>Calibri</vt:lpstr>
      <vt:lpstr>JetBrains Mono</vt:lpstr>
      <vt:lpstr>Lato</vt:lpstr>
      <vt:lpstr>Symbol</vt:lpstr>
      <vt:lpstr>Times New Roman</vt:lpstr>
      <vt:lpstr>Urbanist</vt:lpstr>
      <vt:lpstr>Urbanist SemiBold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Riya Patani</cp:lastModifiedBy>
  <cp:revision>1</cp:revision>
  <dcterms:modified xsi:type="dcterms:W3CDTF">2026-07-21T10:33:18Z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RIYA</dc:creator>
  <dc:description/>
  <dc:language>en-US</dc:language>
  <cp:lastModifiedBy>Atharva Deshmukh</cp:lastModifiedBy>
  <dcterms:modified xsi:type="dcterms:W3CDTF">2026-06-27T10:28:12Z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Widescreen</vt:lpwstr>
  </property>
  <property fmtid="{D5CDD505-2E9C-101B-9397-08002B2CF9AE}" pid="4" name="Slides">
    <vt:r8>18</vt:r8>
  </property>
</Properties>
</file>