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1210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69A297">
              <a:alpha val="12000"/>
            </a:srgbClr>
          </a:solidFill>
          <a:ln/>
        </p:spPr>
      </p:sp>
      <p:sp>
        <p:nvSpPr>
          <p:cNvPr id="3" name="Shape 1"/>
          <p:cNvSpPr/>
          <p:nvPr/>
        </p:nvSpPr>
        <p:spPr>
          <a:xfrm>
            <a:off x="-1280160" y="4754880"/>
            <a:ext cx="3840480" cy="3840480"/>
          </a:xfrm>
          <a:prstGeom prst="ellipse">
            <a:avLst/>
          </a:prstGeom>
          <a:solidFill>
            <a:srgbClr val="84B59F">
              <a:alpha val="10000"/>
            </a:srgbClr>
          </a:solidFill>
          <a:ln/>
        </p:spPr>
      </p:sp>
      <p:sp>
        <p:nvSpPr>
          <p:cNvPr id="4" name="Text 2"/>
          <p:cNvSpPr/>
          <p:nvPr/>
        </p:nvSpPr>
        <p:spPr>
          <a:xfrm>
            <a:off x="822960" y="2331720"/>
            <a:ext cx="10515600" cy="365760"/>
          </a:xfrm>
          <a:prstGeom prst="rect">
            <a:avLst/>
          </a:prstGeom>
          <a:noFill/>
          <a:ln/>
        </p:spPr>
        <p:txBody>
          <a:bodyPr wrap="square" rtlCol="0" anchor="ctr"/>
          <a:lstStyle/>
          <a:p>
            <a:pPr marL="0" indent="0">
              <a:buNone/>
            </a:pPr>
            <a:r>
              <a:rPr lang="en-US" sz="1400" b="1" kern="0" spc="300" dirty="0">
                <a:solidFill>
                  <a:srgbClr val="84B59F"/>
                </a:solidFill>
                <a:latin typeface="Calibri" pitchFamily="34" charset="0"/>
                <a:ea typeface="Calibri" pitchFamily="34" charset="-122"/>
                <a:cs typeface="Calibri" pitchFamily="34" charset="-120"/>
              </a:rPr>
              <a:t>PET ADOPTION &amp; RESCUE MANAGEMENT SYSTEM</a:t>
            </a:r>
            <a:endParaRPr lang="en-US" sz="1400" dirty="0"/>
          </a:p>
        </p:txBody>
      </p:sp>
      <p:sp>
        <p:nvSpPr>
          <p:cNvPr id="5" name="Text 3"/>
          <p:cNvSpPr/>
          <p:nvPr/>
        </p:nvSpPr>
        <p:spPr>
          <a:xfrm>
            <a:off x="822960" y="2743200"/>
            <a:ext cx="10241280" cy="155448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 Database-Driven Platform Connecting</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Adopters and Rescue Shelters</a:t>
            </a:r>
            <a:endParaRPr lang="en-US" sz="4000" dirty="0"/>
          </a:p>
        </p:txBody>
      </p:sp>
      <p:sp>
        <p:nvSpPr>
          <p:cNvPr id="6" name="Text 4"/>
          <p:cNvSpPr/>
          <p:nvPr/>
        </p:nvSpPr>
        <p:spPr>
          <a:xfrm>
            <a:off x="822960" y="4434840"/>
            <a:ext cx="9601200" cy="365760"/>
          </a:xfrm>
          <a:prstGeom prst="rect">
            <a:avLst/>
          </a:prstGeom>
          <a:noFill/>
          <a:ln/>
        </p:spPr>
        <p:txBody>
          <a:bodyPr wrap="square" rtlCol="0" anchor="ctr"/>
          <a:lstStyle/>
          <a:p>
            <a:pPr marL="0" indent="0">
              <a:buNone/>
            </a:pPr>
            <a:r>
              <a:rPr lang="en-US" sz="1500" i="1" dirty="0">
                <a:solidFill>
                  <a:srgbClr val="C7D8D1"/>
                </a:solidFill>
                <a:latin typeface="Calibri" pitchFamily="34" charset="0"/>
                <a:ea typeface="Calibri" pitchFamily="34" charset="-122"/>
                <a:cs typeface="Calibri" pitchFamily="34" charset="-120"/>
              </a:rPr>
              <a:t>Project Documentation &amp; Code Walkthrough  •  RescueOps Development Team</a:t>
            </a:r>
            <a:endParaRPr lang="en-US" sz="1500" dirty="0"/>
          </a:p>
        </p:txBody>
      </p:sp>
      <p:sp>
        <p:nvSpPr>
          <p:cNvPr id="7" name="Shape 5"/>
          <p:cNvSpPr/>
          <p:nvPr/>
        </p:nvSpPr>
        <p:spPr>
          <a:xfrm>
            <a:off x="822960" y="5074920"/>
            <a:ext cx="2011680" cy="0"/>
          </a:xfrm>
          <a:prstGeom prst="line">
            <a:avLst/>
          </a:prstGeom>
          <a:noFill/>
          <a:ln w="25400">
            <a:solidFill>
              <a:srgbClr val="84B59F"/>
            </a:solidFill>
            <a:prstDash val="solid"/>
          </a:ln>
        </p:spPr>
      </p:sp>
      <p:sp>
        <p:nvSpPr>
          <p:cNvPr id="8" name="Text 6"/>
          <p:cNvSpPr/>
          <p:nvPr/>
        </p:nvSpPr>
        <p:spPr>
          <a:xfrm>
            <a:off x="822960" y="5257800"/>
            <a:ext cx="10058400" cy="365760"/>
          </a:xfrm>
          <a:prstGeom prst="rect">
            <a:avLst/>
          </a:prstGeom>
          <a:noFill/>
          <a:ln/>
        </p:spPr>
        <p:txBody>
          <a:bodyPr wrap="square" rtlCol="0" anchor="ctr"/>
          <a:lstStyle/>
          <a:p>
            <a:pPr marL="0" indent="0">
              <a:buNone/>
            </a:pPr>
            <a:r>
              <a:rPr lang="en-US" sz="1250" dirty="0">
                <a:solidFill>
                  <a:srgbClr val="9FB5AC"/>
                </a:solidFill>
                <a:latin typeface="Calibri" pitchFamily="34" charset="0"/>
                <a:ea typeface="Calibri" pitchFamily="34" charset="-122"/>
                <a:cs typeface="Calibri" pitchFamily="34" charset="-120"/>
              </a:rPr>
              <a:t>Team Leader: Sarthak   |   Shravani  •  Kadambari  •  Avishkar  •  Nishtha  •  Shaun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400" b="1" kern="0" spc="200" dirty="0">
                <a:solidFill>
                  <a:srgbClr val="50808E"/>
                </a:solidFill>
                <a:latin typeface="Calibri" pitchFamily="34" charset="0"/>
                <a:ea typeface="Calibri" pitchFamily="34" charset="-122"/>
                <a:cs typeface="Calibri" pitchFamily="34" charset="-120"/>
              </a:rPr>
              <a:t>PROJECT OVERVIEW</a:t>
            </a:r>
            <a:endParaRPr lang="en-US" sz="1400" dirty="0"/>
          </a:p>
        </p:txBody>
      </p:sp>
      <p:sp>
        <p:nvSpPr>
          <p:cNvPr id="3" name="Text 1"/>
          <p:cNvSpPr/>
          <p:nvPr/>
        </p:nvSpPr>
        <p:spPr>
          <a:xfrm>
            <a:off x="548640" y="731520"/>
            <a:ext cx="9144000" cy="640080"/>
          </a:xfrm>
          <a:prstGeom prst="rect">
            <a:avLst/>
          </a:prstGeom>
          <a:noFill/>
          <a:ln/>
        </p:spPr>
        <p:txBody>
          <a:bodyPr wrap="square" rtlCol="0" anchor="ctr"/>
          <a:lstStyle/>
          <a:p>
            <a:pPr marL="0" indent="0">
              <a:buNone/>
            </a:pPr>
            <a:r>
              <a:rPr lang="en-US" sz="3600" b="1" dirty="0">
                <a:solidFill>
                  <a:srgbClr val="1F2C27"/>
                </a:solidFill>
                <a:latin typeface="Cambria" pitchFamily="34" charset="0"/>
                <a:ea typeface="Cambria" pitchFamily="34" charset="-122"/>
                <a:cs typeface="Cambria" pitchFamily="34" charset="-120"/>
              </a:rPr>
              <a:t>Why this system exists</a:t>
            </a:r>
            <a:endParaRPr lang="en-US" sz="3600" dirty="0"/>
          </a:p>
        </p:txBody>
      </p:sp>
      <p:sp>
        <p:nvSpPr>
          <p:cNvPr id="4" name="Text 2"/>
          <p:cNvSpPr/>
          <p:nvPr/>
        </p:nvSpPr>
        <p:spPr>
          <a:xfrm>
            <a:off x="548640" y="1417320"/>
            <a:ext cx="10881360" cy="640080"/>
          </a:xfrm>
          <a:prstGeom prst="rect">
            <a:avLst/>
          </a:prstGeom>
          <a:noFill/>
          <a:ln/>
        </p:spPr>
        <p:txBody>
          <a:bodyPr wrap="square" rtlCol="0" anchor="ctr"/>
          <a:lstStyle/>
          <a:p>
            <a:pPr marL="0" indent="0">
              <a:lnSpc>
                <a:spcPct val="125000"/>
              </a:lnSpc>
              <a:buNone/>
            </a:pPr>
            <a:r>
              <a:rPr lang="en-US" sz="1600" dirty="0">
                <a:solidFill>
                  <a:srgbClr val="5C6B64"/>
                </a:solidFill>
                <a:latin typeface="Calibri" pitchFamily="34" charset="0"/>
                <a:ea typeface="Calibri" pitchFamily="34" charset="-122"/>
                <a:cs typeface="Calibri" pitchFamily="34" charset="-120"/>
              </a:rPr>
              <a:t>A real-time platform connecting prospective adopters with rescue shelters — driven by a social-welfare goal to reduce stray populations and promote responsible pet ownership.</a:t>
            </a:r>
            <a:endParaRPr lang="en-US" sz="1600" dirty="0"/>
          </a:p>
        </p:txBody>
      </p:sp>
      <p:sp>
        <p:nvSpPr>
          <p:cNvPr id="5" name="Shape 3"/>
          <p:cNvSpPr/>
          <p:nvPr/>
        </p:nvSpPr>
        <p:spPr>
          <a:xfrm>
            <a:off x="548640" y="233172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6" name="Shape 4"/>
          <p:cNvSpPr/>
          <p:nvPr/>
        </p:nvSpPr>
        <p:spPr>
          <a:xfrm>
            <a:off x="749808" y="2532888"/>
            <a:ext cx="384048" cy="384048"/>
          </a:xfrm>
          <a:prstGeom prst="roundRect">
            <a:avLst>
              <a:gd name="adj" fmla="val 19048"/>
            </a:avLst>
          </a:prstGeom>
          <a:solidFill>
            <a:srgbClr val="69A297"/>
          </a:solidFill>
          <a:ln/>
        </p:spPr>
      </p:sp>
      <p:sp>
        <p:nvSpPr>
          <p:cNvPr id="7" name="Text 5"/>
          <p:cNvSpPr/>
          <p:nvPr/>
        </p:nvSpPr>
        <p:spPr>
          <a:xfrm>
            <a:off x="749808" y="253288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749808" y="301752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Dual Role Access</a:t>
            </a:r>
            <a:endParaRPr lang="en-US" sz="1600" dirty="0"/>
          </a:p>
        </p:txBody>
      </p:sp>
      <p:sp>
        <p:nvSpPr>
          <p:cNvPr id="9" name="Text 7"/>
          <p:cNvSpPr/>
          <p:nvPr/>
        </p:nvSpPr>
        <p:spPr>
          <a:xfrm>
            <a:off x="749808" y="333756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Dedicated dashboards for Adopters and Administrators, each with scoped permissions.</a:t>
            </a:r>
            <a:endParaRPr lang="en-US" sz="1200" dirty="0"/>
          </a:p>
        </p:txBody>
      </p:sp>
      <p:sp>
        <p:nvSpPr>
          <p:cNvPr id="10" name="Shape 8"/>
          <p:cNvSpPr/>
          <p:nvPr/>
        </p:nvSpPr>
        <p:spPr>
          <a:xfrm>
            <a:off x="4187952" y="233172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11" name="Shape 9"/>
          <p:cNvSpPr/>
          <p:nvPr/>
        </p:nvSpPr>
        <p:spPr>
          <a:xfrm>
            <a:off x="4389120" y="2532888"/>
            <a:ext cx="384048" cy="384048"/>
          </a:xfrm>
          <a:prstGeom prst="roundRect">
            <a:avLst>
              <a:gd name="adj" fmla="val 19048"/>
            </a:avLst>
          </a:prstGeom>
          <a:solidFill>
            <a:srgbClr val="69A297"/>
          </a:solidFill>
          <a:ln/>
        </p:spPr>
      </p:sp>
      <p:sp>
        <p:nvSpPr>
          <p:cNvPr id="12" name="Text 10"/>
          <p:cNvSpPr/>
          <p:nvPr/>
        </p:nvSpPr>
        <p:spPr>
          <a:xfrm>
            <a:off x="4389120" y="253288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389120" y="301752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Live Pet Inventory</a:t>
            </a:r>
            <a:endParaRPr lang="en-US" sz="1600" dirty="0"/>
          </a:p>
        </p:txBody>
      </p:sp>
      <p:sp>
        <p:nvSpPr>
          <p:cNvPr id="14" name="Text 12"/>
          <p:cNvSpPr/>
          <p:nvPr/>
        </p:nvSpPr>
        <p:spPr>
          <a:xfrm>
            <a:off x="4389120" y="333756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Centralized, real-time records covering identity, health, and shelter assignment.</a:t>
            </a:r>
            <a:endParaRPr lang="en-US" sz="1200" dirty="0"/>
          </a:p>
        </p:txBody>
      </p:sp>
      <p:sp>
        <p:nvSpPr>
          <p:cNvPr id="15" name="Shape 13"/>
          <p:cNvSpPr/>
          <p:nvPr/>
        </p:nvSpPr>
        <p:spPr>
          <a:xfrm>
            <a:off x="7827264" y="233172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16" name="Shape 14"/>
          <p:cNvSpPr/>
          <p:nvPr/>
        </p:nvSpPr>
        <p:spPr>
          <a:xfrm>
            <a:off x="8028432" y="2532888"/>
            <a:ext cx="384048" cy="384048"/>
          </a:xfrm>
          <a:prstGeom prst="roundRect">
            <a:avLst>
              <a:gd name="adj" fmla="val 19048"/>
            </a:avLst>
          </a:prstGeom>
          <a:solidFill>
            <a:srgbClr val="69A297"/>
          </a:solidFill>
          <a:ln/>
        </p:spPr>
      </p:sp>
      <p:sp>
        <p:nvSpPr>
          <p:cNvPr id="17" name="Text 15"/>
          <p:cNvSpPr/>
          <p:nvPr/>
        </p:nvSpPr>
        <p:spPr>
          <a:xfrm>
            <a:off x="8028432" y="253288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028432" y="301752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Searchable Catalogue</a:t>
            </a:r>
            <a:endParaRPr lang="en-US" sz="1600" dirty="0"/>
          </a:p>
        </p:txBody>
      </p:sp>
      <p:sp>
        <p:nvSpPr>
          <p:cNvPr id="19" name="Text 17"/>
          <p:cNvSpPr/>
          <p:nvPr/>
        </p:nvSpPr>
        <p:spPr>
          <a:xfrm>
            <a:off x="8028432" y="333756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Filter available pets by species, age, breed, and shelter location.</a:t>
            </a:r>
            <a:endParaRPr lang="en-US" sz="1200" dirty="0"/>
          </a:p>
        </p:txBody>
      </p:sp>
      <p:sp>
        <p:nvSpPr>
          <p:cNvPr id="20" name="Shape 18"/>
          <p:cNvSpPr/>
          <p:nvPr/>
        </p:nvSpPr>
        <p:spPr>
          <a:xfrm>
            <a:off x="548640" y="406908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21" name="Shape 19"/>
          <p:cNvSpPr/>
          <p:nvPr/>
        </p:nvSpPr>
        <p:spPr>
          <a:xfrm>
            <a:off x="749808" y="4270248"/>
            <a:ext cx="384048" cy="384048"/>
          </a:xfrm>
          <a:prstGeom prst="roundRect">
            <a:avLst>
              <a:gd name="adj" fmla="val 19048"/>
            </a:avLst>
          </a:prstGeom>
          <a:solidFill>
            <a:srgbClr val="69A297"/>
          </a:solidFill>
          <a:ln/>
        </p:spPr>
      </p:sp>
      <p:sp>
        <p:nvSpPr>
          <p:cNvPr id="22" name="Text 20"/>
          <p:cNvSpPr/>
          <p:nvPr/>
        </p:nvSpPr>
        <p:spPr>
          <a:xfrm>
            <a:off x="749808" y="427024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749808" y="475488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Medical Tracking</a:t>
            </a:r>
            <a:endParaRPr lang="en-US" sz="1600" dirty="0"/>
          </a:p>
        </p:txBody>
      </p:sp>
      <p:sp>
        <p:nvSpPr>
          <p:cNvPr id="24" name="Text 22"/>
          <p:cNvSpPr/>
          <p:nvPr/>
        </p:nvSpPr>
        <p:spPr>
          <a:xfrm>
            <a:off x="749808" y="507492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End-to-end vaccination history with due-date alerts for every pet.</a:t>
            </a:r>
            <a:endParaRPr lang="en-US" sz="1200" dirty="0"/>
          </a:p>
        </p:txBody>
      </p:sp>
      <p:sp>
        <p:nvSpPr>
          <p:cNvPr id="25" name="Shape 23"/>
          <p:cNvSpPr/>
          <p:nvPr/>
        </p:nvSpPr>
        <p:spPr>
          <a:xfrm>
            <a:off x="4187952" y="406908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26" name="Shape 24"/>
          <p:cNvSpPr/>
          <p:nvPr/>
        </p:nvSpPr>
        <p:spPr>
          <a:xfrm>
            <a:off x="4389120" y="4270248"/>
            <a:ext cx="384048" cy="384048"/>
          </a:xfrm>
          <a:prstGeom prst="roundRect">
            <a:avLst>
              <a:gd name="adj" fmla="val 19048"/>
            </a:avLst>
          </a:prstGeom>
          <a:solidFill>
            <a:srgbClr val="69A297"/>
          </a:solidFill>
          <a:ln/>
        </p:spPr>
      </p:sp>
      <p:sp>
        <p:nvSpPr>
          <p:cNvPr id="27" name="Text 25"/>
          <p:cNvSpPr/>
          <p:nvPr/>
        </p:nvSpPr>
        <p:spPr>
          <a:xfrm>
            <a:off x="4389120" y="427024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8" name="Text 26"/>
          <p:cNvSpPr/>
          <p:nvPr/>
        </p:nvSpPr>
        <p:spPr>
          <a:xfrm>
            <a:off x="4389120" y="475488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Controlled Transactions</a:t>
            </a:r>
            <a:endParaRPr lang="en-US" sz="1600" dirty="0"/>
          </a:p>
        </p:txBody>
      </p:sp>
      <p:sp>
        <p:nvSpPr>
          <p:cNvPr id="29" name="Text 27"/>
          <p:cNvSpPr/>
          <p:nvPr/>
        </p:nvSpPr>
        <p:spPr>
          <a:xfrm>
            <a:off x="4389120" y="507492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Adoption workflow with availability checks and duplicate prevention.</a:t>
            </a:r>
            <a:endParaRPr lang="en-US" sz="1200" dirty="0"/>
          </a:p>
        </p:txBody>
      </p:sp>
      <p:sp>
        <p:nvSpPr>
          <p:cNvPr id="30" name="Shape 28"/>
          <p:cNvSpPr/>
          <p:nvPr/>
        </p:nvSpPr>
        <p:spPr>
          <a:xfrm>
            <a:off x="7827264" y="4069080"/>
            <a:ext cx="3502152" cy="1600200"/>
          </a:xfrm>
          <a:prstGeom prst="roundRect">
            <a:avLst>
              <a:gd name="adj" fmla="val 4571"/>
            </a:avLst>
          </a:prstGeom>
          <a:solidFill>
            <a:srgbClr val="FFFFFF"/>
          </a:solidFill>
          <a:ln w="12700">
            <a:solidFill>
              <a:srgbClr val="E2ECE7"/>
            </a:solidFill>
            <a:prstDash val="solid"/>
          </a:ln>
          <a:effectLst>
            <a:outerShdw blurRad="76200" dist="25400" dir="5400000" algn="bl" rotWithShape="0">
              <a:srgbClr val="3E5A50">
                <a:alpha val="12000"/>
              </a:srgbClr>
            </a:outerShdw>
          </a:effectLst>
        </p:spPr>
      </p:sp>
      <p:sp>
        <p:nvSpPr>
          <p:cNvPr id="31" name="Shape 29"/>
          <p:cNvSpPr/>
          <p:nvPr/>
        </p:nvSpPr>
        <p:spPr>
          <a:xfrm>
            <a:off x="8028432" y="4270248"/>
            <a:ext cx="384048" cy="384048"/>
          </a:xfrm>
          <a:prstGeom prst="roundRect">
            <a:avLst>
              <a:gd name="adj" fmla="val 19048"/>
            </a:avLst>
          </a:prstGeom>
          <a:solidFill>
            <a:srgbClr val="69A297"/>
          </a:solidFill>
          <a:ln/>
        </p:spPr>
      </p:sp>
      <p:sp>
        <p:nvSpPr>
          <p:cNvPr id="32" name="Text 30"/>
          <p:cNvSpPr/>
          <p:nvPr/>
        </p:nvSpPr>
        <p:spPr>
          <a:xfrm>
            <a:off x="8028432" y="4270248"/>
            <a:ext cx="384048" cy="384048"/>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3" name="Text 31"/>
          <p:cNvSpPr/>
          <p:nvPr/>
        </p:nvSpPr>
        <p:spPr>
          <a:xfrm>
            <a:off x="8028432" y="4754880"/>
            <a:ext cx="3099816" cy="32004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Admin Analytics</a:t>
            </a:r>
            <a:endParaRPr lang="en-US" sz="1600" dirty="0"/>
          </a:p>
        </p:txBody>
      </p:sp>
      <p:sp>
        <p:nvSpPr>
          <p:cNvPr id="34" name="Text 32"/>
          <p:cNvSpPr/>
          <p:nvPr/>
        </p:nvSpPr>
        <p:spPr>
          <a:xfrm>
            <a:off x="8028432" y="5074920"/>
            <a:ext cx="3099816" cy="548640"/>
          </a:xfrm>
          <a:prstGeom prst="rect">
            <a:avLst/>
          </a:prstGeom>
          <a:noFill/>
          <a:ln/>
        </p:spPr>
        <p:txBody>
          <a:bodyPr wrap="square" rtlCol="0" anchor="ctr"/>
          <a:lstStyle/>
          <a:p>
            <a:pPr marL="0" indent="0">
              <a:lnSpc>
                <a:spcPct val="115000"/>
              </a:lnSpc>
              <a:buNone/>
            </a:pPr>
            <a:r>
              <a:rPr lang="en-US" sz="1200" dirty="0">
                <a:solidFill>
                  <a:srgbClr val="5C6B64"/>
                </a:solidFill>
                <a:latin typeface="Calibri" pitchFamily="34" charset="0"/>
                <a:ea typeface="Calibri" pitchFamily="34" charset="-122"/>
                <a:cs typeface="Calibri" pitchFamily="34" charset="-120"/>
              </a:rPr>
              <a:t>Tabular reports plus Matplotlib visual dashboards for shelter operations.</a:t>
            </a:r>
            <a:endParaRPr lang="en-US" sz="1200" dirty="0"/>
          </a:p>
        </p:txBody>
      </p:sp>
      <p:sp>
        <p:nvSpPr>
          <p:cNvPr id="35" name="Text 33"/>
          <p:cNvSpPr/>
          <p:nvPr/>
        </p:nvSpPr>
        <p:spPr>
          <a:xfrm>
            <a:off x="457200" y="6528816"/>
            <a:ext cx="7315200" cy="274320"/>
          </a:xfrm>
          <a:prstGeom prst="rect">
            <a:avLst/>
          </a:prstGeom>
          <a:noFill/>
          <a:ln/>
        </p:spPr>
        <p:txBody>
          <a:bodyPr wrap="square" rtlCol="0" anchor="ctr"/>
          <a:lstStyle/>
          <a:p>
            <a:pPr marL="0" indent="0" algn="l">
              <a:buNone/>
            </a:pPr>
            <a:r>
              <a:rPr lang="en-US" sz="1000" dirty="0">
                <a:solidFill>
                  <a:srgbClr val="5C6B64"/>
                </a:solidFill>
                <a:latin typeface="Calibri" pitchFamily="34" charset="0"/>
                <a:ea typeface="Calibri" pitchFamily="34" charset="-122"/>
                <a:cs typeface="Calibri" pitchFamily="34" charset="-120"/>
              </a:rPr>
              <a:t>Pet Adoption &amp; Rescue Management System</a:t>
            </a:r>
            <a:endParaRPr lang="en-US" sz="1000" dirty="0"/>
          </a:p>
        </p:txBody>
      </p:sp>
      <p:sp>
        <p:nvSpPr>
          <p:cNvPr id="36" name="Text 34"/>
          <p:cNvSpPr/>
          <p:nvPr/>
        </p:nvSpPr>
        <p:spPr>
          <a:xfrm>
            <a:off x="11430000" y="6528816"/>
            <a:ext cx="365760" cy="274320"/>
          </a:xfrm>
          <a:prstGeom prst="rect">
            <a:avLst/>
          </a:prstGeom>
          <a:noFill/>
          <a:ln/>
        </p:spPr>
        <p:txBody>
          <a:bodyPr wrap="square" rtlCol="0" anchor="ctr"/>
          <a:lstStyle/>
          <a:p>
            <a:pPr marL="0" indent="0" algn="r">
              <a:buNone/>
            </a:pPr>
            <a:r>
              <a:rPr lang="en-US" sz="1000" dirty="0">
                <a:solidFill>
                  <a:srgbClr val="5C6B6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TEAM &amp; OWNERSHIP</a:t>
            </a:r>
            <a:endParaRPr lang="en-US" sz="1200" dirty="0"/>
          </a:p>
        </p:txBody>
      </p:sp>
      <p:sp>
        <p:nvSpPr>
          <p:cNvPr id="3" name="Text 1"/>
          <p:cNvSpPr/>
          <p:nvPr/>
        </p:nvSpPr>
        <p:spPr>
          <a:xfrm>
            <a:off x="548640" y="731520"/>
            <a:ext cx="9144000" cy="640080"/>
          </a:xfrm>
          <a:prstGeom prst="rect">
            <a:avLst/>
          </a:prstGeom>
          <a:noFill/>
          <a:ln/>
        </p:spPr>
        <p:txBody>
          <a:bodyPr wrap="square" rtlCol="0" anchor="ctr"/>
          <a:lstStyle/>
          <a:p>
            <a:pPr marL="0" indent="0">
              <a:buNone/>
            </a:pPr>
            <a:r>
              <a:rPr lang="en-US" sz="3200" b="1" dirty="0">
                <a:solidFill>
                  <a:srgbClr val="1F2C27"/>
                </a:solidFill>
                <a:latin typeface="Cambria" pitchFamily="34" charset="0"/>
                <a:ea typeface="Cambria" pitchFamily="34" charset="-122"/>
                <a:cs typeface="Cambria" pitchFamily="34" charset="-120"/>
              </a:rPr>
              <a:t>Six modules, six owners</a:t>
            </a:r>
            <a:endParaRPr lang="en-US" sz="3200" dirty="0"/>
          </a:p>
        </p:txBody>
      </p:sp>
      <p:sp>
        <p:nvSpPr>
          <p:cNvPr id="4" name="Text 2"/>
          <p:cNvSpPr/>
          <p:nvPr/>
        </p:nvSpPr>
        <p:spPr>
          <a:xfrm>
            <a:off x="548640" y="1371600"/>
            <a:ext cx="10881360" cy="548640"/>
          </a:xfrm>
          <a:prstGeom prst="rect">
            <a:avLst/>
          </a:prstGeom>
          <a:noFill/>
          <a:ln/>
        </p:spPr>
        <p:txBody>
          <a:bodyPr wrap="square" rtlCol="0" anchor="ctr"/>
          <a:lstStyle/>
          <a:p>
            <a:pPr marL="0" indent="0">
              <a:lnSpc>
                <a:spcPct val="120000"/>
              </a:lnSpc>
              <a:buNone/>
            </a:pPr>
            <a:r>
              <a:rPr lang="en-US" sz="1300" dirty="0">
                <a:solidFill>
                  <a:srgbClr val="5C6B64"/>
                </a:solidFill>
                <a:latin typeface="Calibri" pitchFamily="34" charset="0"/>
                <a:ea typeface="Calibri" pitchFamily="34" charset="-122"/>
                <a:cs typeface="Calibri" pitchFamily="34" charset="-120"/>
              </a:rPr>
              <a:t>Each module has a single owner responsible for its design, build, and testing. The Team Leader additionally governs the access-control logic that ties every module together.</a:t>
            </a:r>
            <a:endParaRPr lang="en-US" sz="1300" dirty="0"/>
          </a:p>
        </p:txBody>
      </p:sp>
      <p:sp>
        <p:nvSpPr>
          <p:cNvPr id="5" name="Shape 3"/>
          <p:cNvSpPr/>
          <p:nvPr/>
        </p:nvSpPr>
        <p:spPr>
          <a:xfrm>
            <a:off x="548640" y="2148840"/>
            <a:ext cx="11064240" cy="566928"/>
          </a:xfrm>
          <a:prstGeom prst="roundRect">
            <a:avLst>
              <a:gd name="adj" fmla="val 9677"/>
            </a:avLst>
          </a:prstGeom>
          <a:solidFill>
            <a:srgbClr val="FFFFFF"/>
          </a:solidFill>
          <a:ln/>
        </p:spPr>
      </p:sp>
      <p:sp>
        <p:nvSpPr>
          <p:cNvPr id="6" name="Shape 4"/>
          <p:cNvSpPr/>
          <p:nvPr/>
        </p:nvSpPr>
        <p:spPr>
          <a:xfrm>
            <a:off x="713232" y="2231136"/>
            <a:ext cx="502920" cy="502920"/>
          </a:xfrm>
          <a:prstGeom prst="ellipse">
            <a:avLst/>
          </a:prstGeom>
          <a:solidFill>
            <a:srgbClr val="50808E"/>
          </a:solidFill>
          <a:ln/>
        </p:spPr>
      </p:sp>
      <p:sp>
        <p:nvSpPr>
          <p:cNvPr id="7" name="Text 5"/>
          <p:cNvSpPr/>
          <p:nvPr/>
        </p:nvSpPr>
        <p:spPr>
          <a:xfrm>
            <a:off x="713232" y="2231136"/>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2148840"/>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Authentication &amp; Role Management</a:t>
            </a:r>
            <a:endParaRPr lang="en-US" sz="1400" dirty="0"/>
          </a:p>
        </p:txBody>
      </p:sp>
      <p:sp>
        <p:nvSpPr>
          <p:cNvPr id="9" name="Text 7"/>
          <p:cNvSpPr/>
          <p:nvPr/>
        </p:nvSpPr>
        <p:spPr>
          <a:xfrm>
            <a:off x="7589520" y="2148840"/>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Sarthak</a:t>
            </a:r>
            <a:endParaRPr lang="en-US" sz="1300" dirty="0"/>
          </a:p>
        </p:txBody>
      </p:sp>
      <p:sp>
        <p:nvSpPr>
          <p:cNvPr id="10" name="Text 8"/>
          <p:cNvSpPr/>
          <p:nvPr/>
        </p:nvSpPr>
        <p:spPr>
          <a:xfrm>
            <a:off x="9692640" y="2148840"/>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Leader</a:t>
            </a:r>
            <a:endParaRPr lang="en-US" sz="1100" dirty="0"/>
          </a:p>
        </p:txBody>
      </p:sp>
      <p:sp>
        <p:nvSpPr>
          <p:cNvPr id="11" name="Shape 9"/>
          <p:cNvSpPr/>
          <p:nvPr/>
        </p:nvSpPr>
        <p:spPr>
          <a:xfrm>
            <a:off x="548640" y="2807208"/>
            <a:ext cx="11064240" cy="566928"/>
          </a:xfrm>
          <a:prstGeom prst="roundRect">
            <a:avLst>
              <a:gd name="adj" fmla="val 9677"/>
            </a:avLst>
          </a:prstGeom>
          <a:solidFill>
            <a:srgbClr val="EFF5F2"/>
          </a:solidFill>
          <a:ln/>
        </p:spPr>
      </p:sp>
      <p:sp>
        <p:nvSpPr>
          <p:cNvPr id="12" name="Shape 10"/>
          <p:cNvSpPr/>
          <p:nvPr/>
        </p:nvSpPr>
        <p:spPr>
          <a:xfrm>
            <a:off x="713232" y="2889504"/>
            <a:ext cx="502920" cy="502920"/>
          </a:xfrm>
          <a:prstGeom prst="ellipse">
            <a:avLst/>
          </a:prstGeom>
          <a:solidFill>
            <a:srgbClr val="69A297"/>
          </a:solidFill>
          <a:ln/>
        </p:spPr>
      </p:sp>
      <p:sp>
        <p:nvSpPr>
          <p:cNvPr id="13" name="Text 11"/>
          <p:cNvSpPr/>
          <p:nvPr/>
        </p:nvSpPr>
        <p:spPr>
          <a:xfrm>
            <a:off x="713232" y="2889504"/>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417320" y="2807208"/>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Pet Inventory &amp; Listing Management</a:t>
            </a:r>
            <a:endParaRPr lang="en-US" sz="1400" dirty="0"/>
          </a:p>
        </p:txBody>
      </p:sp>
      <p:sp>
        <p:nvSpPr>
          <p:cNvPr id="15" name="Text 13"/>
          <p:cNvSpPr/>
          <p:nvPr/>
        </p:nvSpPr>
        <p:spPr>
          <a:xfrm>
            <a:off x="7589520" y="2807208"/>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Shravani</a:t>
            </a:r>
            <a:endParaRPr lang="en-US" sz="1300" dirty="0"/>
          </a:p>
        </p:txBody>
      </p:sp>
      <p:sp>
        <p:nvSpPr>
          <p:cNvPr id="16" name="Text 14"/>
          <p:cNvSpPr/>
          <p:nvPr/>
        </p:nvSpPr>
        <p:spPr>
          <a:xfrm>
            <a:off x="9692640" y="2807208"/>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Member</a:t>
            </a:r>
            <a:endParaRPr lang="en-US" sz="1100" dirty="0"/>
          </a:p>
        </p:txBody>
      </p:sp>
      <p:sp>
        <p:nvSpPr>
          <p:cNvPr id="17" name="Shape 15"/>
          <p:cNvSpPr/>
          <p:nvPr/>
        </p:nvSpPr>
        <p:spPr>
          <a:xfrm>
            <a:off x="548640" y="3465576"/>
            <a:ext cx="11064240" cy="566928"/>
          </a:xfrm>
          <a:prstGeom prst="roundRect">
            <a:avLst>
              <a:gd name="adj" fmla="val 9677"/>
            </a:avLst>
          </a:prstGeom>
          <a:solidFill>
            <a:srgbClr val="FFFFFF"/>
          </a:solidFill>
          <a:ln/>
        </p:spPr>
      </p:sp>
      <p:sp>
        <p:nvSpPr>
          <p:cNvPr id="18" name="Shape 16"/>
          <p:cNvSpPr/>
          <p:nvPr/>
        </p:nvSpPr>
        <p:spPr>
          <a:xfrm>
            <a:off x="713232" y="3547872"/>
            <a:ext cx="502920" cy="502920"/>
          </a:xfrm>
          <a:prstGeom prst="ellipse">
            <a:avLst/>
          </a:prstGeom>
          <a:solidFill>
            <a:srgbClr val="69A297"/>
          </a:solidFill>
          <a:ln/>
        </p:spPr>
      </p:sp>
      <p:sp>
        <p:nvSpPr>
          <p:cNvPr id="19" name="Text 17"/>
          <p:cNvSpPr/>
          <p:nvPr/>
        </p:nvSpPr>
        <p:spPr>
          <a:xfrm>
            <a:off x="713232" y="354787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3465576"/>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Pet Search &amp; Discovery</a:t>
            </a:r>
            <a:endParaRPr lang="en-US" sz="1400" dirty="0"/>
          </a:p>
        </p:txBody>
      </p:sp>
      <p:sp>
        <p:nvSpPr>
          <p:cNvPr id="21" name="Text 19"/>
          <p:cNvSpPr/>
          <p:nvPr/>
        </p:nvSpPr>
        <p:spPr>
          <a:xfrm>
            <a:off x="7589520" y="3465576"/>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Kadambari</a:t>
            </a:r>
            <a:endParaRPr lang="en-US" sz="1300" dirty="0"/>
          </a:p>
        </p:txBody>
      </p:sp>
      <p:sp>
        <p:nvSpPr>
          <p:cNvPr id="22" name="Text 20"/>
          <p:cNvSpPr/>
          <p:nvPr/>
        </p:nvSpPr>
        <p:spPr>
          <a:xfrm>
            <a:off x="9692640" y="3465576"/>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Member</a:t>
            </a:r>
            <a:endParaRPr lang="en-US" sz="1100" dirty="0"/>
          </a:p>
        </p:txBody>
      </p:sp>
      <p:sp>
        <p:nvSpPr>
          <p:cNvPr id="23" name="Shape 21"/>
          <p:cNvSpPr/>
          <p:nvPr/>
        </p:nvSpPr>
        <p:spPr>
          <a:xfrm>
            <a:off x="548640" y="4123944"/>
            <a:ext cx="11064240" cy="566928"/>
          </a:xfrm>
          <a:prstGeom prst="roundRect">
            <a:avLst>
              <a:gd name="adj" fmla="val 9677"/>
            </a:avLst>
          </a:prstGeom>
          <a:solidFill>
            <a:srgbClr val="EFF5F2"/>
          </a:solidFill>
          <a:ln/>
        </p:spPr>
      </p:sp>
      <p:sp>
        <p:nvSpPr>
          <p:cNvPr id="24" name="Shape 22"/>
          <p:cNvSpPr/>
          <p:nvPr/>
        </p:nvSpPr>
        <p:spPr>
          <a:xfrm>
            <a:off x="713232" y="4206240"/>
            <a:ext cx="502920" cy="502920"/>
          </a:xfrm>
          <a:prstGeom prst="ellipse">
            <a:avLst/>
          </a:prstGeom>
          <a:solidFill>
            <a:srgbClr val="69A297"/>
          </a:solidFill>
          <a:ln/>
        </p:spPr>
      </p:sp>
      <p:sp>
        <p:nvSpPr>
          <p:cNvPr id="25" name="Text 23"/>
          <p:cNvSpPr/>
          <p:nvPr/>
        </p:nvSpPr>
        <p:spPr>
          <a:xfrm>
            <a:off x="713232" y="420624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4"/>
          <p:cNvSpPr/>
          <p:nvPr/>
        </p:nvSpPr>
        <p:spPr>
          <a:xfrm>
            <a:off x="1417320" y="4123944"/>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Vaccination &amp; Medical Tracking</a:t>
            </a:r>
            <a:endParaRPr lang="en-US" sz="1400" dirty="0"/>
          </a:p>
        </p:txBody>
      </p:sp>
      <p:sp>
        <p:nvSpPr>
          <p:cNvPr id="27" name="Text 25"/>
          <p:cNvSpPr/>
          <p:nvPr/>
        </p:nvSpPr>
        <p:spPr>
          <a:xfrm>
            <a:off x="7589520" y="4123944"/>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Avishkar</a:t>
            </a:r>
            <a:endParaRPr lang="en-US" sz="1300" dirty="0"/>
          </a:p>
        </p:txBody>
      </p:sp>
      <p:sp>
        <p:nvSpPr>
          <p:cNvPr id="28" name="Text 26"/>
          <p:cNvSpPr/>
          <p:nvPr/>
        </p:nvSpPr>
        <p:spPr>
          <a:xfrm>
            <a:off x="9692640" y="4123944"/>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Member</a:t>
            </a:r>
            <a:endParaRPr lang="en-US" sz="1100" dirty="0"/>
          </a:p>
        </p:txBody>
      </p:sp>
      <p:sp>
        <p:nvSpPr>
          <p:cNvPr id="29" name="Shape 27"/>
          <p:cNvSpPr/>
          <p:nvPr/>
        </p:nvSpPr>
        <p:spPr>
          <a:xfrm>
            <a:off x="548640" y="4782312"/>
            <a:ext cx="11064240" cy="566928"/>
          </a:xfrm>
          <a:prstGeom prst="roundRect">
            <a:avLst>
              <a:gd name="adj" fmla="val 9677"/>
            </a:avLst>
          </a:prstGeom>
          <a:solidFill>
            <a:srgbClr val="FFFFFF"/>
          </a:solidFill>
          <a:ln/>
        </p:spPr>
      </p:sp>
      <p:sp>
        <p:nvSpPr>
          <p:cNvPr id="30" name="Shape 28"/>
          <p:cNvSpPr/>
          <p:nvPr/>
        </p:nvSpPr>
        <p:spPr>
          <a:xfrm>
            <a:off x="713232" y="4864608"/>
            <a:ext cx="502920" cy="502920"/>
          </a:xfrm>
          <a:prstGeom prst="ellipse">
            <a:avLst/>
          </a:prstGeom>
          <a:solidFill>
            <a:srgbClr val="69A297"/>
          </a:solidFill>
          <a:ln/>
        </p:spPr>
      </p:sp>
      <p:sp>
        <p:nvSpPr>
          <p:cNvPr id="31" name="Text 29"/>
          <p:cNvSpPr/>
          <p:nvPr/>
        </p:nvSpPr>
        <p:spPr>
          <a:xfrm>
            <a:off x="713232" y="4864608"/>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2" name="Text 30"/>
          <p:cNvSpPr/>
          <p:nvPr/>
        </p:nvSpPr>
        <p:spPr>
          <a:xfrm>
            <a:off x="1417320" y="4782312"/>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Adoption Transaction Management</a:t>
            </a:r>
            <a:endParaRPr lang="en-US" sz="1400" dirty="0"/>
          </a:p>
        </p:txBody>
      </p:sp>
      <p:sp>
        <p:nvSpPr>
          <p:cNvPr id="33" name="Text 31"/>
          <p:cNvSpPr/>
          <p:nvPr/>
        </p:nvSpPr>
        <p:spPr>
          <a:xfrm>
            <a:off x="7589520" y="4782312"/>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Nishtha</a:t>
            </a:r>
            <a:endParaRPr lang="en-US" sz="1300" dirty="0"/>
          </a:p>
        </p:txBody>
      </p:sp>
      <p:sp>
        <p:nvSpPr>
          <p:cNvPr id="34" name="Text 32"/>
          <p:cNvSpPr/>
          <p:nvPr/>
        </p:nvSpPr>
        <p:spPr>
          <a:xfrm>
            <a:off x="9692640" y="4782312"/>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Member</a:t>
            </a:r>
            <a:endParaRPr lang="en-US" sz="1100" dirty="0"/>
          </a:p>
        </p:txBody>
      </p:sp>
      <p:sp>
        <p:nvSpPr>
          <p:cNvPr id="35" name="Shape 33"/>
          <p:cNvSpPr/>
          <p:nvPr/>
        </p:nvSpPr>
        <p:spPr>
          <a:xfrm>
            <a:off x="548640" y="5440680"/>
            <a:ext cx="11064240" cy="566928"/>
          </a:xfrm>
          <a:prstGeom prst="roundRect">
            <a:avLst>
              <a:gd name="adj" fmla="val 9677"/>
            </a:avLst>
          </a:prstGeom>
          <a:solidFill>
            <a:srgbClr val="EFF5F2"/>
          </a:solidFill>
          <a:ln/>
        </p:spPr>
      </p:sp>
      <p:sp>
        <p:nvSpPr>
          <p:cNvPr id="36" name="Shape 34"/>
          <p:cNvSpPr/>
          <p:nvPr/>
        </p:nvSpPr>
        <p:spPr>
          <a:xfrm>
            <a:off x="713232" y="5522976"/>
            <a:ext cx="502920" cy="502920"/>
          </a:xfrm>
          <a:prstGeom prst="ellipse">
            <a:avLst/>
          </a:prstGeom>
          <a:solidFill>
            <a:srgbClr val="69A297"/>
          </a:solidFill>
          <a:ln/>
        </p:spPr>
      </p:sp>
      <p:sp>
        <p:nvSpPr>
          <p:cNvPr id="37" name="Text 35"/>
          <p:cNvSpPr/>
          <p:nvPr/>
        </p:nvSpPr>
        <p:spPr>
          <a:xfrm>
            <a:off x="713232" y="5522976"/>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8" name="Text 36"/>
          <p:cNvSpPr/>
          <p:nvPr/>
        </p:nvSpPr>
        <p:spPr>
          <a:xfrm>
            <a:off x="1417320" y="5440680"/>
            <a:ext cx="6126480" cy="566928"/>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Administrative Dashboard &amp; Analytics</a:t>
            </a:r>
            <a:endParaRPr lang="en-US" sz="1400" dirty="0"/>
          </a:p>
        </p:txBody>
      </p:sp>
      <p:sp>
        <p:nvSpPr>
          <p:cNvPr id="39" name="Text 37"/>
          <p:cNvSpPr/>
          <p:nvPr/>
        </p:nvSpPr>
        <p:spPr>
          <a:xfrm>
            <a:off x="7589520" y="5440680"/>
            <a:ext cx="2103120" cy="566928"/>
          </a:xfrm>
          <a:prstGeom prst="rect">
            <a:avLst/>
          </a:prstGeom>
          <a:noFill/>
          <a:ln/>
        </p:spPr>
        <p:txBody>
          <a:bodyPr wrap="square" rtlCol="0" anchor="ctr"/>
          <a:lstStyle/>
          <a:p>
            <a:pPr marL="0" indent="0">
              <a:buNone/>
            </a:pPr>
            <a:r>
              <a:rPr lang="en-US" sz="1300" b="1" dirty="0">
                <a:solidFill>
                  <a:srgbClr val="50808E"/>
                </a:solidFill>
                <a:latin typeface="Calibri" pitchFamily="34" charset="0"/>
                <a:ea typeface="Calibri" pitchFamily="34" charset="-122"/>
                <a:cs typeface="Calibri" pitchFamily="34" charset="-120"/>
              </a:rPr>
              <a:t>Shaun</a:t>
            </a:r>
            <a:endParaRPr lang="en-US" sz="1300" dirty="0"/>
          </a:p>
        </p:txBody>
      </p:sp>
      <p:sp>
        <p:nvSpPr>
          <p:cNvPr id="40" name="Text 38"/>
          <p:cNvSpPr/>
          <p:nvPr/>
        </p:nvSpPr>
        <p:spPr>
          <a:xfrm>
            <a:off x="9692640" y="5440680"/>
            <a:ext cx="1828800" cy="566928"/>
          </a:xfrm>
          <a:prstGeom prst="rect">
            <a:avLst/>
          </a:prstGeom>
          <a:noFill/>
          <a:ln/>
        </p:spPr>
        <p:txBody>
          <a:bodyPr wrap="square" rtlCol="0" anchor="ctr"/>
          <a:lstStyle/>
          <a:p>
            <a:pPr marL="0" indent="0">
              <a:buNone/>
            </a:pPr>
            <a:r>
              <a:rPr lang="en-US" sz="1100" i="1" dirty="0">
                <a:solidFill>
                  <a:srgbClr val="5C6B64"/>
                </a:solidFill>
                <a:latin typeface="Calibri" pitchFamily="34" charset="0"/>
                <a:ea typeface="Calibri" pitchFamily="34" charset="-122"/>
                <a:cs typeface="Calibri" pitchFamily="34" charset="-120"/>
              </a:rPr>
              <a:t>Team Member</a:t>
            </a:r>
            <a:endParaRPr lang="en-US" sz="1100" dirty="0"/>
          </a:p>
        </p:txBody>
      </p:sp>
      <p:sp>
        <p:nvSpPr>
          <p:cNvPr id="41" name="Text 3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42" name="Text 40"/>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731520"/>
            <a:ext cx="10058400" cy="640080"/>
          </a:xfrm>
          <a:prstGeom prst="rect">
            <a:avLst/>
          </a:prstGeom>
          <a:noFill/>
          <a:ln/>
        </p:spPr>
        <p:txBody>
          <a:bodyPr wrap="square" rtlCol="0" anchor="ctr"/>
          <a:lstStyle/>
          <a:p>
            <a:pPr marL="0" indent="0">
              <a:buNone/>
            </a:pPr>
            <a:r>
              <a:rPr lang="en-US" sz="3200" b="1" dirty="0">
                <a:solidFill>
                  <a:srgbClr val="1F2C27"/>
                </a:solidFill>
                <a:latin typeface="Cambria" pitchFamily="34" charset="0"/>
                <a:ea typeface="Cambria" pitchFamily="34" charset="-122"/>
                <a:cs typeface="Cambria" pitchFamily="34" charset="-120"/>
              </a:rPr>
              <a:t>Tech stack &amp; project structure</a:t>
            </a:r>
            <a:endParaRPr lang="en-US" sz="3200" dirty="0"/>
          </a:p>
        </p:txBody>
      </p:sp>
      <p:sp>
        <p:nvSpPr>
          <p:cNvPr id="4" name="Shape 2"/>
          <p:cNvSpPr/>
          <p:nvPr/>
        </p:nvSpPr>
        <p:spPr>
          <a:xfrm>
            <a:off x="548640" y="1600200"/>
            <a:ext cx="3502152" cy="960120"/>
          </a:xfrm>
          <a:prstGeom prst="roundRect">
            <a:avLst>
              <a:gd name="adj" fmla="val 7619"/>
            </a:avLst>
          </a:prstGeom>
          <a:solidFill>
            <a:srgbClr val="FFFFFF"/>
          </a:solidFill>
          <a:ln w="12700">
            <a:solidFill>
              <a:srgbClr val="E2ECE7"/>
            </a:solidFill>
            <a:prstDash val="solid"/>
          </a:ln>
        </p:spPr>
      </p:sp>
      <p:sp>
        <p:nvSpPr>
          <p:cNvPr id="5" name="Shape 3"/>
          <p:cNvSpPr/>
          <p:nvPr/>
        </p:nvSpPr>
        <p:spPr>
          <a:xfrm>
            <a:off x="713232" y="1783080"/>
            <a:ext cx="128016" cy="594360"/>
          </a:xfrm>
          <a:prstGeom prst="roundRect">
            <a:avLst>
              <a:gd name="adj" fmla="val 50000"/>
            </a:avLst>
          </a:prstGeom>
          <a:solidFill>
            <a:srgbClr val="84B59F"/>
          </a:solidFill>
          <a:ln/>
        </p:spPr>
      </p:sp>
      <p:sp>
        <p:nvSpPr>
          <p:cNvPr id="6" name="Text 4"/>
          <p:cNvSpPr/>
          <p:nvPr/>
        </p:nvSpPr>
        <p:spPr>
          <a:xfrm>
            <a:off x="1005840" y="170992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Python 3.10+</a:t>
            </a:r>
            <a:endParaRPr lang="en-US" sz="1400" dirty="0"/>
          </a:p>
        </p:txBody>
      </p:sp>
      <p:sp>
        <p:nvSpPr>
          <p:cNvPr id="7" name="Text 5"/>
          <p:cNvSpPr/>
          <p:nvPr/>
        </p:nvSpPr>
        <p:spPr>
          <a:xfrm>
            <a:off x="1005840" y="207568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Core application language</a:t>
            </a:r>
            <a:endParaRPr lang="en-US" sz="1050" dirty="0"/>
          </a:p>
        </p:txBody>
      </p:sp>
      <p:sp>
        <p:nvSpPr>
          <p:cNvPr id="8" name="Shape 6"/>
          <p:cNvSpPr/>
          <p:nvPr/>
        </p:nvSpPr>
        <p:spPr>
          <a:xfrm>
            <a:off x="4187952" y="1600200"/>
            <a:ext cx="3502152" cy="960120"/>
          </a:xfrm>
          <a:prstGeom prst="roundRect">
            <a:avLst>
              <a:gd name="adj" fmla="val 7619"/>
            </a:avLst>
          </a:prstGeom>
          <a:solidFill>
            <a:srgbClr val="FFFFFF"/>
          </a:solidFill>
          <a:ln w="12700">
            <a:solidFill>
              <a:srgbClr val="E2ECE7"/>
            </a:solidFill>
            <a:prstDash val="solid"/>
          </a:ln>
        </p:spPr>
      </p:sp>
      <p:sp>
        <p:nvSpPr>
          <p:cNvPr id="9" name="Shape 7"/>
          <p:cNvSpPr/>
          <p:nvPr/>
        </p:nvSpPr>
        <p:spPr>
          <a:xfrm>
            <a:off x="4352544" y="1783080"/>
            <a:ext cx="128016" cy="594360"/>
          </a:xfrm>
          <a:prstGeom prst="roundRect">
            <a:avLst>
              <a:gd name="adj" fmla="val 50000"/>
            </a:avLst>
          </a:prstGeom>
          <a:solidFill>
            <a:srgbClr val="84B59F"/>
          </a:solidFill>
          <a:ln/>
        </p:spPr>
      </p:sp>
      <p:sp>
        <p:nvSpPr>
          <p:cNvPr id="10" name="Text 8"/>
          <p:cNvSpPr/>
          <p:nvPr/>
        </p:nvSpPr>
        <p:spPr>
          <a:xfrm>
            <a:off x="4645152" y="170992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SQLite3</a:t>
            </a:r>
            <a:endParaRPr lang="en-US" sz="1400" dirty="0"/>
          </a:p>
        </p:txBody>
      </p:sp>
      <p:sp>
        <p:nvSpPr>
          <p:cNvPr id="11" name="Text 9"/>
          <p:cNvSpPr/>
          <p:nvPr/>
        </p:nvSpPr>
        <p:spPr>
          <a:xfrm>
            <a:off x="4645152" y="207568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Embedded relational database</a:t>
            </a:r>
            <a:endParaRPr lang="en-US" sz="1050" dirty="0"/>
          </a:p>
        </p:txBody>
      </p:sp>
      <p:sp>
        <p:nvSpPr>
          <p:cNvPr id="12" name="Shape 10"/>
          <p:cNvSpPr/>
          <p:nvPr/>
        </p:nvSpPr>
        <p:spPr>
          <a:xfrm>
            <a:off x="7827264" y="1600200"/>
            <a:ext cx="3502152" cy="960120"/>
          </a:xfrm>
          <a:prstGeom prst="roundRect">
            <a:avLst>
              <a:gd name="adj" fmla="val 7619"/>
            </a:avLst>
          </a:prstGeom>
          <a:solidFill>
            <a:srgbClr val="FFFFFF"/>
          </a:solidFill>
          <a:ln w="12700">
            <a:solidFill>
              <a:srgbClr val="E2ECE7"/>
            </a:solidFill>
            <a:prstDash val="solid"/>
          </a:ln>
        </p:spPr>
      </p:sp>
      <p:sp>
        <p:nvSpPr>
          <p:cNvPr id="13" name="Shape 11"/>
          <p:cNvSpPr/>
          <p:nvPr/>
        </p:nvSpPr>
        <p:spPr>
          <a:xfrm>
            <a:off x="7991856" y="1783080"/>
            <a:ext cx="128016" cy="594360"/>
          </a:xfrm>
          <a:prstGeom prst="roundRect">
            <a:avLst>
              <a:gd name="adj" fmla="val 50000"/>
            </a:avLst>
          </a:prstGeom>
          <a:solidFill>
            <a:srgbClr val="84B59F"/>
          </a:solidFill>
          <a:ln/>
        </p:spPr>
      </p:sp>
      <p:sp>
        <p:nvSpPr>
          <p:cNvPr id="14" name="Text 12"/>
          <p:cNvSpPr/>
          <p:nvPr/>
        </p:nvSpPr>
        <p:spPr>
          <a:xfrm>
            <a:off x="8284464" y="170992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Console UI</a:t>
            </a:r>
            <a:endParaRPr lang="en-US" sz="1400" dirty="0"/>
          </a:p>
        </p:txBody>
      </p:sp>
      <p:sp>
        <p:nvSpPr>
          <p:cNvPr id="15" name="Text 13"/>
          <p:cNvSpPr/>
          <p:nvPr/>
        </p:nvSpPr>
        <p:spPr>
          <a:xfrm>
            <a:off x="8284464" y="207568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Menu-driven terminal interface</a:t>
            </a:r>
            <a:endParaRPr lang="en-US" sz="1050" dirty="0"/>
          </a:p>
        </p:txBody>
      </p:sp>
      <p:sp>
        <p:nvSpPr>
          <p:cNvPr id="16" name="Shape 14"/>
          <p:cNvSpPr/>
          <p:nvPr/>
        </p:nvSpPr>
        <p:spPr>
          <a:xfrm>
            <a:off x="548640" y="2697480"/>
            <a:ext cx="3502152" cy="960120"/>
          </a:xfrm>
          <a:prstGeom prst="roundRect">
            <a:avLst>
              <a:gd name="adj" fmla="val 7619"/>
            </a:avLst>
          </a:prstGeom>
          <a:solidFill>
            <a:srgbClr val="FFFFFF"/>
          </a:solidFill>
          <a:ln w="12700">
            <a:solidFill>
              <a:srgbClr val="E2ECE7"/>
            </a:solidFill>
            <a:prstDash val="solid"/>
          </a:ln>
        </p:spPr>
      </p:sp>
      <p:sp>
        <p:nvSpPr>
          <p:cNvPr id="17" name="Shape 15"/>
          <p:cNvSpPr/>
          <p:nvPr/>
        </p:nvSpPr>
        <p:spPr>
          <a:xfrm>
            <a:off x="713232" y="2880360"/>
            <a:ext cx="128016" cy="594360"/>
          </a:xfrm>
          <a:prstGeom prst="roundRect">
            <a:avLst>
              <a:gd name="adj" fmla="val 50000"/>
            </a:avLst>
          </a:prstGeom>
          <a:solidFill>
            <a:srgbClr val="84B59F"/>
          </a:solidFill>
          <a:ln/>
        </p:spPr>
      </p:sp>
      <p:sp>
        <p:nvSpPr>
          <p:cNvPr id="18" name="Text 16"/>
          <p:cNvSpPr/>
          <p:nvPr/>
        </p:nvSpPr>
        <p:spPr>
          <a:xfrm>
            <a:off x="1005840" y="280720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tabulate</a:t>
            </a:r>
            <a:endParaRPr lang="en-US" sz="1400" dirty="0"/>
          </a:p>
        </p:txBody>
      </p:sp>
      <p:sp>
        <p:nvSpPr>
          <p:cNvPr id="19" name="Text 17"/>
          <p:cNvSpPr/>
          <p:nvPr/>
        </p:nvSpPr>
        <p:spPr>
          <a:xfrm>
            <a:off x="1005840" y="317296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Formatted table output</a:t>
            </a:r>
            <a:endParaRPr lang="en-US" sz="1050" dirty="0"/>
          </a:p>
        </p:txBody>
      </p:sp>
      <p:sp>
        <p:nvSpPr>
          <p:cNvPr id="20" name="Shape 18"/>
          <p:cNvSpPr/>
          <p:nvPr/>
        </p:nvSpPr>
        <p:spPr>
          <a:xfrm>
            <a:off x="4187952" y="2697480"/>
            <a:ext cx="3502152" cy="960120"/>
          </a:xfrm>
          <a:prstGeom prst="roundRect">
            <a:avLst>
              <a:gd name="adj" fmla="val 7619"/>
            </a:avLst>
          </a:prstGeom>
          <a:solidFill>
            <a:srgbClr val="FFFFFF"/>
          </a:solidFill>
          <a:ln w="12700">
            <a:solidFill>
              <a:srgbClr val="E2ECE7"/>
            </a:solidFill>
            <a:prstDash val="solid"/>
          </a:ln>
        </p:spPr>
      </p:sp>
      <p:sp>
        <p:nvSpPr>
          <p:cNvPr id="21" name="Shape 19"/>
          <p:cNvSpPr/>
          <p:nvPr/>
        </p:nvSpPr>
        <p:spPr>
          <a:xfrm>
            <a:off x="4352544" y="2880360"/>
            <a:ext cx="128016" cy="594360"/>
          </a:xfrm>
          <a:prstGeom prst="roundRect">
            <a:avLst>
              <a:gd name="adj" fmla="val 50000"/>
            </a:avLst>
          </a:prstGeom>
          <a:solidFill>
            <a:srgbClr val="84B59F"/>
          </a:solidFill>
          <a:ln/>
        </p:spPr>
      </p:sp>
      <p:sp>
        <p:nvSpPr>
          <p:cNvPr id="22" name="Text 20"/>
          <p:cNvSpPr/>
          <p:nvPr/>
        </p:nvSpPr>
        <p:spPr>
          <a:xfrm>
            <a:off x="4645152" y="280720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matplotlib</a:t>
            </a:r>
            <a:endParaRPr lang="en-US" sz="1400" dirty="0"/>
          </a:p>
        </p:txBody>
      </p:sp>
      <p:sp>
        <p:nvSpPr>
          <p:cNvPr id="23" name="Text 21"/>
          <p:cNvSpPr/>
          <p:nvPr/>
        </p:nvSpPr>
        <p:spPr>
          <a:xfrm>
            <a:off x="4645152" y="317296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Trend, pie &amp; bar visualizations</a:t>
            </a:r>
            <a:endParaRPr lang="en-US" sz="1050" dirty="0"/>
          </a:p>
        </p:txBody>
      </p:sp>
      <p:sp>
        <p:nvSpPr>
          <p:cNvPr id="24" name="Shape 22"/>
          <p:cNvSpPr/>
          <p:nvPr/>
        </p:nvSpPr>
        <p:spPr>
          <a:xfrm>
            <a:off x="7827264" y="2697480"/>
            <a:ext cx="3502152" cy="960120"/>
          </a:xfrm>
          <a:prstGeom prst="roundRect">
            <a:avLst>
              <a:gd name="adj" fmla="val 7619"/>
            </a:avLst>
          </a:prstGeom>
          <a:solidFill>
            <a:srgbClr val="FFFFFF"/>
          </a:solidFill>
          <a:ln w="12700">
            <a:solidFill>
              <a:srgbClr val="E2ECE7"/>
            </a:solidFill>
            <a:prstDash val="solid"/>
          </a:ln>
        </p:spPr>
      </p:sp>
      <p:sp>
        <p:nvSpPr>
          <p:cNvPr id="25" name="Shape 23"/>
          <p:cNvSpPr/>
          <p:nvPr/>
        </p:nvSpPr>
        <p:spPr>
          <a:xfrm>
            <a:off x="7991856" y="2880360"/>
            <a:ext cx="128016" cy="594360"/>
          </a:xfrm>
          <a:prstGeom prst="roundRect">
            <a:avLst>
              <a:gd name="adj" fmla="val 50000"/>
            </a:avLst>
          </a:prstGeom>
          <a:solidFill>
            <a:srgbClr val="84B59F"/>
          </a:solidFill>
          <a:ln/>
        </p:spPr>
      </p:sp>
      <p:sp>
        <p:nvSpPr>
          <p:cNvPr id="26" name="Text 24"/>
          <p:cNvSpPr/>
          <p:nvPr/>
        </p:nvSpPr>
        <p:spPr>
          <a:xfrm>
            <a:off x="8284464" y="2807208"/>
            <a:ext cx="2862072" cy="36576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smtplib + hashlib</a:t>
            </a:r>
            <a:endParaRPr lang="en-US" sz="1400" dirty="0"/>
          </a:p>
        </p:txBody>
      </p:sp>
      <p:sp>
        <p:nvSpPr>
          <p:cNvPr id="27" name="Text 25"/>
          <p:cNvSpPr/>
          <p:nvPr/>
        </p:nvSpPr>
        <p:spPr>
          <a:xfrm>
            <a:off x="8284464" y="3172968"/>
            <a:ext cx="2862072" cy="411480"/>
          </a:xfrm>
          <a:prstGeom prst="rect">
            <a:avLst/>
          </a:prstGeom>
          <a:noFill/>
          <a:ln/>
        </p:spPr>
        <p:txBody>
          <a:bodyPr wrap="square" rtlCol="0" anchor="ctr"/>
          <a:lstStyle/>
          <a:p>
            <a:pPr marL="0" indent="0">
              <a:buNone/>
            </a:pPr>
            <a:r>
              <a:rPr lang="en-US" sz="1050" dirty="0">
                <a:solidFill>
                  <a:srgbClr val="5C6B64"/>
                </a:solidFill>
                <a:latin typeface="Calibri" pitchFamily="34" charset="0"/>
                <a:ea typeface="Calibri" pitchFamily="34" charset="-122"/>
                <a:cs typeface="Calibri" pitchFamily="34" charset="-120"/>
              </a:rPr>
              <a:t>Email verification &amp; SHA-256 password hashing</a:t>
            </a:r>
            <a:endParaRPr lang="en-US" sz="1050" dirty="0"/>
          </a:p>
        </p:txBody>
      </p:sp>
      <p:sp>
        <p:nvSpPr>
          <p:cNvPr id="28" name="Text 26"/>
          <p:cNvSpPr/>
          <p:nvPr/>
        </p:nvSpPr>
        <p:spPr>
          <a:xfrm>
            <a:off x="548640" y="3794760"/>
            <a:ext cx="5486400" cy="320040"/>
          </a:xfrm>
          <a:prstGeom prst="rect">
            <a:avLst/>
          </a:prstGeom>
          <a:noFill/>
          <a:ln/>
        </p:spPr>
        <p:txBody>
          <a:bodyPr wrap="square" rtlCol="0" anchor="ctr"/>
          <a:lstStyle/>
          <a:p>
            <a:pPr marL="0" indent="0">
              <a:buNone/>
            </a:pPr>
            <a:r>
              <a:rPr lang="en-US" sz="1500" b="1" dirty="0">
                <a:solidFill>
                  <a:srgbClr val="1F2C27"/>
                </a:solidFill>
                <a:latin typeface="Cambria" pitchFamily="34" charset="0"/>
                <a:ea typeface="Cambria" pitchFamily="34" charset="-122"/>
                <a:cs typeface="Cambria" pitchFamily="34" charset="-120"/>
              </a:rPr>
              <a:t>Module Layout  —  main files/</a:t>
            </a:r>
            <a:endParaRPr lang="en-US" sz="1500" dirty="0"/>
          </a:p>
        </p:txBody>
      </p:sp>
      <p:sp>
        <p:nvSpPr>
          <p:cNvPr id="29" name="Shape 27"/>
          <p:cNvSpPr/>
          <p:nvPr/>
        </p:nvSpPr>
        <p:spPr>
          <a:xfrm>
            <a:off x="548640" y="4160520"/>
            <a:ext cx="5486400" cy="2148840"/>
          </a:xfrm>
          <a:prstGeom prst="roundRect">
            <a:avLst>
              <a:gd name="adj" fmla="val 5106"/>
            </a:avLst>
          </a:prstGeom>
          <a:solidFill>
            <a:srgbClr val="22302B"/>
          </a:solidFill>
          <a:ln/>
          <a:effectLst>
            <a:outerShdw blurRad="101600" dist="38100" dir="5400000" algn="bl" rotWithShape="0">
              <a:srgbClr val="000000">
                <a:alpha val="35000"/>
              </a:srgbClr>
            </a:outerShdw>
          </a:effectLst>
        </p:spPr>
      </p:sp>
      <p:sp>
        <p:nvSpPr>
          <p:cNvPr id="30" name="Shape 28"/>
          <p:cNvSpPr/>
          <p:nvPr/>
        </p:nvSpPr>
        <p:spPr>
          <a:xfrm>
            <a:off x="749808" y="4306824"/>
            <a:ext cx="91440" cy="91440"/>
          </a:xfrm>
          <a:prstGeom prst="ellipse">
            <a:avLst/>
          </a:prstGeom>
          <a:solidFill>
            <a:srgbClr val="E4737A"/>
          </a:solidFill>
          <a:ln/>
        </p:spPr>
      </p:sp>
      <p:sp>
        <p:nvSpPr>
          <p:cNvPr id="31" name="Shape 29"/>
          <p:cNvSpPr/>
          <p:nvPr/>
        </p:nvSpPr>
        <p:spPr>
          <a:xfrm>
            <a:off x="914400" y="4306824"/>
            <a:ext cx="91440" cy="91440"/>
          </a:xfrm>
          <a:prstGeom prst="ellipse">
            <a:avLst/>
          </a:prstGeom>
          <a:solidFill>
            <a:srgbClr val="E8C468"/>
          </a:solidFill>
          <a:ln/>
        </p:spPr>
      </p:sp>
      <p:sp>
        <p:nvSpPr>
          <p:cNvPr id="32" name="Shape 30"/>
          <p:cNvSpPr/>
          <p:nvPr/>
        </p:nvSpPr>
        <p:spPr>
          <a:xfrm>
            <a:off x="1078992" y="4306824"/>
            <a:ext cx="91440" cy="91440"/>
          </a:xfrm>
          <a:prstGeom prst="ellipse">
            <a:avLst/>
          </a:prstGeom>
          <a:solidFill>
            <a:srgbClr val="84B59F"/>
          </a:solidFill>
          <a:ln/>
        </p:spPr>
      </p:sp>
      <p:sp>
        <p:nvSpPr>
          <p:cNvPr id="33" name="Text 31"/>
          <p:cNvSpPr/>
          <p:nvPr/>
        </p:nvSpPr>
        <p:spPr>
          <a:xfrm>
            <a:off x="749808" y="4544568"/>
            <a:ext cx="5084064" cy="161848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main files/</a:t>
            </a:r>
            <a:endParaRPr lang="en-US" sz="1150" dirty="0"/>
          </a:p>
          <a:p>
            <a:pPr marL="0" indent="0">
              <a:lnSpc>
                <a:spcPct val="108000"/>
              </a:lnSpc>
              <a:buNone/>
            </a:pPr>
            <a:r>
              <a:rPr lang="en-US" sz="1150" dirty="0">
                <a:solidFill>
                  <a:srgbClr val="7C948A"/>
                </a:solidFill>
                <a:latin typeface="Courier New" pitchFamily="34" charset="0"/>
                <a:ea typeface="Courier New" pitchFamily="34" charset="-122"/>
                <a:cs typeface="Courier New" pitchFamily="34" charset="-120"/>
              </a:rPr>
              <a:t>├─ run.py                # entry point</a:t>
            </a:r>
            <a:endParaRPr lang="en-US" sz="1150" dirty="0"/>
          </a:p>
          <a:p>
            <a:pPr marL="0" indent="0">
              <a:lnSpc>
                <a:spcPct val="108000"/>
              </a:lnSpc>
              <a:buNone/>
            </a:pPr>
            <a:r>
              <a:rPr lang="en-US" sz="1150" dirty="0">
                <a:solidFill>
                  <a:srgbClr val="7C948A"/>
                </a:solidFill>
                <a:latin typeface="Courier New" pitchFamily="34" charset="0"/>
                <a:ea typeface="Courier New" pitchFamily="34" charset="-122"/>
                <a:cs typeface="Courier New" pitchFamily="34" charset="-120"/>
              </a:rPr>
              <a:t>├─ db_functions.py       # shared DB + auth</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main_file.py          # Module 1: auth</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pet_management.py     # Module 2: inventory</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search_menu.py        # Module 3: search</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vaccinations.py       # Module 4: medical</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adoption_transaction.py # Module 5: adopt</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reports_generation.py # Module 6: analytics</a:t>
            </a:r>
            <a:endParaRPr lang="en-US" sz="1150" dirty="0"/>
          </a:p>
        </p:txBody>
      </p:sp>
      <p:sp>
        <p:nvSpPr>
          <p:cNvPr id="34" name="Text 32"/>
          <p:cNvSpPr/>
          <p:nvPr/>
        </p:nvSpPr>
        <p:spPr>
          <a:xfrm>
            <a:off x="6309360" y="3794760"/>
            <a:ext cx="5303520" cy="320040"/>
          </a:xfrm>
          <a:prstGeom prst="rect">
            <a:avLst/>
          </a:prstGeom>
          <a:noFill/>
          <a:ln/>
        </p:spPr>
        <p:txBody>
          <a:bodyPr wrap="square" rtlCol="0" anchor="ctr"/>
          <a:lstStyle/>
          <a:p>
            <a:pPr marL="0" indent="0">
              <a:buNone/>
            </a:pPr>
            <a:r>
              <a:rPr lang="en-US" sz="1500" b="1" dirty="0">
                <a:solidFill>
                  <a:srgbClr val="1F2C27"/>
                </a:solidFill>
                <a:latin typeface="Cambria" pitchFamily="34" charset="0"/>
                <a:ea typeface="Cambria" pitchFamily="34" charset="-122"/>
                <a:cs typeface="Cambria" pitchFamily="34" charset="-120"/>
              </a:rPr>
              <a:t>Why db_functions.py is shared</a:t>
            </a:r>
            <a:endParaRPr lang="en-US" sz="1500" dirty="0"/>
          </a:p>
        </p:txBody>
      </p:sp>
      <p:sp>
        <p:nvSpPr>
          <p:cNvPr id="35" name="Shape 33"/>
          <p:cNvSpPr/>
          <p:nvPr/>
        </p:nvSpPr>
        <p:spPr>
          <a:xfrm>
            <a:off x="6309360" y="4160520"/>
            <a:ext cx="5303520" cy="2148840"/>
          </a:xfrm>
          <a:prstGeom prst="roundRect">
            <a:avLst>
              <a:gd name="adj" fmla="val 3404"/>
            </a:avLst>
          </a:prstGeom>
          <a:solidFill>
            <a:srgbClr val="FFFFFF"/>
          </a:solidFill>
          <a:ln w="12700">
            <a:solidFill>
              <a:srgbClr val="E2ECE7"/>
            </a:solidFill>
            <a:prstDash val="solid"/>
          </a:ln>
        </p:spPr>
      </p:sp>
      <p:sp>
        <p:nvSpPr>
          <p:cNvPr id="36" name="Text 34"/>
          <p:cNvSpPr/>
          <p:nvPr/>
        </p:nvSpPr>
        <p:spPr>
          <a:xfrm>
            <a:off x="6537960" y="4343400"/>
            <a:ext cx="4846320" cy="1828800"/>
          </a:xfrm>
          <a:prstGeom prst="rect">
            <a:avLst/>
          </a:prstGeom>
          <a:noFill/>
          <a:ln/>
        </p:spPr>
        <p:txBody>
          <a:bodyPr wrap="square" rtlCol="0" anchor="t"/>
          <a:lstStyle/>
          <a:p>
            <a:pPr marL="0" indent="0">
              <a:lnSpc>
                <a:spcPct val="130000"/>
              </a:lnSpc>
              <a:buNone/>
            </a:pPr>
            <a:r>
              <a:rPr lang="en-US" sz="1250" dirty="0">
                <a:solidFill>
                  <a:srgbClr val="5C6B64"/>
                </a:solidFill>
                <a:latin typeface="Calibri" pitchFamily="34" charset="0"/>
                <a:ea typeface="Calibri" pitchFamily="34" charset="-122"/>
                <a:cs typeface="Calibri" pitchFamily="34" charset="-120"/>
              </a:rPr>
              <a:t>Every module imports its DB connection, password hashing, and activity logging from </a:t>
            </a:r>
            <a:r>
              <a:rPr lang="en-US" sz="1250" b="1" dirty="0">
                <a:solidFill>
                  <a:srgbClr val="1F2C27"/>
                </a:solidFill>
                <a:latin typeface="Calibri" pitchFamily="34" charset="0"/>
                <a:ea typeface="Calibri" pitchFamily="34" charset="-122"/>
                <a:cs typeface="Calibri" pitchFamily="34" charset="-120"/>
              </a:rPr>
              <a:t>one</a:t>
            </a:r>
            <a:r>
              <a:rPr lang="en-US" sz="1250" dirty="0">
                <a:solidFill>
                  <a:srgbClr val="5C6B64"/>
                </a:solidFill>
                <a:latin typeface="Calibri" pitchFamily="34" charset="0"/>
                <a:ea typeface="Calibri" pitchFamily="34" charset="-122"/>
                <a:cs typeface="Calibri" pitchFamily="34" charset="-120"/>
              </a:rPr>
              <a:t> shared file — never from main_file.py. That single change is what breaks the project's old circular-import problem, and it's why the fixes on the next slides only had to be made in one place.</a:t>
            </a:r>
            <a:endParaRPr lang="en-US" sz="1250" dirty="0"/>
          </a:p>
        </p:txBody>
      </p:sp>
      <p:sp>
        <p:nvSpPr>
          <p:cNvPr id="37" name="Text 35"/>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38" name="Text 36"/>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SYSTEM WORKFLOW</a:t>
            </a:r>
            <a:endParaRPr lang="en-US" sz="1200" dirty="0"/>
          </a:p>
        </p:txBody>
      </p:sp>
      <p:sp>
        <p:nvSpPr>
          <p:cNvPr id="3" name="Text 1"/>
          <p:cNvSpPr/>
          <p:nvPr/>
        </p:nvSpPr>
        <p:spPr>
          <a:xfrm>
            <a:off x="548640" y="731520"/>
            <a:ext cx="10515600" cy="640080"/>
          </a:xfrm>
          <a:prstGeom prst="rect">
            <a:avLst/>
          </a:prstGeom>
          <a:noFill/>
          <a:ln/>
        </p:spPr>
        <p:txBody>
          <a:bodyPr wrap="square" rtlCol="0" anchor="ctr"/>
          <a:lstStyle/>
          <a:p>
            <a:pPr marL="0" indent="0">
              <a:buNone/>
            </a:pPr>
            <a:r>
              <a:rPr lang="en-US" sz="3000" b="1" dirty="0">
                <a:solidFill>
                  <a:srgbClr val="1F2C27"/>
                </a:solidFill>
                <a:latin typeface="Cambria" pitchFamily="34" charset="0"/>
                <a:ea typeface="Cambria" pitchFamily="34" charset="-122"/>
                <a:cs typeface="Cambria" pitchFamily="34" charset="-120"/>
              </a:rPr>
              <a:t>From registration to real-time analytics</a:t>
            </a:r>
            <a:endParaRPr lang="en-US" sz="3000" dirty="0"/>
          </a:p>
        </p:txBody>
      </p:sp>
      <p:sp>
        <p:nvSpPr>
          <p:cNvPr id="4" name="Shape 2"/>
          <p:cNvSpPr/>
          <p:nvPr/>
        </p:nvSpPr>
        <p:spPr>
          <a:xfrm>
            <a:off x="548640" y="1828800"/>
            <a:ext cx="2103120" cy="3246120"/>
          </a:xfrm>
          <a:prstGeom prst="roundRect">
            <a:avLst>
              <a:gd name="adj" fmla="val 4348"/>
            </a:avLst>
          </a:prstGeom>
          <a:solidFill>
            <a:srgbClr val="50808E"/>
          </a:solidFill>
          <a:ln/>
          <a:effectLst>
            <a:outerShdw blurRad="76200" dist="38100" dir="5400000" algn="bl" rotWithShape="0">
              <a:srgbClr val="2C4038">
                <a:alpha val="25000"/>
              </a:srgbClr>
            </a:outerShdw>
          </a:effectLst>
        </p:spPr>
      </p:sp>
      <p:sp>
        <p:nvSpPr>
          <p:cNvPr id="5" name="Text 3"/>
          <p:cNvSpPr/>
          <p:nvPr/>
        </p:nvSpPr>
        <p:spPr>
          <a:xfrm>
            <a:off x="731520" y="2011680"/>
            <a:ext cx="914400" cy="640080"/>
          </a:xfrm>
          <a:prstGeom prst="rect">
            <a:avLst/>
          </a:prstGeom>
          <a:noFill/>
          <a:ln/>
        </p:spPr>
        <p:txBody>
          <a:bodyPr wrap="square" rtlCol="0" anchor="ctr"/>
          <a:lstStyle/>
          <a:p>
            <a:pPr marL="0" indent="0">
              <a:buNone/>
            </a:pPr>
            <a:r>
              <a:rPr lang="en-US" sz="3400" b="1" dirty="0">
                <a:solidFill>
                  <a:srgbClr val="FFFFFF">
                    <a:alpha val="45000"/>
                  </a:srgbClr>
                </a:solidFill>
                <a:latin typeface="Cambria" pitchFamily="34" charset="0"/>
                <a:ea typeface="Cambria" pitchFamily="34" charset="-122"/>
                <a:cs typeface="Cambria" pitchFamily="34" charset="-120"/>
              </a:rPr>
              <a:t>1</a:t>
            </a:r>
            <a:endParaRPr lang="en-US" sz="3400" dirty="0"/>
          </a:p>
        </p:txBody>
      </p:sp>
      <p:sp>
        <p:nvSpPr>
          <p:cNvPr id="6" name="Text 4"/>
          <p:cNvSpPr/>
          <p:nvPr/>
        </p:nvSpPr>
        <p:spPr>
          <a:xfrm>
            <a:off x="731520" y="2606040"/>
            <a:ext cx="1737360" cy="822960"/>
          </a:xfrm>
          <a:prstGeom prst="rect">
            <a:avLst/>
          </a:prstGeom>
          <a:noFill/>
          <a:ln/>
        </p:spPr>
        <p:txBody>
          <a:bodyPr wrap="square"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Entry &amp; Authentication</a:t>
            </a:r>
            <a:endParaRPr lang="en-US" sz="1500" dirty="0"/>
          </a:p>
        </p:txBody>
      </p:sp>
      <p:sp>
        <p:nvSpPr>
          <p:cNvPr id="7" name="Text 5"/>
          <p:cNvSpPr/>
          <p:nvPr/>
        </p:nvSpPr>
        <p:spPr>
          <a:xfrm>
            <a:off x="731520" y="3429000"/>
            <a:ext cx="1737360" cy="1234440"/>
          </a:xfrm>
          <a:prstGeom prst="rect">
            <a:avLst/>
          </a:prstGeom>
          <a:noFill/>
          <a:ln/>
        </p:spPr>
        <p:txBody>
          <a:bodyPr wrap="square" rtlCol="0" anchor="ctr"/>
          <a:lstStyle/>
          <a:p>
            <a:pPr marL="0" indent="0">
              <a:lnSpc>
                <a:spcPct val="125000"/>
              </a:lnSpc>
              <a:buNone/>
            </a:pPr>
            <a:r>
              <a:rPr lang="en-US" sz="1050" dirty="0">
                <a:solidFill>
                  <a:srgbClr val="EAF3EF"/>
                </a:solidFill>
                <a:latin typeface="Calibri" pitchFamily="34" charset="0"/>
                <a:ea typeface="Calibri" pitchFamily="34" charset="-122"/>
                <a:cs typeface="Calibri" pitchFamily="34" charset="-120"/>
              </a:rPr>
              <a:t>User selects Adopter or Administrator and logs in or registers.</a:t>
            </a:r>
            <a:endParaRPr lang="en-US" sz="1050" dirty="0"/>
          </a:p>
        </p:txBody>
      </p:sp>
      <p:sp>
        <p:nvSpPr>
          <p:cNvPr id="8" name="Text 6"/>
          <p:cNvSpPr/>
          <p:nvPr/>
        </p:nvSpPr>
        <p:spPr>
          <a:xfrm>
            <a:off x="731520" y="4617720"/>
            <a:ext cx="1737360" cy="320040"/>
          </a:xfrm>
          <a:prstGeom prst="rect">
            <a:avLst/>
          </a:prstGeom>
          <a:noFill/>
          <a:ln/>
        </p:spPr>
        <p:txBody>
          <a:bodyPr wrap="square" rtlCol="0" anchor="ctr"/>
          <a:lstStyle/>
          <a:p>
            <a:pPr marL="0" indent="0">
              <a:buNone/>
            </a:pPr>
            <a:r>
              <a:rPr lang="en-US" sz="900" b="1" kern="0" spc="100" dirty="0">
                <a:solidFill>
                  <a:srgbClr val="D3E6DE"/>
                </a:solidFill>
                <a:latin typeface="Calibri" pitchFamily="34" charset="0"/>
                <a:ea typeface="Calibri" pitchFamily="34" charset="-122"/>
                <a:cs typeface="Calibri" pitchFamily="34" charset="-120"/>
              </a:rPr>
              <a:t>SARTHAK</a:t>
            </a:r>
            <a:endParaRPr lang="en-US" sz="900" dirty="0"/>
          </a:p>
        </p:txBody>
      </p:sp>
      <p:sp>
        <p:nvSpPr>
          <p:cNvPr id="9" name="Text 7"/>
          <p:cNvSpPr/>
          <p:nvPr/>
        </p:nvSpPr>
        <p:spPr>
          <a:xfrm>
            <a:off x="2651760" y="3177540"/>
            <a:ext cx="155448" cy="548640"/>
          </a:xfrm>
          <a:prstGeom prst="rect">
            <a:avLst/>
          </a:prstGeom>
          <a:noFill/>
          <a:ln/>
        </p:spPr>
        <p:txBody>
          <a:bodyPr wrap="square" rtlCol="0" anchor="ctr"/>
          <a:lstStyle/>
          <a:p>
            <a:pPr marL="0" indent="0" algn="ctr">
              <a:buNone/>
            </a:pPr>
            <a:r>
              <a:rPr lang="en-US" sz="1600" b="1" dirty="0">
                <a:solidFill>
                  <a:srgbClr val="50808E"/>
                </a:solidFill>
                <a:latin typeface="Calibri" pitchFamily="34" charset="0"/>
                <a:ea typeface="Calibri" pitchFamily="34" charset="-122"/>
                <a:cs typeface="Calibri" pitchFamily="34" charset="-120"/>
              </a:rPr>
              <a:t>&gt;</a:t>
            </a:r>
            <a:endParaRPr lang="en-US" sz="1600" dirty="0"/>
          </a:p>
        </p:txBody>
      </p:sp>
      <p:sp>
        <p:nvSpPr>
          <p:cNvPr id="10" name="Shape 8"/>
          <p:cNvSpPr/>
          <p:nvPr/>
        </p:nvSpPr>
        <p:spPr>
          <a:xfrm>
            <a:off x="2788920" y="1828800"/>
            <a:ext cx="2103120" cy="3246120"/>
          </a:xfrm>
          <a:prstGeom prst="roundRect">
            <a:avLst>
              <a:gd name="adj" fmla="val 4348"/>
            </a:avLst>
          </a:prstGeom>
          <a:solidFill>
            <a:srgbClr val="69A297"/>
          </a:solidFill>
          <a:ln/>
          <a:effectLst>
            <a:outerShdw blurRad="76200" dist="38100" dir="5400000" algn="bl" rotWithShape="0">
              <a:srgbClr val="2C4038">
                <a:alpha val="25000"/>
              </a:srgbClr>
            </a:outerShdw>
          </a:effectLst>
        </p:spPr>
      </p:sp>
      <p:sp>
        <p:nvSpPr>
          <p:cNvPr id="11" name="Text 9"/>
          <p:cNvSpPr/>
          <p:nvPr/>
        </p:nvSpPr>
        <p:spPr>
          <a:xfrm>
            <a:off x="2971800" y="2011680"/>
            <a:ext cx="914400" cy="640080"/>
          </a:xfrm>
          <a:prstGeom prst="rect">
            <a:avLst/>
          </a:prstGeom>
          <a:noFill/>
          <a:ln/>
        </p:spPr>
        <p:txBody>
          <a:bodyPr wrap="square" rtlCol="0" anchor="ctr"/>
          <a:lstStyle/>
          <a:p>
            <a:pPr marL="0" indent="0">
              <a:buNone/>
            </a:pPr>
            <a:r>
              <a:rPr lang="en-US" sz="3400" b="1" dirty="0">
                <a:solidFill>
                  <a:srgbClr val="FFFFFF">
                    <a:alpha val="45000"/>
                  </a:srgbClr>
                </a:solidFill>
                <a:latin typeface="Cambria" pitchFamily="34" charset="0"/>
                <a:ea typeface="Cambria" pitchFamily="34" charset="-122"/>
                <a:cs typeface="Cambria" pitchFamily="34" charset="-120"/>
              </a:rPr>
              <a:t>2</a:t>
            </a:r>
            <a:endParaRPr lang="en-US" sz="3400" dirty="0"/>
          </a:p>
        </p:txBody>
      </p:sp>
      <p:sp>
        <p:nvSpPr>
          <p:cNvPr id="12" name="Text 10"/>
          <p:cNvSpPr/>
          <p:nvPr/>
        </p:nvSpPr>
        <p:spPr>
          <a:xfrm>
            <a:off x="2971800" y="2606040"/>
            <a:ext cx="1737360" cy="822960"/>
          </a:xfrm>
          <a:prstGeom prst="rect">
            <a:avLst/>
          </a:prstGeom>
          <a:noFill/>
          <a:ln/>
        </p:spPr>
        <p:txBody>
          <a:bodyPr wrap="square"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Setup &amp; Inventory</a:t>
            </a:r>
            <a:endParaRPr lang="en-US" sz="1500" dirty="0"/>
          </a:p>
        </p:txBody>
      </p:sp>
      <p:sp>
        <p:nvSpPr>
          <p:cNvPr id="13" name="Text 11"/>
          <p:cNvSpPr/>
          <p:nvPr/>
        </p:nvSpPr>
        <p:spPr>
          <a:xfrm>
            <a:off x="2971800" y="3429000"/>
            <a:ext cx="1737360" cy="1234440"/>
          </a:xfrm>
          <a:prstGeom prst="rect">
            <a:avLst/>
          </a:prstGeom>
          <a:noFill/>
          <a:ln/>
        </p:spPr>
        <p:txBody>
          <a:bodyPr wrap="square" rtlCol="0" anchor="ctr"/>
          <a:lstStyle/>
          <a:p>
            <a:pPr marL="0" indent="0">
              <a:lnSpc>
                <a:spcPct val="125000"/>
              </a:lnSpc>
              <a:buNone/>
            </a:pPr>
            <a:r>
              <a:rPr lang="en-US" sz="1050" dirty="0">
                <a:solidFill>
                  <a:srgbClr val="EAF3EF"/>
                </a:solidFill>
                <a:latin typeface="Calibri" pitchFamily="34" charset="0"/>
                <a:ea typeface="Calibri" pitchFamily="34" charset="-122"/>
                <a:cs typeface="Calibri" pitchFamily="34" charset="-120"/>
              </a:rPr>
              <a:t>Admin adds a rescued pet and logs its initial vaccinations.</a:t>
            </a:r>
            <a:endParaRPr lang="en-US" sz="1050" dirty="0"/>
          </a:p>
        </p:txBody>
      </p:sp>
      <p:sp>
        <p:nvSpPr>
          <p:cNvPr id="14" name="Text 12"/>
          <p:cNvSpPr/>
          <p:nvPr/>
        </p:nvSpPr>
        <p:spPr>
          <a:xfrm>
            <a:off x="2971800" y="4617720"/>
            <a:ext cx="1737360" cy="320040"/>
          </a:xfrm>
          <a:prstGeom prst="rect">
            <a:avLst/>
          </a:prstGeom>
          <a:noFill/>
          <a:ln/>
        </p:spPr>
        <p:txBody>
          <a:bodyPr wrap="square" rtlCol="0" anchor="ctr"/>
          <a:lstStyle/>
          <a:p>
            <a:pPr marL="0" indent="0">
              <a:buNone/>
            </a:pPr>
            <a:r>
              <a:rPr lang="en-US" sz="900" b="1" kern="0" spc="100" dirty="0">
                <a:solidFill>
                  <a:srgbClr val="D3E6DE"/>
                </a:solidFill>
                <a:latin typeface="Calibri" pitchFamily="34" charset="0"/>
                <a:ea typeface="Calibri" pitchFamily="34" charset="-122"/>
                <a:cs typeface="Calibri" pitchFamily="34" charset="-120"/>
              </a:rPr>
              <a:t>SHRAVANI &amp; AVISHKAR</a:t>
            </a:r>
            <a:endParaRPr lang="en-US" sz="900" dirty="0"/>
          </a:p>
        </p:txBody>
      </p:sp>
      <p:sp>
        <p:nvSpPr>
          <p:cNvPr id="15" name="Text 13"/>
          <p:cNvSpPr/>
          <p:nvPr/>
        </p:nvSpPr>
        <p:spPr>
          <a:xfrm>
            <a:off x="4892040" y="3177540"/>
            <a:ext cx="155448" cy="548640"/>
          </a:xfrm>
          <a:prstGeom prst="rect">
            <a:avLst/>
          </a:prstGeom>
          <a:noFill/>
          <a:ln/>
        </p:spPr>
        <p:txBody>
          <a:bodyPr wrap="square" rtlCol="0" anchor="ctr"/>
          <a:lstStyle/>
          <a:p>
            <a:pPr marL="0" indent="0" algn="ctr">
              <a:buNone/>
            </a:pPr>
            <a:r>
              <a:rPr lang="en-US" sz="1600" b="1" dirty="0">
                <a:solidFill>
                  <a:srgbClr val="50808E"/>
                </a:solidFill>
                <a:latin typeface="Calibri" pitchFamily="34" charset="0"/>
                <a:ea typeface="Calibri" pitchFamily="34" charset="-122"/>
                <a:cs typeface="Calibri" pitchFamily="34" charset="-120"/>
              </a:rPr>
              <a:t>&gt;</a:t>
            </a:r>
            <a:endParaRPr lang="en-US" sz="1600" dirty="0"/>
          </a:p>
        </p:txBody>
      </p:sp>
      <p:sp>
        <p:nvSpPr>
          <p:cNvPr id="16" name="Shape 14"/>
          <p:cNvSpPr/>
          <p:nvPr/>
        </p:nvSpPr>
        <p:spPr>
          <a:xfrm>
            <a:off x="5029200" y="1828800"/>
            <a:ext cx="2103120" cy="3246120"/>
          </a:xfrm>
          <a:prstGeom prst="roundRect">
            <a:avLst>
              <a:gd name="adj" fmla="val 4348"/>
            </a:avLst>
          </a:prstGeom>
          <a:solidFill>
            <a:srgbClr val="50808E"/>
          </a:solidFill>
          <a:ln/>
          <a:effectLst>
            <a:outerShdw blurRad="76200" dist="38100" dir="5400000" algn="bl" rotWithShape="0">
              <a:srgbClr val="2C4038">
                <a:alpha val="25000"/>
              </a:srgbClr>
            </a:outerShdw>
          </a:effectLst>
        </p:spPr>
      </p:sp>
      <p:sp>
        <p:nvSpPr>
          <p:cNvPr id="17" name="Text 15"/>
          <p:cNvSpPr/>
          <p:nvPr/>
        </p:nvSpPr>
        <p:spPr>
          <a:xfrm>
            <a:off x="5212080" y="2011680"/>
            <a:ext cx="914400" cy="640080"/>
          </a:xfrm>
          <a:prstGeom prst="rect">
            <a:avLst/>
          </a:prstGeom>
          <a:noFill/>
          <a:ln/>
        </p:spPr>
        <p:txBody>
          <a:bodyPr wrap="square" rtlCol="0" anchor="ctr"/>
          <a:lstStyle/>
          <a:p>
            <a:pPr marL="0" indent="0">
              <a:buNone/>
            </a:pPr>
            <a:r>
              <a:rPr lang="en-US" sz="3400" b="1" dirty="0">
                <a:solidFill>
                  <a:srgbClr val="FFFFFF">
                    <a:alpha val="45000"/>
                  </a:srgbClr>
                </a:solidFill>
                <a:latin typeface="Cambria" pitchFamily="34" charset="0"/>
                <a:ea typeface="Cambria" pitchFamily="34" charset="-122"/>
                <a:cs typeface="Cambria" pitchFamily="34" charset="-120"/>
              </a:rPr>
              <a:t>3</a:t>
            </a:r>
            <a:endParaRPr lang="en-US" sz="3400" dirty="0"/>
          </a:p>
        </p:txBody>
      </p:sp>
      <p:sp>
        <p:nvSpPr>
          <p:cNvPr id="18" name="Text 16"/>
          <p:cNvSpPr/>
          <p:nvPr/>
        </p:nvSpPr>
        <p:spPr>
          <a:xfrm>
            <a:off x="5212080" y="2606040"/>
            <a:ext cx="1737360" cy="822960"/>
          </a:xfrm>
          <a:prstGeom prst="rect">
            <a:avLst/>
          </a:prstGeom>
          <a:noFill/>
          <a:ln/>
        </p:spPr>
        <p:txBody>
          <a:bodyPr wrap="square"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The Adopter Journey</a:t>
            </a:r>
            <a:endParaRPr lang="en-US" sz="1500" dirty="0"/>
          </a:p>
        </p:txBody>
      </p:sp>
      <p:sp>
        <p:nvSpPr>
          <p:cNvPr id="19" name="Text 17"/>
          <p:cNvSpPr/>
          <p:nvPr/>
        </p:nvSpPr>
        <p:spPr>
          <a:xfrm>
            <a:off x="5212080" y="3429000"/>
            <a:ext cx="1737360" cy="1234440"/>
          </a:xfrm>
          <a:prstGeom prst="rect">
            <a:avLst/>
          </a:prstGeom>
          <a:noFill/>
          <a:ln/>
        </p:spPr>
        <p:txBody>
          <a:bodyPr wrap="square" rtlCol="0" anchor="ctr"/>
          <a:lstStyle/>
          <a:p>
            <a:pPr marL="0" indent="0">
              <a:lnSpc>
                <a:spcPct val="125000"/>
              </a:lnSpc>
              <a:buNone/>
            </a:pPr>
            <a:r>
              <a:rPr lang="en-US" sz="1050" dirty="0">
                <a:solidFill>
                  <a:srgbClr val="EAF3EF"/>
                </a:solidFill>
                <a:latin typeface="Calibri" pitchFamily="34" charset="0"/>
                <a:ea typeface="Calibri" pitchFamily="34" charset="-122"/>
                <a:cs typeface="Calibri" pitchFamily="34" charset="-120"/>
              </a:rPr>
              <a:t>Adopter searches, previews a pet, and requests adoption.</a:t>
            </a:r>
            <a:endParaRPr lang="en-US" sz="1050" dirty="0"/>
          </a:p>
        </p:txBody>
      </p:sp>
      <p:sp>
        <p:nvSpPr>
          <p:cNvPr id="20" name="Text 18"/>
          <p:cNvSpPr/>
          <p:nvPr/>
        </p:nvSpPr>
        <p:spPr>
          <a:xfrm>
            <a:off x="5212080" y="4617720"/>
            <a:ext cx="1737360" cy="320040"/>
          </a:xfrm>
          <a:prstGeom prst="rect">
            <a:avLst/>
          </a:prstGeom>
          <a:noFill/>
          <a:ln/>
        </p:spPr>
        <p:txBody>
          <a:bodyPr wrap="square" rtlCol="0" anchor="ctr"/>
          <a:lstStyle/>
          <a:p>
            <a:pPr marL="0" indent="0">
              <a:buNone/>
            </a:pPr>
            <a:r>
              <a:rPr lang="en-US" sz="900" b="1" kern="0" spc="100" dirty="0">
                <a:solidFill>
                  <a:srgbClr val="D3E6DE"/>
                </a:solidFill>
                <a:latin typeface="Calibri" pitchFamily="34" charset="0"/>
                <a:ea typeface="Calibri" pitchFamily="34" charset="-122"/>
                <a:cs typeface="Calibri" pitchFamily="34" charset="-120"/>
              </a:rPr>
              <a:t>KADAMBARI</a:t>
            </a:r>
            <a:endParaRPr lang="en-US" sz="900" dirty="0"/>
          </a:p>
        </p:txBody>
      </p:sp>
      <p:sp>
        <p:nvSpPr>
          <p:cNvPr id="21" name="Text 19"/>
          <p:cNvSpPr/>
          <p:nvPr/>
        </p:nvSpPr>
        <p:spPr>
          <a:xfrm>
            <a:off x="7132320" y="3177540"/>
            <a:ext cx="155448" cy="548640"/>
          </a:xfrm>
          <a:prstGeom prst="rect">
            <a:avLst/>
          </a:prstGeom>
          <a:noFill/>
          <a:ln/>
        </p:spPr>
        <p:txBody>
          <a:bodyPr wrap="square" rtlCol="0" anchor="ctr"/>
          <a:lstStyle/>
          <a:p>
            <a:pPr marL="0" indent="0" algn="ctr">
              <a:buNone/>
            </a:pPr>
            <a:r>
              <a:rPr lang="en-US" sz="1600" b="1" dirty="0">
                <a:solidFill>
                  <a:srgbClr val="50808E"/>
                </a:solidFill>
                <a:latin typeface="Calibri" pitchFamily="34" charset="0"/>
                <a:ea typeface="Calibri" pitchFamily="34" charset="-122"/>
                <a:cs typeface="Calibri" pitchFamily="34" charset="-120"/>
              </a:rPr>
              <a:t>&gt;</a:t>
            </a:r>
            <a:endParaRPr lang="en-US" sz="1600" dirty="0"/>
          </a:p>
        </p:txBody>
      </p:sp>
      <p:sp>
        <p:nvSpPr>
          <p:cNvPr id="22" name="Shape 20"/>
          <p:cNvSpPr/>
          <p:nvPr/>
        </p:nvSpPr>
        <p:spPr>
          <a:xfrm>
            <a:off x="7269480" y="1828800"/>
            <a:ext cx="2103120" cy="3246120"/>
          </a:xfrm>
          <a:prstGeom prst="roundRect">
            <a:avLst>
              <a:gd name="adj" fmla="val 4348"/>
            </a:avLst>
          </a:prstGeom>
          <a:solidFill>
            <a:srgbClr val="69A297"/>
          </a:solidFill>
          <a:ln/>
          <a:effectLst>
            <a:outerShdw blurRad="76200" dist="38100" dir="5400000" algn="bl" rotWithShape="0">
              <a:srgbClr val="2C4038">
                <a:alpha val="25000"/>
              </a:srgbClr>
            </a:outerShdw>
          </a:effectLst>
        </p:spPr>
      </p:sp>
      <p:sp>
        <p:nvSpPr>
          <p:cNvPr id="23" name="Text 21"/>
          <p:cNvSpPr/>
          <p:nvPr/>
        </p:nvSpPr>
        <p:spPr>
          <a:xfrm>
            <a:off x="7452360" y="2011680"/>
            <a:ext cx="914400" cy="640080"/>
          </a:xfrm>
          <a:prstGeom prst="rect">
            <a:avLst/>
          </a:prstGeom>
          <a:noFill/>
          <a:ln/>
        </p:spPr>
        <p:txBody>
          <a:bodyPr wrap="square" rtlCol="0" anchor="ctr"/>
          <a:lstStyle/>
          <a:p>
            <a:pPr marL="0" indent="0">
              <a:buNone/>
            </a:pPr>
            <a:r>
              <a:rPr lang="en-US" sz="3400" b="1" dirty="0">
                <a:solidFill>
                  <a:srgbClr val="FFFFFF">
                    <a:alpha val="45000"/>
                  </a:srgbClr>
                </a:solidFill>
                <a:latin typeface="Cambria" pitchFamily="34" charset="0"/>
                <a:ea typeface="Cambria" pitchFamily="34" charset="-122"/>
                <a:cs typeface="Cambria" pitchFamily="34" charset="-120"/>
              </a:rPr>
              <a:t>4</a:t>
            </a:r>
            <a:endParaRPr lang="en-US" sz="3400" dirty="0"/>
          </a:p>
        </p:txBody>
      </p:sp>
      <p:sp>
        <p:nvSpPr>
          <p:cNvPr id="24" name="Text 22"/>
          <p:cNvSpPr/>
          <p:nvPr/>
        </p:nvSpPr>
        <p:spPr>
          <a:xfrm>
            <a:off x="7452360" y="2606040"/>
            <a:ext cx="1737360" cy="822960"/>
          </a:xfrm>
          <a:prstGeom prst="rect">
            <a:avLst/>
          </a:prstGeom>
          <a:noFill/>
          <a:ln/>
        </p:spPr>
        <p:txBody>
          <a:bodyPr wrap="square"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Transaction &amp; Status Update</a:t>
            </a:r>
            <a:endParaRPr lang="en-US" sz="1500" dirty="0"/>
          </a:p>
        </p:txBody>
      </p:sp>
      <p:sp>
        <p:nvSpPr>
          <p:cNvPr id="25" name="Text 23"/>
          <p:cNvSpPr/>
          <p:nvPr/>
        </p:nvSpPr>
        <p:spPr>
          <a:xfrm>
            <a:off x="7452360" y="3429000"/>
            <a:ext cx="1737360" cy="1234440"/>
          </a:xfrm>
          <a:prstGeom prst="rect">
            <a:avLst/>
          </a:prstGeom>
          <a:noFill/>
          <a:ln/>
        </p:spPr>
        <p:txBody>
          <a:bodyPr wrap="square" rtlCol="0" anchor="ctr"/>
          <a:lstStyle/>
          <a:p>
            <a:pPr marL="0" indent="0">
              <a:lnSpc>
                <a:spcPct val="125000"/>
              </a:lnSpc>
              <a:buNone/>
            </a:pPr>
            <a:r>
              <a:rPr lang="en-US" sz="1050" dirty="0">
                <a:solidFill>
                  <a:srgbClr val="EAF3EF"/>
                </a:solidFill>
                <a:latin typeface="Calibri" pitchFamily="34" charset="0"/>
                <a:ea typeface="Calibri" pitchFamily="34" charset="-122"/>
                <a:cs typeface="Calibri" pitchFamily="34" charset="-120"/>
              </a:rPr>
              <a:t>Admin approves; pet status flips to Adopted in real time.</a:t>
            </a:r>
            <a:endParaRPr lang="en-US" sz="1050" dirty="0"/>
          </a:p>
        </p:txBody>
      </p:sp>
      <p:sp>
        <p:nvSpPr>
          <p:cNvPr id="26" name="Text 24"/>
          <p:cNvSpPr/>
          <p:nvPr/>
        </p:nvSpPr>
        <p:spPr>
          <a:xfrm>
            <a:off x="7452360" y="4617720"/>
            <a:ext cx="1737360" cy="320040"/>
          </a:xfrm>
          <a:prstGeom prst="rect">
            <a:avLst/>
          </a:prstGeom>
          <a:noFill/>
          <a:ln/>
        </p:spPr>
        <p:txBody>
          <a:bodyPr wrap="square" rtlCol="0" anchor="ctr"/>
          <a:lstStyle/>
          <a:p>
            <a:pPr marL="0" indent="0">
              <a:buNone/>
            </a:pPr>
            <a:r>
              <a:rPr lang="en-US" sz="900" b="1" kern="0" spc="100" dirty="0">
                <a:solidFill>
                  <a:srgbClr val="D3E6DE"/>
                </a:solidFill>
                <a:latin typeface="Calibri" pitchFamily="34" charset="0"/>
                <a:ea typeface="Calibri" pitchFamily="34" charset="-122"/>
                <a:cs typeface="Calibri" pitchFamily="34" charset="-120"/>
              </a:rPr>
              <a:t>NISHTHA</a:t>
            </a:r>
            <a:endParaRPr lang="en-US" sz="900" dirty="0"/>
          </a:p>
        </p:txBody>
      </p:sp>
      <p:sp>
        <p:nvSpPr>
          <p:cNvPr id="27" name="Text 25"/>
          <p:cNvSpPr/>
          <p:nvPr/>
        </p:nvSpPr>
        <p:spPr>
          <a:xfrm>
            <a:off x="9372600" y="3177540"/>
            <a:ext cx="155448" cy="548640"/>
          </a:xfrm>
          <a:prstGeom prst="rect">
            <a:avLst/>
          </a:prstGeom>
          <a:noFill/>
          <a:ln/>
        </p:spPr>
        <p:txBody>
          <a:bodyPr wrap="square" rtlCol="0" anchor="ctr"/>
          <a:lstStyle/>
          <a:p>
            <a:pPr marL="0" indent="0" algn="ctr">
              <a:buNone/>
            </a:pPr>
            <a:r>
              <a:rPr lang="en-US" sz="1600" b="1" dirty="0">
                <a:solidFill>
                  <a:srgbClr val="50808E"/>
                </a:solidFill>
                <a:latin typeface="Calibri" pitchFamily="34" charset="0"/>
                <a:ea typeface="Calibri" pitchFamily="34" charset="-122"/>
                <a:cs typeface="Calibri" pitchFamily="34" charset="-120"/>
              </a:rPr>
              <a:t>&gt;</a:t>
            </a:r>
            <a:endParaRPr lang="en-US" sz="1600" dirty="0"/>
          </a:p>
        </p:txBody>
      </p:sp>
      <p:sp>
        <p:nvSpPr>
          <p:cNvPr id="28" name="Shape 26"/>
          <p:cNvSpPr/>
          <p:nvPr/>
        </p:nvSpPr>
        <p:spPr>
          <a:xfrm>
            <a:off x="9509760" y="1828800"/>
            <a:ext cx="2103120" cy="3246120"/>
          </a:xfrm>
          <a:prstGeom prst="roundRect">
            <a:avLst>
              <a:gd name="adj" fmla="val 4348"/>
            </a:avLst>
          </a:prstGeom>
          <a:solidFill>
            <a:srgbClr val="50808E"/>
          </a:solidFill>
          <a:ln/>
          <a:effectLst>
            <a:outerShdw blurRad="76200" dist="38100" dir="5400000" algn="bl" rotWithShape="0">
              <a:srgbClr val="2C4038">
                <a:alpha val="25000"/>
              </a:srgbClr>
            </a:outerShdw>
          </a:effectLst>
        </p:spPr>
      </p:sp>
      <p:sp>
        <p:nvSpPr>
          <p:cNvPr id="29" name="Text 27"/>
          <p:cNvSpPr/>
          <p:nvPr/>
        </p:nvSpPr>
        <p:spPr>
          <a:xfrm>
            <a:off x="9692640" y="2011680"/>
            <a:ext cx="914400" cy="640080"/>
          </a:xfrm>
          <a:prstGeom prst="rect">
            <a:avLst/>
          </a:prstGeom>
          <a:noFill/>
          <a:ln/>
        </p:spPr>
        <p:txBody>
          <a:bodyPr wrap="square" rtlCol="0" anchor="ctr"/>
          <a:lstStyle/>
          <a:p>
            <a:pPr marL="0" indent="0">
              <a:buNone/>
            </a:pPr>
            <a:r>
              <a:rPr lang="en-US" sz="3400" b="1" dirty="0">
                <a:solidFill>
                  <a:srgbClr val="FFFFFF">
                    <a:alpha val="45000"/>
                  </a:srgbClr>
                </a:solidFill>
                <a:latin typeface="Cambria" pitchFamily="34" charset="0"/>
                <a:ea typeface="Cambria" pitchFamily="34" charset="-122"/>
                <a:cs typeface="Cambria" pitchFamily="34" charset="-120"/>
              </a:rPr>
              <a:t>5</a:t>
            </a:r>
            <a:endParaRPr lang="en-US" sz="3400" dirty="0"/>
          </a:p>
        </p:txBody>
      </p:sp>
      <p:sp>
        <p:nvSpPr>
          <p:cNvPr id="30" name="Text 28"/>
          <p:cNvSpPr/>
          <p:nvPr/>
        </p:nvSpPr>
        <p:spPr>
          <a:xfrm>
            <a:off x="9692640" y="2606040"/>
            <a:ext cx="1737360" cy="822960"/>
          </a:xfrm>
          <a:prstGeom prst="rect">
            <a:avLst/>
          </a:prstGeom>
          <a:noFill/>
          <a:ln/>
        </p:spPr>
        <p:txBody>
          <a:bodyPr wrap="square" rtlCol="0" anchor="ctr"/>
          <a:lstStyle/>
          <a:p>
            <a:pPr marL="0" indent="0">
              <a:lnSpc>
                <a:spcPct val="105000"/>
              </a:lnSpc>
              <a:buNone/>
            </a:pPr>
            <a:r>
              <a:rPr lang="en-US" sz="1500" b="1" dirty="0">
                <a:solidFill>
                  <a:srgbClr val="FFFFFF"/>
                </a:solidFill>
                <a:latin typeface="Cambria" pitchFamily="34" charset="0"/>
                <a:ea typeface="Cambria" pitchFamily="34" charset="-122"/>
                <a:cs typeface="Cambria" pitchFamily="34" charset="-120"/>
              </a:rPr>
              <a:t>Analytics &amp; Monitoring</a:t>
            </a:r>
            <a:endParaRPr lang="en-US" sz="1500" dirty="0"/>
          </a:p>
        </p:txBody>
      </p:sp>
      <p:sp>
        <p:nvSpPr>
          <p:cNvPr id="31" name="Text 29"/>
          <p:cNvSpPr/>
          <p:nvPr/>
        </p:nvSpPr>
        <p:spPr>
          <a:xfrm>
            <a:off x="9692640" y="3429000"/>
            <a:ext cx="1737360" cy="1234440"/>
          </a:xfrm>
          <a:prstGeom prst="rect">
            <a:avLst/>
          </a:prstGeom>
          <a:noFill/>
          <a:ln/>
        </p:spPr>
        <p:txBody>
          <a:bodyPr wrap="square" rtlCol="0" anchor="ctr"/>
          <a:lstStyle/>
          <a:p>
            <a:pPr marL="0" indent="0">
              <a:lnSpc>
                <a:spcPct val="125000"/>
              </a:lnSpc>
              <a:buNone/>
            </a:pPr>
            <a:r>
              <a:rPr lang="en-US" sz="1050" dirty="0">
                <a:solidFill>
                  <a:srgbClr val="EAF3EF"/>
                </a:solidFill>
                <a:latin typeface="Calibri" pitchFamily="34" charset="0"/>
                <a:ea typeface="Calibri" pitchFamily="34" charset="-122"/>
                <a:cs typeface="Calibri" pitchFamily="34" charset="-120"/>
              </a:rPr>
              <a:t>Admin reviews SQL-driven reports and Matplotlib charts.</a:t>
            </a:r>
            <a:endParaRPr lang="en-US" sz="1050" dirty="0"/>
          </a:p>
        </p:txBody>
      </p:sp>
      <p:sp>
        <p:nvSpPr>
          <p:cNvPr id="32" name="Text 30"/>
          <p:cNvSpPr/>
          <p:nvPr/>
        </p:nvSpPr>
        <p:spPr>
          <a:xfrm>
            <a:off x="9692640" y="4617720"/>
            <a:ext cx="1737360" cy="320040"/>
          </a:xfrm>
          <a:prstGeom prst="rect">
            <a:avLst/>
          </a:prstGeom>
          <a:noFill/>
          <a:ln/>
        </p:spPr>
        <p:txBody>
          <a:bodyPr wrap="square" rtlCol="0" anchor="ctr"/>
          <a:lstStyle/>
          <a:p>
            <a:pPr marL="0" indent="0">
              <a:buNone/>
            </a:pPr>
            <a:r>
              <a:rPr lang="en-US" sz="900" b="1" kern="0" spc="100" dirty="0">
                <a:solidFill>
                  <a:srgbClr val="D3E6DE"/>
                </a:solidFill>
                <a:latin typeface="Calibri" pitchFamily="34" charset="0"/>
                <a:ea typeface="Calibri" pitchFamily="34" charset="-122"/>
                <a:cs typeface="Calibri" pitchFamily="34" charset="-120"/>
              </a:rPr>
              <a:t>SHAUN</a:t>
            </a:r>
            <a:endParaRPr lang="en-US" sz="900" dirty="0"/>
          </a:p>
        </p:txBody>
      </p:sp>
      <p:sp>
        <p:nvSpPr>
          <p:cNvPr id="33" name="Text 31"/>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34" name="Text 32"/>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50808E"/>
          </a:solidFill>
          <a:ln/>
        </p:spPr>
      </p:sp>
      <p:sp>
        <p:nvSpPr>
          <p:cNvPr id="3" name="Text 1"/>
          <p:cNvSpPr/>
          <p:nvPr/>
        </p:nvSpPr>
        <p:spPr>
          <a:xfrm>
            <a:off x="548640" y="5029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234440" y="50292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MODULE 1  ·  OWNER: SARTHAK (TEAM LEADER)</a:t>
            </a:r>
            <a:endParaRPr lang="en-US" sz="1200" dirty="0"/>
          </a:p>
        </p:txBody>
      </p:sp>
      <p:sp>
        <p:nvSpPr>
          <p:cNvPr id="5" name="Text 3"/>
          <p:cNvSpPr/>
          <p:nvPr/>
        </p:nvSpPr>
        <p:spPr>
          <a:xfrm>
            <a:off x="1234440" y="777240"/>
            <a:ext cx="10058400" cy="548640"/>
          </a:xfrm>
          <a:prstGeom prst="rect">
            <a:avLst/>
          </a:prstGeom>
          <a:noFill/>
          <a:ln/>
        </p:spPr>
        <p:txBody>
          <a:bodyPr wrap="square" rtlCol="0" anchor="ctr"/>
          <a:lstStyle/>
          <a:p>
            <a:pPr marL="0" indent="0">
              <a:buNone/>
            </a:pPr>
            <a:r>
              <a:rPr lang="en-US" sz="2700" b="1" dirty="0">
                <a:solidFill>
                  <a:srgbClr val="1F2C27"/>
                </a:solidFill>
                <a:latin typeface="Cambria" pitchFamily="34" charset="0"/>
                <a:ea typeface="Cambria" pitchFamily="34" charset="-122"/>
                <a:cs typeface="Cambria" pitchFamily="34" charset="-120"/>
              </a:rPr>
              <a:t>Authentication &amp; Role Management</a:t>
            </a:r>
            <a:endParaRPr lang="en-US" sz="2700" dirty="0"/>
          </a:p>
        </p:txBody>
      </p:sp>
      <p:sp>
        <p:nvSpPr>
          <p:cNvPr id="6" name="Text 4"/>
          <p:cNvSpPr/>
          <p:nvPr/>
        </p:nvSpPr>
        <p:spPr>
          <a:xfrm>
            <a:off x="548640" y="1600200"/>
            <a:ext cx="5486400" cy="4480560"/>
          </a:xfrm>
          <a:prstGeom prst="rect">
            <a:avLst/>
          </a:prstGeom>
          <a:noFill/>
          <a:ln/>
        </p:spPr>
        <p:txBody>
          <a:bodyPr wrap="square" rtlCol="0" anchor="t"/>
          <a:lstStyle/>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Split-login routing for Adopter vs Administrator, each verified against its own table.</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Registration captures name, email, phone, and a SHA-256 hashed password.</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Email verification codes and password recovery sent via SMTP.</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Admins can elevate an adopter to admin, migrating their record between tables.</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Role-based menus expose only the modules each role is authorized to see.</a:t>
            </a:r>
            <a:endParaRPr lang="en-US" sz="1350" dirty="0"/>
          </a:p>
        </p:txBody>
      </p:sp>
      <p:sp>
        <p:nvSpPr>
          <p:cNvPr id="7" name="Text 5"/>
          <p:cNvSpPr/>
          <p:nvPr/>
        </p:nvSpPr>
        <p:spPr>
          <a:xfrm>
            <a:off x="6355080" y="1600200"/>
            <a:ext cx="521208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Password hashing &amp; verification</a:t>
            </a:r>
            <a:endParaRPr lang="en-US" sz="1400" dirty="0"/>
          </a:p>
        </p:txBody>
      </p:sp>
      <p:sp>
        <p:nvSpPr>
          <p:cNvPr id="8" name="Shape 6"/>
          <p:cNvSpPr/>
          <p:nvPr/>
        </p:nvSpPr>
        <p:spPr>
          <a:xfrm>
            <a:off x="6355080" y="1965960"/>
            <a:ext cx="5257800" cy="1965960"/>
          </a:xfrm>
          <a:prstGeom prst="roundRect">
            <a:avLst>
              <a:gd name="adj" fmla="val 5581"/>
            </a:avLst>
          </a:prstGeom>
          <a:solidFill>
            <a:srgbClr val="22302B"/>
          </a:solidFill>
          <a:ln/>
          <a:effectLst>
            <a:outerShdw blurRad="101600" dist="38100" dir="5400000" algn="bl" rotWithShape="0">
              <a:srgbClr val="000000">
                <a:alpha val="35000"/>
              </a:srgbClr>
            </a:outerShdw>
          </a:effectLst>
        </p:spPr>
      </p:sp>
      <p:sp>
        <p:nvSpPr>
          <p:cNvPr id="9" name="Shape 7"/>
          <p:cNvSpPr/>
          <p:nvPr/>
        </p:nvSpPr>
        <p:spPr>
          <a:xfrm>
            <a:off x="6556248" y="2112264"/>
            <a:ext cx="91440" cy="91440"/>
          </a:xfrm>
          <a:prstGeom prst="ellipse">
            <a:avLst/>
          </a:prstGeom>
          <a:solidFill>
            <a:srgbClr val="E4737A"/>
          </a:solidFill>
          <a:ln/>
        </p:spPr>
      </p:sp>
      <p:sp>
        <p:nvSpPr>
          <p:cNvPr id="10" name="Shape 8"/>
          <p:cNvSpPr/>
          <p:nvPr/>
        </p:nvSpPr>
        <p:spPr>
          <a:xfrm>
            <a:off x="6720840" y="2112264"/>
            <a:ext cx="91440" cy="91440"/>
          </a:xfrm>
          <a:prstGeom prst="ellipse">
            <a:avLst/>
          </a:prstGeom>
          <a:solidFill>
            <a:srgbClr val="E8C468"/>
          </a:solidFill>
          <a:ln/>
        </p:spPr>
      </p:sp>
      <p:sp>
        <p:nvSpPr>
          <p:cNvPr id="11" name="Shape 9"/>
          <p:cNvSpPr/>
          <p:nvPr/>
        </p:nvSpPr>
        <p:spPr>
          <a:xfrm>
            <a:off x="6885432" y="2112264"/>
            <a:ext cx="91440" cy="91440"/>
          </a:xfrm>
          <a:prstGeom prst="ellipse">
            <a:avLst/>
          </a:prstGeom>
          <a:solidFill>
            <a:srgbClr val="84B59F"/>
          </a:solidFill>
          <a:ln/>
        </p:spPr>
      </p:sp>
      <p:sp>
        <p:nvSpPr>
          <p:cNvPr id="12" name="Text 10"/>
          <p:cNvSpPr/>
          <p:nvPr/>
        </p:nvSpPr>
        <p:spPr>
          <a:xfrm>
            <a:off x="6556248" y="2350008"/>
            <a:ext cx="4855464" cy="143560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def hash_password(password):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return hashlib.sha256(</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password.encode()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).hexdigest()</a:t>
            </a:r>
            <a:endParaRPr lang="en-US" sz="1150" dirty="0"/>
          </a:p>
          <a:p>
            <a:pPr marL="0" indent="0">
              <a:lnSpc>
                <a:spcPct val="108000"/>
              </a:lnSpc>
              <a:buNone/>
            </a:pP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def verify_password(password, hashed):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return hash_password(password) == hashed</a:t>
            </a:r>
            <a:endParaRPr lang="en-US" sz="1150" dirty="0"/>
          </a:p>
        </p:txBody>
      </p:sp>
      <p:sp>
        <p:nvSpPr>
          <p:cNvPr id="13" name="Text 11"/>
          <p:cNvSpPr/>
          <p:nvPr/>
        </p:nvSpPr>
        <p:spPr>
          <a:xfrm>
            <a:off x="6355080" y="4114800"/>
            <a:ext cx="521208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Access rules per role</a:t>
            </a:r>
            <a:endParaRPr lang="en-US" sz="1400" dirty="0"/>
          </a:p>
        </p:txBody>
      </p:sp>
      <p:sp>
        <p:nvSpPr>
          <p:cNvPr id="14" name="Shape 12"/>
          <p:cNvSpPr/>
          <p:nvPr/>
        </p:nvSpPr>
        <p:spPr>
          <a:xfrm>
            <a:off x="6355080" y="4480560"/>
            <a:ext cx="5257800" cy="1554480"/>
          </a:xfrm>
          <a:prstGeom prst="roundRect">
            <a:avLst>
              <a:gd name="adj" fmla="val 7059"/>
            </a:avLst>
          </a:prstGeom>
          <a:solidFill>
            <a:srgbClr val="22302B"/>
          </a:solidFill>
          <a:ln/>
          <a:effectLst>
            <a:outerShdw blurRad="101600" dist="38100" dir="5400000" algn="bl" rotWithShape="0">
              <a:srgbClr val="000000">
                <a:alpha val="35000"/>
              </a:srgbClr>
            </a:outerShdw>
          </a:effectLst>
        </p:spPr>
      </p:sp>
      <p:sp>
        <p:nvSpPr>
          <p:cNvPr id="15" name="Shape 13"/>
          <p:cNvSpPr/>
          <p:nvPr/>
        </p:nvSpPr>
        <p:spPr>
          <a:xfrm>
            <a:off x="6556248" y="4626864"/>
            <a:ext cx="91440" cy="91440"/>
          </a:xfrm>
          <a:prstGeom prst="ellipse">
            <a:avLst/>
          </a:prstGeom>
          <a:solidFill>
            <a:srgbClr val="E4737A"/>
          </a:solidFill>
          <a:ln/>
        </p:spPr>
      </p:sp>
      <p:sp>
        <p:nvSpPr>
          <p:cNvPr id="16" name="Shape 14"/>
          <p:cNvSpPr/>
          <p:nvPr/>
        </p:nvSpPr>
        <p:spPr>
          <a:xfrm>
            <a:off x="6720840" y="4626864"/>
            <a:ext cx="91440" cy="91440"/>
          </a:xfrm>
          <a:prstGeom prst="ellipse">
            <a:avLst/>
          </a:prstGeom>
          <a:solidFill>
            <a:srgbClr val="E8C468"/>
          </a:solidFill>
          <a:ln/>
        </p:spPr>
      </p:sp>
      <p:sp>
        <p:nvSpPr>
          <p:cNvPr id="17" name="Shape 15"/>
          <p:cNvSpPr/>
          <p:nvPr/>
        </p:nvSpPr>
        <p:spPr>
          <a:xfrm>
            <a:off x="6885432" y="4626864"/>
            <a:ext cx="91440" cy="91440"/>
          </a:xfrm>
          <a:prstGeom prst="ellipse">
            <a:avLst/>
          </a:prstGeom>
          <a:solidFill>
            <a:srgbClr val="84B59F"/>
          </a:solidFill>
          <a:ln/>
        </p:spPr>
      </p:sp>
      <p:sp>
        <p:nvSpPr>
          <p:cNvPr id="18" name="Text 16"/>
          <p:cNvSpPr/>
          <p:nvPr/>
        </p:nvSpPr>
        <p:spPr>
          <a:xfrm>
            <a:off x="6556248" y="4864608"/>
            <a:ext cx="4855464" cy="102412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ROLE_PERMISSIONS = {</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"admin":   [1, 2, 3, 4, 5, 6],</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"adopter": [1, 2, 3, 4, 5],</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a:t>
            </a:r>
            <a:endParaRPr lang="en-US" sz="1150" dirty="0"/>
          </a:p>
        </p:txBody>
      </p:sp>
      <p:sp>
        <p:nvSpPr>
          <p:cNvPr id="19" name="Text 17"/>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20" name="Text 18"/>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MODULES 2 &amp; 3</a:t>
            </a:r>
            <a:endParaRPr lang="en-US" sz="1200" dirty="0"/>
          </a:p>
        </p:txBody>
      </p:sp>
      <p:sp>
        <p:nvSpPr>
          <p:cNvPr id="3" name="Text 1"/>
          <p:cNvSpPr/>
          <p:nvPr/>
        </p:nvSpPr>
        <p:spPr>
          <a:xfrm>
            <a:off x="548640" y="731520"/>
            <a:ext cx="10058400" cy="548640"/>
          </a:xfrm>
          <a:prstGeom prst="rect">
            <a:avLst/>
          </a:prstGeom>
          <a:noFill/>
          <a:ln/>
        </p:spPr>
        <p:txBody>
          <a:bodyPr wrap="square" rtlCol="0" anchor="ctr"/>
          <a:lstStyle/>
          <a:p>
            <a:pPr marL="0" indent="0">
              <a:buNone/>
            </a:pPr>
            <a:r>
              <a:rPr lang="en-US" sz="2800" b="1" dirty="0">
                <a:solidFill>
                  <a:srgbClr val="1F2C27"/>
                </a:solidFill>
                <a:latin typeface="Cambria" pitchFamily="34" charset="0"/>
                <a:ea typeface="Cambria" pitchFamily="34" charset="-122"/>
                <a:cs typeface="Cambria" pitchFamily="34" charset="-120"/>
              </a:rPr>
              <a:t>Inventory management and discovery</a:t>
            </a:r>
            <a:endParaRPr lang="en-US" sz="2800" dirty="0"/>
          </a:p>
        </p:txBody>
      </p:sp>
      <p:sp>
        <p:nvSpPr>
          <p:cNvPr id="4" name="Shape 2"/>
          <p:cNvSpPr/>
          <p:nvPr/>
        </p:nvSpPr>
        <p:spPr>
          <a:xfrm>
            <a:off x="548640" y="1508760"/>
            <a:ext cx="5349240" cy="4617720"/>
          </a:xfrm>
          <a:prstGeom prst="roundRect">
            <a:avLst>
              <a:gd name="adj" fmla="val 1980"/>
            </a:avLst>
          </a:prstGeom>
          <a:solidFill>
            <a:srgbClr val="FFFFFF"/>
          </a:solidFill>
          <a:ln w="12700">
            <a:solidFill>
              <a:srgbClr val="E2ECE7"/>
            </a:solidFill>
            <a:prstDash val="solid"/>
          </a:ln>
        </p:spPr>
      </p:sp>
      <p:sp>
        <p:nvSpPr>
          <p:cNvPr id="5" name="Shape 3"/>
          <p:cNvSpPr/>
          <p:nvPr/>
        </p:nvSpPr>
        <p:spPr>
          <a:xfrm>
            <a:off x="822960" y="1783080"/>
            <a:ext cx="502920" cy="502920"/>
          </a:xfrm>
          <a:prstGeom prst="ellipse">
            <a:avLst/>
          </a:prstGeom>
          <a:solidFill>
            <a:srgbClr val="69A297"/>
          </a:solidFill>
          <a:ln/>
        </p:spPr>
      </p:sp>
      <p:sp>
        <p:nvSpPr>
          <p:cNvPr id="6" name="Text 4"/>
          <p:cNvSpPr/>
          <p:nvPr/>
        </p:nvSpPr>
        <p:spPr>
          <a:xfrm>
            <a:off x="822960" y="178308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7" name="Text 5"/>
          <p:cNvSpPr/>
          <p:nvPr/>
        </p:nvSpPr>
        <p:spPr>
          <a:xfrm>
            <a:off x="1508760" y="1810512"/>
            <a:ext cx="4206240" cy="36576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Pet Inventory &amp; Listing</a:t>
            </a:r>
            <a:endParaRPr lang="en-US" sz="1600" dirty="0"/>
          </a:p>
        </p:txBody>
      </p:sp>
      <p:sp>
        <p:nvSpPr>
          <p:cNvPr id="8" name="Text 6"/>
          <p:cNvSpPr/>
          <p:nvPr/>
        </p:nvSpPr>
        <p:spPr>
          <a:xfrm>
            <a:off x="822960" y="2286000"/>
            <a:ext cx="4846320" cy="274320"/>
          </a:xfrm>
          <a:prstGeom prst="rect">
            <a:avLst/>
          </a:prstGeom>
          <a:noFill/>
          <a:ln/>
        </p:spPr>
        <p:txBody>
          <a:bodyPr wrap="square" rtlCol="0" anchor="ctr"/>
          <a:lstStyle/>
          <a:p>
            <a:pPr marL="0" indent="0">
              <a:buNone/>
            </a:pPr>
            <a:r>
              <a:rPr lang="en-US" sz="1050" i="1" dirty="0">
                <a:solidFill>
                  <a:srgbClr val="5C6B64"/>
                </a:solidFill>
                <a:latin typeface="Calibri" pitchFamily="34" charset="0"/>
                <a:ea typeface="Calibri" pitchFamily="34" charset="-122"/>
                <a:cs typeface="Calibri" pitchFamily="34" charset="-120"/>
              </a:rPr>
              <a:t>Owner: Shravani  ·  Admin full access, Adopter read-only</a:t>
            </a:r>
            <a:endParaRPr lang="en-US" sz="1050" dirty="0"/>
          </a:p>
        </p:txBody>
      </p:sp>
      <p:sp>
        <p:nvSpPr>
          <p:cNvPr id="9" name="Text 7"/>
          <p:cNvSpPr/>
          <p:nvPr/>
        </p:nvSpPr>
        <p:spPr>
          <a:xfrm>
            <a:off x="822960" y="2697480"/>
            <a:ext cx="4846320" cy="3200400"/>
          </a:xfrm>
          <a:prstGeom prst="rect">
            <a:avLst/>
          </a:prstGeom>
          <a:noFill/>
          <a:ln/>
        </p:spPr>
        <p:txBody>
          <a:bodyPr wrap="square" rtlCol="0" anchor="t"/>
          <a:lstStyle/>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Add pets with name, species, breed, age, gender, and shelter assignment</a:t>
            </a:r>
            <a:endParaRPr lang="en-US" sz="1250" dirty="0"/>
          </a:p>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Update health status: Healthy, Needs Care, or Special Needs</a:t>
            </a:r>
            <a:endParaRPr lang="en-US" sz="1250" dirty="0"/>
          </a:p>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Track live status: Available, Pending, or Adopted</a:t>
            </a:r>
            <a:endParaRPr lang="en-US" sz="1250" dirty="0"/>
          </a:p>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Edit records, or delete a listing with confirmation</a:t>
            </a:r>
            <a:endParaRPr lang="en-US" sz="1250" dirty="0"/>
          </a:p>
        </p:txBody>
      </p:sp>
      <p:sp>
        <p:nvSpPr>
          <p:cNvPr id="10" name="Shape 8"/>
          <p:cNvSpPr/>
          <p:nvPr/>
        </p:nvSpPr>
        <p:spPr>
          <a:xfrm>
            <a:off x="6080760" y="1508760"/>
            <a:ext cx="5532120" cy="4617720"/>
          </a:xfrm>
          <a:prstGeom prst="roundRect">
            <a:avLst>
              <a:gd name="adj" fmla="val 1980"/>
            </a:avLst>
          </a:prstGeom>
          <a:solidFill>
            <a:srgbClr val="FFFFFF"/>
          </a:solidFill>
          <a:ln w="12700">
            <a:solidFill>
              <a:srgbClr val="E2ECE7"/>
            </a:solidFill>
            <a:prstDash val="solid"/>
          </a:ln>
        </p:spPr>
      </p:sp>
      <p:sp>
        <p:nvSpPr>
          <p:cNvPr id="11" name="Shape 9"/>
          <p:cNvSpPr/>
          <p:nvPr/>
        </p:nvSpPr>
        <p:spPr>
          <a:xfrm>
            <a:off x="6355080" y="1783080"/>
            <a:ext cx="502920" cy="502920"/>
          </a:xfrm>
          <a:prstGeom prst="ellipse">
            <a:avLst/>
          </a:prstGeom>
          <a:solidFill>
            <a:srgbClr val="69A297"/>
          </a:solidFill>
          <a:ln/>
        </p:spPr>
      </p:sp>
      <p:sp>
        <p:nvSpPr>
          <p:cNvPr id="12" name="Text 10"/>
          <p:cNvSpPr/>
          <p:nvPr/>
        </p:nvSpPr>
        <p:spPr>
          <a:xfrm>
            <a:off x="6355080" y="178308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7040880" y="1810512"/>
            <a:ext cx="4297680" cy="365760"/>
          </a:xfrm>
          <a:prstGeom prst="rect">
            <a:avLst/>
          </a:prstGeom>
          <a:noFill/>
          <a:ln/>
        </p:spPr>
        <p:txBody>
          <a:bodyPr wrap="square" rtlCol="0" anchor="ctr"/>
          <a:lstStyle/>
          <a:p>
            <a:pPr marL="0" indent="0">
              <a:buNone/>
            </a:pPr>
            <a:r>
              <a:rPr lang="en-US" sz="1600" b="1" dirty="0">
                <a:solidFill>
                  <a:srgbClr val="1F2C27"/>
                </a:solidFill>
                <a:latin typeface="Cambria" pitchFamily="34" charset="0"/>
                <a:ea typeface="Cambria" pitchFamily="34" charset="-122"/>
                <a:cs typeface="Cambria" pitchFamily="34" charset="-120"/>
              </a:rPr>
              <a:t>Pet Search &amp; Discovery</a:t>
            </a:r>
            <a:endParaRPr lang="en-US" sz="1600" dirty="0"/>
          </a:p>
        </p:txBody>
      </p:sp>
      <p:sp>
        <p:nvSpPr>
          <p:cNvPr id="14" name="Text 12"/>
          <p:cNvSpPr/>
          <p:nvPr/>
        </p:nvSpPr>
        <p:spPr>
          <a:xfrm>
            <a:off x="6355080" y="2286000"/>
            <a:ext cx="5029200" cy="274320"/>
          </a:xfrm>
          <a:prstGeom prst="rect">
            <a:avLst/>
          </a:prstGeom>
          <a:noFill/>
          <a:ln/>
        </p:spPr>
        <p:txBody>
          <a:bodyPr wrap="square" rtlCol="0" anchor="ctr"/>
          <a:lstStyle/>
          <a:p>
            <a:pPr marL="0" indent="0">
              <a:buNone/>
            </a:pPr>
            <a:r>
              <a:rPr lang="en-US" sz="1050" i="1" dirty="0">
                <a:solidFill>
                  <a:srgbClr val="5C6B64"/>
                </a:solidFill>
                <a:latin typeface="Calibri" pitchFamily="34" charset="0"/>
                <a:ea typeface="Calibri" pitchFamily="34" charset="-122"/>
                <a:cs typeface="Calibri" pitchFamily="34" charset="-120"/>
              </a:rPr>
              <a:t>Owner: Kadambari  ·  Adopters see available pets only</a:t>
            </a:r>
            <a:endParaRPr lang="en-US" sz="1050" dirty="0"/>
          </a:p>
        </p:txBody>
      </p:sp>
      <p:sp>
        <p:nvSpPr>
          <p:cNvPr id="15" name="Text 13"/>
          <p:cNvSpPr/>
          <p:nvPr/>
        </p:nvSpPr>
        <p:spPr>
          <a:xfrm>
            <a:off x="6355080" y="2697480"/>
            <a:ext cx="5029200" cy="1737360"/>
          </a:xfrm>
          <a:prstGeom prst="rect">
            <a:avLst/>
          </a:prstGeom>
          <a:noFill/>
          <a:ln/>
        </p:spPr>
        <p:txBody>
          <a:bodyPr wrap="square" rtlCol="0" anchor="t"/>
          <a:lstStyle/>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Keyword search by pet name or breed</a:t>
            </a:r>
            <a:endParaRPr lang="en-US" sz="1250" dirty="0"/>
          </a:p>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Filter by species, age group (puppy/kitten, adult, senior), or shelter location</a:t>
            </a:r>
            <a:endParaRPr lang="en-US" sz="1250" dirty="0"/>
          </a:p>
          <a:p>
            <a:pPr marL="342900" indent="-342900">
              <a:lnSpc>
                <a:spcPct val="120000"/>
              </a:lnSpc>
              <a:spcAft>
                <a:spcPts val="800"/>
              </a:spcAft>
              <a:buSzPct val="100000"/>
              <a:buChar char="•"/>
            </a:pPr>
            <a:r>
              <a:rPr lang="en-US" sz="1250" dirty="0">
                <a:solidFill>
                  <a:srgbClr val="1F2C27"/>
                </a:solidFill>
                <a:latin typeface="Calibri" pitchFamily="34" charset="0"/>
                <a:ea typeface="Calibri" pitchFamily="34" charset="-122"/>
                <a:cs typeface="Calibri" pitchFamily="34" charset="-120"/>
              </a:rPr>
              <a:t>Results show basic info; a detailed preview reveals medical and shelter history</a:t>
            </a:r>
            <a:endParaRPr lang="en-US" sz="1250" dirty="0"/>
          </a:p>
        </p:txBody>
      </p:sp>
      <p:sp>
        <p:nvSpPr>
          <p:cNvPr id="16" name="Shape 14"/>
          <p:cNvSpPr/>
          <p:nvPr/>
        </p:nvSpPr>
        <p:spPr>
          <a:xfrm>
            <a:off x="6355080" y="4480560"/>
            <a:ext cx="5074920" cy="1508760"/>
          </a:xfrm>
          <a:prstGeom prst="roundRect">
            <a:avLst>
              <a:gd name="adj" fmla="val 7273"/>
            </a:avLst>
          </a:prstGeom>
          <a:solidFill>
            <a:srgbClr val="22302B"/>
          </a:solidFill>
          <a:ln/>
          <a:effectLst>
            <a:outerShdw blurRad="101600" dist="38100" dir="5400000" algn="bl" rotWithShape="0">
              <a:srgbClr val="000000">
                <a:alpha val="35000"/>
              </a:srgbClr>
            </a:outerShdw>
          </a:effectLst>
        </p:spPr>
      </p:sp>
      <p:sp>
        <p:nvSpPr>
          <p:cNvPr id="17" name="Shape 15"/>
          <p:cNvSpPr/>
          <p:nvPr/>
        </p:nvSpPr>
        <p:spPr>
          <a:xfrm>
            <a:off x="6556248" y="4626864"/>
            <a:ext cx="91440" cy="91440"/>
          </a:xfrm>
          <a:prstGeom prst="ellipse">
            <a:avLst/>
          </a:prstGeom>
          <a:solidFill>
            <a:srgbClr val="E4737A"/>
          </a:solidFill>
          <a:ln/>
        </p:spPr>
      </p:sp>
      <p:sp>
        <p:nvSpPr>
          <p:cNvPr id="18" name="Shape 16"/>
          <p:cNvSpPr/>
          <p:nvPr/>
        </p:nvSpPr>
        <p:spPr>
          <a:xfrm>
            <a:off x="6720840" y="4626864"/>
            <a:ext cx="91440" cy="91440"/>
          </a:xfrm>
          <a:prstGeom prst="ellipse">
            <a:avLst/>
          </a:prstGeom>
          <a:solidFill>
            <a:srgbClr val="E8C468"/>
          </a:solidFill>
          <a:ln/>
        </p:spPr>
      </p:sp>
      <p:sp>
        <p:nvSpPr>
          <p:cNvPr id="19" name="Shape 17"/>
          <p:cNvSpPr/>
          <p:nvPr/>
        </p:nvSpPr>
        <p:spPr>
          <a:xfrm>
            <a:off x="6885432" y="4626864"/>
            <a:ext cx="91440" cy="91440"/>
          </a:xfrm>
          <a:prstGeom prst="ellipse">
            <a:avLst/>
          </a:prstGeom>
          <a:solidFill>
            <a:srgbClr val="84B59F"/>
          </a:solidFill>
          <a:ln/>
        </p:spPr>
      </p:sp>
      <p:sp>
        <p:nvSpPr>
          <p:cNvPr id="20" name="Text 18"/>
          <p:cNvSpPr/>
          <p:nvPr/>
        </p:nvSpPr>
        <p:spPr>
          <a:xfrm>
            <a:off x="6556248" y="4864608"/>
            <a:ext cx="4672584" cy="97840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cur.execute("""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SELECT * FROM Pets</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WHERE Species = ? AND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Adoption_Status = 'Available'</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(species,))</a:t>
            </a:r>
            <a:endParaRPr lang="en-US" sz="1150" dirty="0"/>
          </a:p>
        </p:txBody>
      </p:sp>
      <p:sp>
        <p:nvSpPr>
          <p:cNvPr id="21" name="Text 19"/>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22" name="Text 20"/>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50808E"/>
          </a:solidFill>
          <a:ln/>
        </p:spPr>
      </p:sp>
      <p:sp>
        <p:nvSpPr>
          <p:cNvPr id="3" name="Text 1"/>
          <p:cNvSpPr/>
          <p:nvPr/>
        </p:nvSpPr>
        <p:spPr>
          <a:xfrm>
            <a:off x="548640" y="5029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234440" y="50292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MODULE 4  ·  OWNER: AVISHKAR</a:t>
            </a:r>
            <a:endParaRPr lang="en-US" sz="1200" dirty="0"/>
          </a:p>
        </p:txBody>
      </p:sp>
      <p:sp>
        <p:nvSpPr>
          <p:cNvPr id="5" name="Text 3"/>
          <p:cNvSpPr/>
          <p:nvPr/>
        </p:nvSpPr>
        <p:spPr>
          <a:xfrm>
            <a:off x="1234440" y="777240"/>
            <a:ext cx="10058400" cy="548640"/>
          </a:xfrm>
          <a:prstGeom prst="rect">
            <a:avLst/>
          </a:prstGeom>
          <a:noFill/>
          <a:ln/>
        </p:spPr>
        <p:txBody>
          <a:bodyPr wrap="square" rtlCol="0" anchor="ctr"/>
          <a:lstStyle/>
          <a:p>
            <a:pPr marL="0" indent="0">
              <a:buNone/>
            </a:pPr>
            <a:r>
              <a:rPr lang="en-US" sz="2700" b="1" dirty="0">
                <a:solidFill>
                  <a:srgbClr val="1F2C27"/>
                </a:solidFill>
                <a:latin typeface="Cambria" pitchFamily="34" charset="0"/>
                <a:ea typeface="Cambria" pitchFamily="34" charset="-122"/>
                <a:cs typeface="Cambria" pitchFamily="34" charset="-120"/>
              </a:rPr>
              <a:t>Vaccination &amp; Medical Tracking</a:t>
            </a:r>
            <a:endParaRPr lang="en-US" sz="2700" dirty="0"/>
          </a:p>
        </p:txBody>
      </p:sp>
      <p:sp>
        <p:nvSpPr>
          <p:cNvPr id="6" name="Text 4"/>
          <p:cNvSpPr/>
          <p:nvPr/>
        </p:nvSpPr>
        <p:spPr>
          <a:xfrm>
            <a:off x="548640" y="1600200"/>
            <a:ext cx="5394960" cy="2743200"/>
          </a:xfrm>
          <a:prstGeom prst="rect">
            <a:avLst/>
          </a:prstGeom>
          <a:noFill/>
          <a:ln/>
        </p:spPr>
        <p:txBody>
          <a:bodyPr wrap="square" rtlCol="0" anchor="t"/>
          <a:lstStyle/>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One-to-many link from each pet to its full vaccination history.</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Records vaccine name, administration date, next due date, and vet.</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Due-date alerts surface upcoming and overdue vaccinations on demand.</a:t>
            </a:r>
            <a:endParaRPr lang="en-US" sz="1350" dirty="0"/>
          </a:p>
          <a:p>
            <a:pPr marL="342900" indent="-342900">
              <a:lnSpc>
                <a:spcPct val="120000"/>
              </a:lnSpc>
              <a:spcAft>
                <a:spcPts val="1000"/>
              </a:spcAft>
              <a:buSzPct val="100000"/>
              <a:buChar char="•"/>
            </a:pPr>
            <a:r>
              <a:rPr lang="en-US" sz="1350" dirty="0">
                <a:solidFill>
                  <a:srgbClr val="1F2C27"/>
                </a:solidFill>
                <a:latin typeface="Calibri" pitchFamily="34" charset="0"/>
                <a:ea typeface="Calibri" pitchFamily="34" charset="-122"/>
                <a:cs typeface="Calibri" pitchFamily="34" charset="-120"/>
              </a:rPr>
              <a:t>Admins can flag a pet as medically ineligible for adoption.</a:t>
            </a:r>
            <a:endParaRPr lang="en-US" sz="1350" dirty="0"/>
          </a:p>
        </p:txBody>
      </p:sp>
      <p:sp>
        <p:nvSpPr>
          <p:cNvPr id="7" name="Shape 5"/>
          <p:cNvSpPr/>
          <p:nvPr/>
        </p:nvSpPr>
        <p:spPr>
          <a:xfrm>
            <a:off x="548640" y="4434840"/>
            <a:ext cx="5394960" cy="1600200"/>
          </a:xfrm>
          <a:prstGeom prst="roundRect">
            <a:avLst>
              <a:gd name="adj" fmla="val 5714"/>
            </a:avLst>
          </a:prstGeom>
          <a:solidFill>
            <a:srgbClr val="50808E"/>
          </a:solidFill>
          <a:ln/>
        </p:spPr>
      </p:sp>
      <p:sp>
        <p:nvSpPr>
          <p:cNvPr id="8" name="Text 6"/>
          <p:cNvSpPr/>
          <p:nvPr/>
        </p:nvSpPr>
        <p:spPr>
          <a:xfrm>
            <a:off x="777240" y="4572000"/>
            <a:ext cx="4937760" cy="274320"/>
          </a:xfrm>
          <a:prstGeom prst="rect">
            <a:avLst/>
          </a:prstGeom>
          <a:noFill/>
          <a:ln/>
        </p:spPr>
        <p:txBody>
          <a:bodyPr wrap="square" rtlCol="0" anchor="ctr"/>
          <a:lstStyle/>
          <a:p>
            <a:pPr marL="0" indent="0">
              <a:buNone/>
            </a:pPr>
            <a:r>
              <a:rPr lang="en-US" sz="1100" b="1" kern="0" spc="100" dirty="0">
                <a:solidFill>
                  <a:srgbClr val="CFE3DC"/>
                </a:solidFill>
                <a:latin typeface="Calibri" pitchFamily="34" charset="0"/>
                <a:ea typeface="Calibri" pitchFamily="34" charset="-122"/>
                <a:cs typeface="Calibri" pitchFamily="34" charset="-120"/>
              </a:rPr>
              <a:t>Fixed in this version</a:t>
            </a:r>
            <a:endParaRPr lang="en-US" sz="1100" dirty="0"/>
          </a:p>
        </p:txBody>
      </p:sp>
      <p:sp>
        <p:nvSpPr>
          <p:cNvPr id="9" name="Text 7"/>
          <p:cNvSpPr/>
          <p:nvPr/>
        </p:nvSpPr>
        <p:spPr>
          <a:xfrm>
            <a:off x="777240" y="4864608"/>
            <a:ext cx="4937760" cy="1097280"/>
          </a:xfrm>
          <a:prstGeom prst="rect">
            <a:avLst/>
          </a:prstGeom>
          <a:noFill/>
          <a:ln/>
        </p:spPr>
        <p:txBody>
          <a:bodyPr wrap="square" rtlCol="0" anchor="t"/>
          <a:lstStyle/>
          <a:p>
            <a:pPr marL="0" indent="0">
              <a:lnSpc>
                <a:spcPct val="125000"/>
              </a:lnSpc>
              <a:buNone/>
            </a:pPr>
            <a:r>
              <a:rPr lang="en-US" sz="1200" dirty="0">
                <a:solidFill>
                  <a:srgbClr val="FFFFFF"/>
                </a:solidFill>
                <a:latin typeface="Calibri" pitchFamily="34" charset="0"/>
                <a:ea typeface="Calibri" pitchFamily="34" charset="-122"/>
                <a:cs typeface="Calibri" pitchFamily="34" charset="-120"/>
              </a:rPr>
              <a:t>Flagging a pet medically ineligible used to set the same “Pending” status as a genuine adoption request — so it could wrongly appear in the pending-requests queue. It now gets its own distinct “Unavailable” status.</a:t>
            </a:r>
            <a:endParaRPr lang="en-US" sz="1200" dirty="0"/>
          </a:p>
        </p:txBody>
      </p:sp>
      <p:sp>
        <p:nvSpPr>
          <p:cNvPr id="10" name="Text 8"/>
          <p:cNvSpPr/>
          <p:nvPr/>
        </p:nvSpPr>
        <p:spPr>
          <a:xfrm>
            <a:off x="6217920" y="1600200"/>
            <a:ext cx="521208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Due-date alert query</a:t>
            </a:r>
            <a:endParaRPr lang="en-US" sz="1400" dirty="0"/>
          </a:p>
        </p:txBody>
      </p:sp>
      <p:sp>
        <p:nvSpPr>
          <p:cNvPr id="11" name="Shape 9"/>
          <p:cNvSpPr/>
          <p:nvPr/>
        </p:nvSpPr>
        <p:spPr>
          <a:xfrm>
            <a:off x="6217920" y="1965960"/>
            <a:ext cx="5394960" cy="4069080"/>
          </a:xfrm>
          <a:prstGeom prst="roundRect">
            <a:avLst>
              <a:gd name="adj" fmla="val 2697"/>
            </a:avLst>
          </a:prstGeom>
          <a:solidFill>
            <a:srgbClr val="22302B"/>
          </a:solidFill>
          <a:ln/>
          <a:effectLst>
            <a:outerShdw blurRad="101600" dist="38100" dir="5400000" algn="bl" rotWithShape="0">
              <a:srgbClr val="000000">
                <a:alpha val="35000"/>
              </a:srgbClr>
            </a:outerShdw>
          </a:effectLst>
        </p:spPr>
      </p:sp>
      <p:sp>
        <p:nvSpPr>
          <p:cNvPr id="12" name="Shape 10"/>
          <p:cNvSpPr/>
          <p:nvPr/>
        </p:nvSpPr>
        <p:spPr>
          <a:xfrm>
            <a:off x="6419088" y="2112264"/>
            <a:ext cx="91440" cy="91440"/>
          </a:xfrm>
          <a:prstGeom prst="ellipse">
            <a:avLst/>
          </a:prstGeom>
          <a:solidFill>
            <a:srgbClr val="E4737A"/>
          </a:solidFill>
          <a:ln/>
        </p:spPr>
      </p:sp>
      <p:sp>
        <p:nvSpPr>
          <p:cNvPr id="13" name="Shape 11"/>
          <p:cNvSpPr/>
          <p:nvPr/>
        </p:nvSpPr>
        <p:spPr>
          <a:xfrm>
            <a:off x="6583680" y="2112264"/>
            <a:ext cx="91440" cy="91440"/>
          </a:xfrm>
          <a:prstGeom prst="ellipse">
            <a:avLst/>
          </a:prstGeom>
          <a:solidFill>
            <a:srgbClr val="E8C468"/>
          </a:solidFill>
          <a:ln/>
        </p:spPr>
      </p:sp>
      <p:sp>
        <p:nvSpPr>
          <p:cNvPr id="14" name="Shape 12"/>
          <p:cNvSpPr/>
          <p:nvPr/>
        </p:nvSpPr>
        <p:spPr>
          <a:xfrm>
            <a:off x="6748272" y="2112264"/>
            <a:ext cx="91440" cy="91440"/>
          </a:xfrm>
          <a:prstGeom prst="ellipse">
            <a:avLst/>
          </a:prstGeom>
          <a:solidFill>
            <a:srgbClr val="84B59F"/>
          </a:solidFill>
          <a:ln/>
        </p:spPr>
      </p:sp>
      <p:sp>
        <p:nvSpPr>
          <p:cNvPr id="15" name="Text 13"/>
          <p:cNvSpPr/>
          <p:nvPr/>
        </p:nvSpPr>
        <p:spPr>
          <a:xfrm>
            <a:off x="6419088" y="2350008"/>
            <a:ext cx="4992624" cy="353872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def due_date_alerts():</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cutoff = date.today() + timedelta(days=days)</a:t>
            </a:r>
            <a:endParaRPr lang="en-US" sz="1150" dirty="0"/>
          </a:p>
          <a:p>
            <a:pPr marL="0" indent="0">
              <a:lnSpc>
                <a:spcPct val="108000"/>
              </a:lnSpc>
              <a:buNone/>
            </a:pP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cur.execute("""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SELECT p.Name, v.Vaccine_Name,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v.Next_Due_Date,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CASE WHEN v.Next_Due_Date &lt; ?</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THEN 'OVERDUE'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ELSE 'Upcoming' END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FROM Vaccinations v</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LEFT JOIN Pets p ON v.Pet_ID = p.Pet_ID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WHERE v.Next_Due_Date &lt;= ?</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ORDER BY v.Next_Due_Date ASC</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 (today, cutoff))</a:t>
            </a:r>
            <a:endParaRPr lang="en-US" sz="1150" dirty="0"/>
          </a:p>
        </p:txBody>
      </p:sp>
      <p:sp>
        <p:nvSpPr>
          <p:cNvPr id="16" name="Text 1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17" name="Text 15"/>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50808E"/>
          </a:solidFill>
          <a:ln/>
        </p:spPr>
      </p:sp>
      <p:sp>
        <p:nvSpPr>
          <p:cNvPr id="3" name="Text 1"/>
          <p:cNvSpPr/>
          <p:nvPr/>
        </p:nvSpPr>
        <p:spPr>
          <a:xfrm>
            <a:off x="548640" y="5029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234440" y="50292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MODULE 5  ·  OWNER: NISHTHA</a:t>
            </a:r>
            <a:endParaRPr lang="en-US" sz="1200" dirty="0"/>
          </a:p>
        </p:txBody>
      </p:sp>
      <p:sp>
        <p:nvSpPr>
          <p:cNvPr id="5" name="Text 3"/>
          <p:cNvSpPr/>
          <p:nvPr/>
        </p:nvSpPr>
        <p:spPr>
          <a:xfrm>
            <a:off x="1234440" y="777240"/>
            <a:ext cx="10058400" cy="548640"/>
          </a:xfrm>
          <a:prstGeom prst="rect">
            <a:avLst/>
          </a:prstGeom>
          <a:noFill/>
          <a:ln/>
        </p:spPr>
        <p:txBody>
          <a:bodyPr wrap="square" rtlCol="0" anchor="ctr"/>
          <a:lstStyle/>
          <a:p>
            <a:pPr marL="0" indent="0">
              <a:buNone/>
            </a:pPr>
            <a:r>
              <a:rPr lang="en-US" sz="2700" b="1" dirty="0">
                <a:solidFill>
                  <a:srgbClr val="1F2C27"/>
                </a:solidFill>
                <a:latin typeface="Cambria" pitchFamily="34" charset="0"/>
                <a:ea typeface="Cambria" pitchFamily="34" charset="-122"/>
                <a:cs typeface="Cambria" pitchFamily="34" charset="-120"/>
              </a:rPr>
              <a:t>Adoption Transaction Management</a:t>
            </a:r>
            <a:endParaRPr lang="en-US" sz="2700" dirty="0"/>
          </a:p>
        </p:txBody>
      </p:sp>
      <p:sp>
        <p:nvSpPr>
          <p:cNvPr id="6" name="Text 4"/>
          <p:cNvSpPr/>
          <p:nvPr/>
        </p:nvSpPr>
        <p:spPr>
          <a:xfrm>
            <a:off x="548640" y="1554480"/>
            <a:ext cx="530352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The requester-linking fix</a:t>
            </a:r>
            <a:endParaRPr lang="en-US" sz="1400" dirty="0"/>
          </a:p>
        </p:txBody>
      </p:sp>
      <p:sp>
        <p:nvSpPr>
          <p:cNvPr id="7" name="Text 5"/>
          <p:cNvSpPr/>
          <p:nvPr/>
        </p:nvSpPr>
        <p:spPr>
          <a:xfrm>
            <a:off x="548640" y="1920240"/>
            <a:ext cx="5394960" cy="1463040"/>
          </a:xfrm>
          <a:prstGeom prst="rect">
            <a:avLst/>
          </a:prstGeom>
          <a:noFill/>
          <a:ln/>
        </p:spPr>
        <p:txBody>
          <a:bodyPr wrap="square" rtlCol="0" anchor="t"/>
          <a:lstStyle/>
          <a:p>
            <a:pPr marL="0" indent="0">
              <a:lnSpc>
                <a:spcPct val="130000"/>
              </a:lnSpc>
              <a:buNone/>
            </a:pPr>
            <a:r>
              <a:rPr lang="en-US" sz="1250" b="1" dirty="0">
                <a:solidFill>
                  <a:srgbClr val="50808E"/>
                </a:solidFill>
                <a:latin typeface="Calibri" pitchFamily="34" charset="0"/>
                <a:ea typeface="Calibri" pitchFamily="34" charset="-122"/>
                <a:cs typeface="Calibri" pitchFamily="34" charset="-120"/>
              </a:rPr>
              <a:t>Before: </a:t>
            </a:r>
            <a:r>
              <a:rPr lang="en-US" sz="1250" dirty="0">
                <a:solidFill>
                  <a:srgbClr val="5C6B64"/>
                </a:solidFill>
                <a:latin typeface="Calibri" pitchFamily="34" charset="0"/>
                <a:ea typeface="Calibri" pitchFamily="34" charset="-122"/>
                <a:cs typeface="Calibri" pitchFamily="34" charset="-120"/>
              </a:rPr>
              <a:t>requesting a pet only flipped its status to Pending — nobody was recorded. Admins had to type an adopter's username from memory.</a:t>
            </a:r>
            <a:endParaRPr lang="en-US" sz="1250" dirty="0"/>
          </a:p>
          <a:p>
            <a:pPr marL="0" indent="0">
              <a:lnSpc>
                <a:spcPct val="130000"/>
              </a:lnSpc>
              <a:buNone/>
            </a:pPr>
            <a:r>
              <a:rPr lang="en-US" sz="1250" b="1" dirty="0">
                <a:solidFill>
                  <a:srgbClr val="50808E"/>
                </a:solidFill>
                <a:latin typeface="Calibri" pitchFamily="34" charset="0"/>
                <a:ea typeface="Calibri" pitchFamily="34" charset="-122"/>
                <a:cs typeface="Calibri" pitchFamily="34" charset="-120"/>
              </a:rPr>
              <a:t>After: </a:t>
            </a:r>
            <a:r>
              <a:rPr lang="en-US" sz="1250" dirty="0">
                <a:solidFill>
                  <a:srgbClr val="5C6B64"/>
                </a:solidFill>
                <a:latin typeface="Calibri" pitchFamily="34" charset="0"/>
                <a:ea typeface="Calibri" pitchFamily="34" charset="-122"/>
                <a:cs typeface="Calibri" pitchFamily="34" charset="-120"/>
              </a:rPr>
              <a:t>the requester's ID is stamped on the pet automatically and used — with a confirmation prompt — when the admin approves it.</a:t>
            </a:r>
            <a:endParaRPr lang="en-US" sz="1250" dirty="0"/>
          </a:p>
        </p:txBody>
      </p:sp>
      <p:sp>
        <p:nvSpPr>
          <p:cNvPr id="8" name="Shape 6"/>
          <p:cNvSpPr/>
          <p:nvPr/>
        </p:nvSpPr>
        <p:spPr>
          <a:xfrm>
            <a:off x="548640" y="3520440"/>
            <a:ext cx="5394960" cy="2606040"/>
          </a:xfrm>
          <a:prstGeom prst="roundRect">
            <a:avLst>
              <a:gd name="adj" fmla="val 4211"/>
            </a:avLst>
          </a:prstGeom>
          <a:solidFill>
            <a:srgbClr val="22302B"/>
          </a:solidFill>
          <a:ln/>
          <a:effectLst>
            <a:outerShdw blurRad="101600" dist="38100" dir="5400000" algn="bl" rotWithShape="0">
              <a:srgbClr val="000000">
                <a:alpha val="35000"/>
              </a:srgbClr>
            </a:outerShdw>
          </a:effectLst>
        </p:spPr>
      </p:sp>
      <p:sp>
        <p:nvSpPr>
          <p:cNvPr id="9" name="Shape 7"/>
          <p:cNvSpPr/>
          <p:nvPr/>
        </p:nvSpPr>
        <p:spPr>
          <a:xfrm>
            <a:off x="749808" y="3666744"/>
            <a:ext cx="91440" cy="91440"/>
          </a:xfrm>
          <a:prstGeom prst="ellipse">
            <a:avLst/>
          </a:prstGeom>
          <a:solidFill>
            <a:srgbClr val="E4737A"/>
          </a:solidFill>
          <a:ln/>
        </p:spPr>
      </p:sp>
      <p:sp>
        <p:nvSpPr>
          <p:cNvPr id="10" name="Shape 8"/>
          <p:cNvSpPr/>
          <p:nvPr/>
        </p:nvSpPr>
        <p:spPr>
          <a:xfrm>
            <a:off x="914400" y="3666744"/>
            <a:ext cx="91440" cy="91440"/>
          </a:xfrm>
          <a:prstGeom prst="ellipse">
            <a:avLst/>
          </a:prstGeom>
          <a:solidFill>
            <a:srgbClr val="E8C468"/>
          </a:solidFill>
          <a:ln/>
        </p:spPr>
      </p:sp>
      <p:sp>
        <p:nvSpPr>
          <p:cNvPr id="11" name="Shape 9"/>
          <p:cNvSpPr/>
          <p:nvPr/>
        </p:nvSpPr>
        <p:spPr>
          <a:xfrm>
            <a:off x="1078992" y="3666744"/>
            <a:ext cx="91440" cy="91440"/>
          </a:xfrm>
          <a:prstGeom prst="ellipse">
            <a:avLst/>
          </a:prstGeom>
          <a:solidFill>
            <a:srgbClr val="84B59F"/>
          </a:solidFill>
          <a:ln/>
        </p:spPr>
      </p:sp>
      <p:sp>
        <p:nvSpPr>
          <p:cNvPr id="12" name="Text 10"/>
          <p:cNvSpPr/>
          <p:nvPr/>
        </p:nvSpPr>
        <p:spPr>
          <a:xfrm>
            <a:off x="749808" y="3904488"/>
            <a:ext cx="4992624" cy="207568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request_adoption()</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cur.execute(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"UPDATE Pets SET Adoption_Status='Pending',</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Requested_By = ? WHERE Pet_ID = ?",</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(current_user["Adopter_Id"], pet_id)</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a:t>
            </a:r>
            <a:endParaRPr lang="en-US" sz="1150" dirty="0"/>
          </a:p>
          <a:p>
            <a:pPr marL="0" indent="0">
              <a:lnSpc>
                <a:spcPct val="108000"/>
              </a:lnSpc>
              <a:buNone/>
            </a:pPr>
            <a:endParaRPr lang="en-US" sz="1150" dirty="0"/>
          </a:p>
          <a:p>
            <a:pPr marL="0" indent="0">
              <a:lnSpc>
                <a:spcPct val="108000"/>
              </a:lnSpc>
              <a:buNone/>
            </a:pPr>
            <a:r>
              <a:rPr lang="en-US" sz="1150" dirty="0">
                <a:solidFill>
                  <a:srgbClr val="7C948A"/>
                </a:solidFill>
                <a:latin typeface="Courier New" pitchFamily="34" charset="0"/>
                <a:ea typeface="Courier New" pitchFamily="34" charset="-122"/>
                <a:cs typeface="Courier New" pitchFamily="34" charset="-120"/>
              </a:rPr>
              <a:t># process_adoption() — auto-linked, confirmed</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print(f"Linking to requester: {adopter[1]}")</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confirm = input("Confirm this is correct? (Y/N): ")</a:t>
            </a:r>
            <a:endParaRPr lang="en-US" sz="1150" dirty="0"/>
          </a:p>
        </p:txBody>
      </p:sp>
      <p:sp>
        <p:nvSpPr>
          <p:cNvPr id="13" name="Text 11"/>
          <p:cNvSpPr/>
          <p:nvPr/>
        </p:nvSpPr>
        <p:spPr>
          <a:xfrm>
            <a:off x="6217920" y="1554480"/>
            <a:ext cx="539496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Also handled here</a:t>
            </a:r>
            <a:endParaRPr lang="en-US" sz="1400" dirty="0"/>
          </a:p>
        </p:txBody>
      </p:sp>
      <p:sp>
        <p:nvSpPr>
          <p:cNvPr id="14" name="Shape 12"/>
          <p:cNvSpPr/>
          <p:nvPr/>
        </p:nvSpPr>
        <p:spPr>
          <a:xfrm>
            <a:off x="6217920" y="1965960"/>
            <a:ext cx="5394960" cy="822960"/>
          </a:xfrm>
          <a:prstGeom prst="roundRect">
            <a:avLst>
              <a:gd name="adj" fmla="val 8889"/>
            </a:avLst>
          </a:prstGeom>
          <a:solidFill>
            <a:srgbClr val="FFFFFF"/>
          </a:solidFill>
          <a:ln w="12700">
            <a:solidFill>
              <a:srgbClr val="E2ECE7"/>
            </a:solidFill>
            <a:prstDash val="solid"/>
          </a:ln>
        </p:spPr>
      </p:sp>
      <p:sp>
        <p:nvSpPr>
          <p:cNvPr id="15" name="Text 13"/>
          <p:cNvSpPr/>
          <p:nvPr/>
        </p:nvSpPr>
        <p:spPr>
          <a:xfrm>
            <a:off x="6400800" y="2039112"/>
            <a:ext cx="5029200" cy="274320"/>
          </a:xfrm>
          <a:prstGeom prst="rect">
            <a:avLst/>
          </a:prstGeom>
          <a:noFill/>
          <a:ln/>
        </p:spPr>
        <p:txBody>
          <a:bodyPr wrap="square" rtlCol="0" anchor="ctr"/>
          <a:lstStyle/>
          <a:p>
            <a:pPr marL="0" indent="0">
              <a:buNone/>
            </a:pPr>
            <a:r>
              <a:rPr lang="en-US" sz="1250" b="1" dirty="0">
                <a:solidFill>
                  <a:srgbClr val="50808E"/>
                </a:solidFill>
                <a:latin typeface="Cambria" pitchFamily="34" charset="0"/>
                <a:ea typeface="Cambria" pitchFamily="34" charset="-122"/>
                <a:cs typeface="Cambria" pitchFamily="34" charset="-120"/>
              </a:rPr>
              <a:t>Availability check</a:t>
            </a:r>
            <a:endParaRPr lang="en-US" sz="1250" dirty="0"/>
          </a:p>
        </p:txBody>
      </p:sp>
      <p:sp>
        <p:nvSpPr>
          <p:cNvPr id="16" name="Text 14"/>
          <p:cNvSpPr/>
          <p:nvPr/>
        </p:nvSpPr>
        <p:spPr>
          <a:xfrm>
            <a:off x="6400800" y="2295144"/>
            <a:ext cx="5029200" cy="457200"/>
          </a:xfrm>
          <a:prstGeom prst="rect">
            <a:avLst/>
          </a:prstGeom>
          <a:noFill/>
          <a:ln/>
        </p:spPr>
        <p:txBody>
          <a:bodyPr wrap="square" rtlCol="0" anchor="t"/>
          <a:lstStyle/>
          <a:p>
            <a:pPr marL="0" indent="0">
              <a:lnSpc>
                <a:spcPct val="115000"/>
              </a:lnSpc>
              <a:buNone/>
            </a:pPr>
            <a:r>
              <a:rPr lang="en-US" sz="1050" dirty="0">
                <a:solidFill>
                  <a:srgbClr val="5C6B64"/>
                </a:solidFill>
                <a:latin typeface="Calibri" pitchFamily="34" charset="0"/>
                <a:ea typeface="Calibri" pitchFamily="34" charset="-122"/>
                <a:cs typeface="Calibri" pitchFamily="34" charset="-120"/>
              </a:rPr>
              <a:t>A pet must still be Available (or Pending, for approval) before a transaction proceeds.</a:t>
            </a:r>
            <a:endParaRPr lang="en-US" sz="1050" dirty="0"/>
          </a:p>
        </p:txBody>
      </p:sp>
      <p:sp>
        <p:nvSpPr>
          <p:cNvPr id="17" name="Shape 15"/>
          <p:cNvSpPr/>
          <p:nvPr/>
        </p:nvSpPr>
        <p:spPr>
          <a:xfrm>
            <a:off x="6217920" y="2898648"/>
            <a:ext cx="5394960" cy="822960"/>
          </a:xfrm>
          <a:prstGeom prst="roundRect">
            <a:avLst>
              <a:gd name="adj" fmla="val 8889"/>
            </a:avLst>
          </a:prstGeom>
          <a:solidFill>
            <a:srgbClr val="FFFFFF"/>
          </a:solidFill>
          <a:ln w="12700">
            <a:solidFill>
              <a:srgbClr val="E2ECE7"/>
            </a:solidFill>
            <a:prstDash val="solid"/>
          </a:ln>
        </p:spPr>
      </p:sp>
      <p:sp>
        <p:nvSpPr>
          <p:cNvPr id="18" name="Text 16"/>
          <p:cNvSpPr/>
          <p:nvPr/>
        </p:nvSpPr>
        <p:spPr>
          <a:xfrm>
            <a:off x="6400800" y="2971800"/>
            <a:ext cx="5029200" cy="274320"/>
          </a:xfrm>
          <a:prstGeom prst="rect">
            <a:avLst/>
          </a:prstGeom>
          <a:noFill/>
          <a:ln/>
        </p:spPr>
        <p:txBody>
          <a:bodyPr wrap="square" rtlCol="0" anchor="ctr"/>
          <a:lstStyle/>
          <a:p>
            <a:pPr marL="0" indent="0">
              <a:buNone/>
            </a:pPr>
            <a:r>
              <a:rPr lang="en-US" sz="1250" b="1" dirty="0">
                <a:solidFill>
                  <a:srgbClr val="50808E"/>
                </a:solidFill>
                <a:latin typeface="Cambria" pitchFamily="34" charset="0"/>
                <a:ea typeface="Cambria" pitchFamily="34" charset="-122"/>
                <a:cs typeface="Cambria" pitchFamily="34" charset="-120"/>
              </a:rPr>
              <a:t>Duplicate prevention</a:t>
            </a:r>
            <a:endParaRPr lang="en-US" sz="1250" dirty="0"/>
          </a:p>
        </p:txBody>
      </p:sp>
      <p:sp>
        <p:nvSpPr>
          <p:cNvPr id="19" name="Text 17"/>
          <p:cNvSpPr/>
          <p:nvPr/>
        </p:nvSpPr>
        <p:spPr>
          <a:xfrm>
            <a:off x="6400800" y="3227832"/>
            <a:ext cx="5029200" cy="457200"/>
          </a:xfrm>
          <a:prstGeom prst="rect">
            <a:avLst/>
          </a:prstGeom>
          <a:noFill/>
          <a:ln/>
        </p:spPr>
        <p:txBody>
          <a:bodyPr wrap="square" rtlCol="0" anchor="t"/>
          <a:lstStyle/>
          <a:p>
            <a:pPr marL="0" indent="0">
              <a:lnSpc>
                <a:spcPct val="115000"/>
              </a:lnSpc>
              <a:buNone/>
            </a:pPr>
            <a:r>
              <a:rPr lang="en-US" sz="1050" dirty="0">
                <a:solidFill>
                  <a:srgbClr val="5C6B64"/>
                </a:solidFill>
                <a:latin typeface="Calibri" pitchFamily="34" charset="0"/>
                <a:ea typeface="Calibri" pitchFamily="34" charset="-122"/>
                <a:cs typeface="Calibri" pitchFamily="34" charset="-120"/>
              </a:rPr>
              <a:t>has_active_transaction() blocks a second adoption on the same pet.</a:t>
            </a:r>
            <a:endParaRPr lang="en-US" sz="1050" dirty="0"/>
          </a:p>
        </p:txBody>
      </p:sp>
      <p:sp>
        <p:nvSpPr>
          <p:cNvPr id="20" name="Shape 18"/>
          <p:cNvSpPr/>
          <p:nvPr/>
        </p:nvSpPr>
        <p:spPr>
          <a:xfrm>
            <a:off x="6217920" y="3831336"/>
            <a:ext cx="5394960" cy="822960"/>
          </a:xfrm>
          <a:prstGeom prst="roundRect">
            <a:avLst>
              <a:gd name="adj" fmla="val 8889"/>
            </a:avLst>
          </a:prstGeom>
          <a:solidFill>
            <a:srgbClr val="FFFFFF"/>
          </a:solidFill>
          <a:ln w="12700">
            <a:solidFill>
              <a:srgbClr val="E2ECE7"/>
            </a:solidFill>
            <a:prstDash val="solid"/>
          </a:ln>
        </p:spPr>
      </p:sp>
      <p:sp>
        <p:nvSpPr>
          <p:cNvPr id="21" name="Text 19"/>
          <p:cNvSpPr/>
          <p:nvPr/>
        </p:nvSpPr>
        <p:spPr>
          <a:xfrm>
            <a:off x="6400800" y="3904488"/>
            <a:ext cx="5029200" cy="274320"/>
          </a:xfrm>
          <a:prstGeom prst="rect">
            <a:avLst/>
          </a:prstGeom>
          <a:noFill/>
          <a:ln/>
        </p:spPr>
        <p:txBody>
          <a:bodyPr wrap="square" rtlCol="0" anchor="ctr"/>
          <a:lstStyle/>
          <a:p>
            <a:pPr marL="0" indent="0">
              <a:buNone/>
            </a:pPr>
            <a:r>
              <a:rPr lang="en-US" sz="1250" b="1" dirty="0">
                <a:solidFill>
                  <a:srgbClr val="50808E"/>
                </a:solidFill>
                <a:latin typeface="Cambria" pitchFamily="34" charset="0"/>
                <a:ea typeface="Cambria" pitchFamily="34" charset="-122"/>
                <a:cs typeface="Cambria" pitchFamily="34" charset="-120"/>
              </a:rPr>
              <a:t>Reject requests</a:t>
            </a:r>
            <a:endParaRPr lang="en-US" sz="1250" dirty="0"/>
          </a:p>
        </p:txBody>
      </p:sp>
      <p:sp>
        <p:nvSpPr>
          <p:cNvPr id="22" name="Text 20"/>
          <p:cNvSpPr/>
          <p:nvPr/>
        </p:nvSpPr>
        <p:spPr>
          <a:xfrm>
            <a:off x="6400800" y="4160520"/>
            <a:ext cx="5029200" cy="457200"/>
          </a:xfrm>
          <a:prstGeom prst="rect">
            <a:avLst/>
          </a:prstGeom>
          <a:noFill/>
          <a:ln/>
        </p:spPr>
        <p:txBody>
          <a:bodyPr wrap="square" rtlCol="0" anchor="t"/>
          <a:lstStyle/>
          <a:p>
            <a:pPr marL="0" indent="0">
              <a:lnSpc>
                <a:spcPct val="115000"/>
              </a:lnSpc>
              <a:buNone/>
            </a:pPr>
            <a:r>
              <a:rPr lang="en-US" sz="1050" dirty="0">
                <a:solidFill>
                  <a:srgbClr val="5C6B64"/>
                </a:solidFill>
                <a:latin typeface="Calibri" pitchFamily="34" charset="0"/>
                <a:ea typeface="Calibri" pitchFamily="34" charset="-122"/>
                <a:cs typeface="Calibri" pitchFamily="34" charset="-120"/>
              </a:rPr>
              <a:t>New “Reject Adoption Request” option frees a pet back up — previously the only path forward was Adopted.</a:t>
            </a:r>
            <a:endParaRPr lang="en-US" sz="1050" dirty="0"/>
          </a:p>
        </p:txBody>
      </p:sp>
      <p:sp>
        <p:nvSpPr>
          <p:cNvPr id="23" name="Shape 21"/>
          <p:cNvSpPr/>
          <p:nvPr/>
        </p:nvSpPr>
        <p:spPr>
          <a:xfrm>
            <a:off x="6217920" y="4764024"/>
            <a:ext cx="5394960" cy="822960"/>
          </a:xfrm>
          <a:prstGeom prst="roundRect">
            <a:avLst>
              <a:gd name="adj" fmla="val 8889"/>
            </a:avLst>
          </a:prstGeom>
          <a:solidFill>
            <a:srgbClr val="FFFFFF"/>
          </a:solidFill>
          <a:ln w="12700">
            <a:solidFill>
              <a:srgbClr val="E2ECE7"/>
            </a:solidFill>
            <a:prstDash val="solid"/>
          </a:ln>
        </p:spPr>
      </p:sp>
      <p:sp>
        <p:nvSpPr>
          <p:cNvPr id="24" name="Text 22"/>
          <p:cNvSpPr/>
          <p:nvPr/>
        </p:nvSpPr>
        <p:spPr>
          <a:xfrm>
            <a:off x="6400800" y="4837176"/>
            <a:ext cx="5029200" cy="274320"/>
          </a:xfrm>
          <a:prstGeom prst="rect">
            <a:avLst/>
          </a:prstGeom>
          <a:noFill/>
          <a:ln/>
        </p:spPr>
        <p:txBody>
          <a:bodyPr wrap="square" rtlCol="0" anchor="ctr"/>
          <a:lstStyle/>
          <a:p>
            <a:pPr marL="0" indent="0">
              <a:buNone/>
            </a:pPr>
            <a:r>
              <a:rPr lang="en-US" sz="1250" b="1" dirty="0">
                <a:solidFill>
                  <a:srgbClr val="50808E"/>
                </a:solidFill>
                <a:latin typeface="Cambria" pitchFamily="34" charset="0"/>
                <a:ea typeface="Cambria" pitchFamily="34" charset="-122"/>
                <a:cs typeface="Cambria" pitchFamily="34" charset="-120"/>
              </a:rPr>
              <a:t>Returns</a:t>
            </a:r>
            <a:endParaRPr lang="en-US" sz="1250" dirty="0"/>
          </a:p>
        </p:txBody>
      </p:sp>
      <p:sp>
        <p:nvSpPr>
          <p:cNvPr id="25" name="Text 23"/>
          <p:cNvSpPr/>
          <p:nvPr/>
        </p:nvSpPr>
        <p:spPr>
          <a:xfrm>
            <a:off x="6400800" y="5093208"/>
            <a:ext cx="5029200" cy="457200"/>
          </a:xfrm>
          <a:prstGeom prst="rect">
            <a:avLst/>
          </a:prstGeom>
          <a:noFill/>
          <a:ln/>
        </p:spPr>
        <p:txBody>
          <a:bodyPr wrap="square" rtlCol="0" anchor="t"/>
          <a:lstStyle/>
          <a:p>
            <a:pPr marL="0" indent="0">
              <a:lnSpc>
                <a:spcPct val="115000"/>
              </a:lnSpc>
              <a:buNone/>
            </a:pPr>
            <a:r>
              <a:rPr lang="en-US" sz="1050" dirty="0">
                <a:solidFill>
                  <a:srgbClr val="5C6B64"/>
                </a:solidFill>
                <a:latin typeface="Calibri" pitchFamily="34" charset="0"/>
                <a:ea typeface="Calibri" pitchFamily="34" charset="-122"/>
                <a:cs typeface="Calibri" pitchFamily="34" charset="-120"/>
              </a:rPr>
              <a:t>Pet returns log a Return_Date and revert status to Available without deleting history.</a:t>
            </a:r>
            <a:endParaRPr lang="en-US" sz="1050" dirty="0"/>
          </a:p>
        </p:txBody>
      </p:sp>
      <p:sp>
        <p:nvSpPr>
          <p:cNvPr id="26" name="Text 24"/>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27" name="Text 25"/>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50808E"/>
          </a:solidFill>
          <a:ln/>
        </p:spPr>
      </p:sp>
      <p:sp>
        <p:nvSpPr>
          <p:cNvPr id="3" name="Text 1"/>
          <p:cNvSpPr/>
          <p:nvPr/>
        </p:nvSpPr>
        <p:spPr>
          <a:xfrm>
            <a:off x="548640" y="5029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234440" y="50292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MODULE 6  ·  OWNER: SHAUN</a:t>
            </a:r>
            <a:endParaRPr lang="en-US" sz="1200" dirty="0"/>
          </a:p>
        </p:txBody>
      </p:sp>
      <p:sp>
        <p:nvSpPr>
          <p:cNvPr id="5" name="Text 3"/>
          <p:cNvSpPr/>
          <p:nvPr/>
        </p:nvSpPr>
        <p:spPr>
          <a:xfrm>
            <a:off x="1234440" y="777240"/>
            <a:ext cx="10058400" cy="548640"/>
          </a:xfrm>
          <a:prstGeom prst="rect">
            <a:avLst/>
          </a:prstGeom>
          <a:noFill/>
          <a:ln/>
        </p:spPr>
        <p:txBody>
          <a:bodyPr wrap="square" rtlCol="0" anchor="ctr"/>
          <a:lstStyle/>
          <a:p>
            <a:pPr marL="0" indent="0">
              <a:buNone/>
            </a:pPr>
            <a:r>
              <a:rPr lang="en-US" sz="2700" b="1" dirty="0">
                <a:solidFill>
                  <a:srgbClr val="1F2C27"/>
                </a:solidFill>
                <a:latin typeface="Cambria" pitchFamily="34" charset="0"/>
                <a:ea typeface="Cambria" pitchFamily="34" charset="-122"/>
                <a:cs typeface="Cambria" pitchFamily="34" charset="-120"/>
              </a:rPr>
              <a:t>Administrative Dashboard &amp; Analytics</a:t>
            </a:r>
            <a:endParaRPr lang="en-US" sz="2700" dirty="0"/>
          </a:p>
        </p:txBody>
      </p:sp>
      <p:sp>
        <p:nvSpPr>
          <p:cNvPr id="6" name="Shape 4"/>
          <p:cNvSpPr/>
          <p:nvPr/>
        </p:nvSpPr>
        <p:spPr>
          <a:xfrm>
            <a:off x="548640" y="1600200"/>
            <a:ext cx="3520440" cy="1188720"/>
          </a:xfrm>
          <a:prstGeom prst="roundRect">
            <a:avLst>
              <a:gd name="adj" fmla="val 7692"/>
            </a:avLst>
          </a:prstGeom>
          <a:solidFill>
            <a:srgbClr val="50808E"/>
          </a:solidFill>
          <a:ln/>
        </p:spPr>
      </p:sp>
      <p:sp>
        <p:nvSpPr>
          <p:cNvPr id="7" name="Text 5"/>
          <p:cNvSpPr/>
          <p:nvPr/>
        </p:nvSpPr>
        <p:spPr>
          <a:xfrm>
            <a:off x="777240" y="1737360"/>
            <a:ext cx="31089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Line Chart</a:t>
            </a:r>
            <a:endParaRPr lang="en-US" sz="1600" dirty="0"/>
          </a:p>
        </p:txBody>
      </p:sp>
      <p:sp>
        <p:nvSpPr>
          <p:cNvPr id="8" name="Text 6"/>
          <p:cNvSpPr/>
          <p:nvPr/>
        </p:nvSpPr>
        <p:spPr>
          <a:xfrm>
            <a:off x="777240" y="2103120"/>
            <a:ext cx="3108960" cy="548640"/>
          </a:xfrm>
          <a:prstGeom prst="rect">
            <a:avLst/>
          </a:prstGeom>
          <a:noFill/>
          <a:ln/>
        </p:spPr>
        <p:txBody>
          <a:bodyPr wrap="square" rtlCol="0" anchor="t"/>
          <a:lstStyle/>
          <a:p>
            <a:pPr marL="0" indent="0">
              <a:buNone/>
            </a:pPr>
            <a:r>
              <a:rPr lang="en-US" sz="1150" dirty="0">
                <a:solidFill>
                  <a:srgbClr val="EAF3EF"/>
                </a:solidFill>
                <a:latin typeface="Calibri" pitchFamily="34" charset="0"/>
                <a:ea typeface="Calibri" pitchFamily="34" charset="-122"/>
                <a:cs typeface="Calibri" pitchFamily="34" charset="-120"/>
              </a:rPr>
              <a:t>Monthly adoption trends over time</a:t>
            </a:r>
            <a:endParaRPr lang="en-US" sz="1150" dirty="0"/>
          </a:p>
        </p:txBody>
      </p:sp>
      <p:sp>
        <p:nvSpPr>
          <p:cNvPr id="9" name="Shape 7"/>
          <p:cNvSpPr/>
          <p:nvPr/>
        </p:nvSpPr>
        <p:spPr>
          <a:xfrm>
            <a:off x="4297680" y="1600200"/>
            <a:ext cx="3520440" cy="1188720"/>
          </a:xfrm>
          <a:prstGeom prst="roundRect">
            <a:avLst>
              <a:gd name="adj" fmla="val 7692"/>
            </a:avLst>
          </a:prstGeom>
          <a:solidFill>
            <a:srgbClr val="69A297"/>
          </a:solidFill>
          <a:ln/>
        </p:spPr>
      </p:sp>
      <p:sp>
        <p:nvSpPr>
          <p:cNvPr id="10" name="Text 8"/>
          <p:cNvSpPr/>
          <p:nvPr/>
        </p:nvSpPr>
        <p:spPr>
          <a:xfrm>
            <a:off x="4526280" y="1737360"/>
            <a:ext cx="31089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Pie Chart</a:t>
            </a:r>
            <a:endParaRPr lang="en-US" sz="1600" dirty="0"/>
          </a:p>
        </p:txBody>
      </p:sp>
      <p:sp>
        <p:nvSpPr>
          <p:cNvPr id="11" name="Text 9"/>
          <p:cNvSpPr/>
          <p:nvPr/>
        </p:nvSpPr>
        <p:spPr>
          <a:xfrm>
            <a:off x="4526280" y="2103120"/>
            <a:ext cx="3108960" cy="548640"/>
          </a:xfrm>
          <a:prstGeom prst="rect">
            <a:avLst/>
          </a:prstGeom>
          <a:noFill/>
          <a:ln/>
        </p:spPr>
        <p:txBody>
          <a:bodyPr wrap="square" rtlCol="0" anchor="t"/>
          <a:lstStyle/>
          <a:p>
            <a:pPr marL="0" indent="0">
              <a:buNone/>
            </a:pPr>
            <a:r>
              <a:rPr lang="en-US" sz="1150" dirty="0">
                <a:solidFill>
                  <a:srgbClr val="EAF3EF"/>
                </a:solidFill>
                <a:latin typeface="Calibri" pitchFamily="34" charset="0"/>
                <a:ea typeface="Calibri" pitchFamily="34" charset="-122"/>
                <a:cs typeface="Calibri" pitchFamily="34" charset="-120"/>
              </a:rPr>
              <a:t>Species distribution across the shelter</a:t>
            </a:r>
            <a:endParaRPr lang="en-US" sz="1150" dirty="0"/>
          </a:p>
        </p:txBody>
      </p:sp>
      <p:sp>
        <p:nvSpPr>
          <p:cNvPr id="12" name="Shape 10"/>
          <p:cNvSpPr/>
          <p:nvPr/>
        </p:nvSpPr>
        <p:spPr>
          <a:xfrm>
            <a:off x="8046720" y="1600200"/>
            <a:ext cx="3520440" cy="1188720"/>
          </a:xfrm>
          <a:prstGeom prst="roundRect">
            <a:avLst>
              <a:gd name="adj" fmla="val 7692"/>
            </a:avLst>
          </a:prstGeom>
          <a:solidFill>
            <a:srgbClr val="50808E"/>
          </a:solidFill>
          <a:ln/>
        </p:spPr>
      </p:sp>
      <p:sp>
        <p:nvSpPr>
          <p:cNvPr id="13" name="Text 11"/>
          <p:cNvSpPr/>
          <p:nvPr/>
        </p:nvSpPr>
        <p:spPr>
          <a:xfrm>
            <a:off x="8275320" y="1737360"/>
            <a:ext cx="31089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Bar Chart</a:t>
            </a:r>
            <a:endParaRPr lang="en-US" sz="1600" dirty="0"/>
          </a:p>
        </p:txBody>
      </p:sp>
      <p:sp>
        <p:nvSpPr>
          <p:cNvPr id="14" name="Text 12"/>
          <p:cNvSpPr/>
          <p:nvPr/>
        </p:nvSpPr>
        <p:spPr>
          <a:xfrm>
            <a:off x="8275320" y="2103120"/>
            <a:ext cx="3108960" cy="548640"/>
          </a:xfrm>
          <a:prstGeom prst="rect">
            <a:avLst/>
          </a:prstGeom>
          <a:noFill/>
          <a:ln/>
        </p:spPr>
        <p:txBody>
          <a:bodyPr wrap="square" rtlCol="0" anchor="t"/>
          <a:lstStyle/>
          <a:p>
            <a:pPr marL="0" indent="0">
              <a:buNone/>
            </a:pPr>
            <a:r>
              <a:rPr lang="en-US" sz="1150" dirty="0">
                <a:solidFill>
                  <a:srgbClr val="EAF3EF"/>
                </a:solidFill>
                <a:latin typeface="Calibri" pitchFamily="34" charset="0"/>
                <a:ea typeface="Calibri" pitchFamily="34" charset="-122"/>
                <a:cs typeface="Calibri" pitchFamily="34" charset="-120"/>
              </a:rPr>
              <a:t>Shelter capacity vs. current occupancy</a:t>
            </a:r>
            <a:endParaRPr lang="en-US" sz="1150" dirty="0"/>
          </a:p>
        </p:txBody>
      </p:sp>
      <p:sp>
        <p:nvSpPr>
          <p:cNvPr id="15" name="Text 13"/>
          <p:cNvSpPr/>
          <p:nvPr/>
        </p:nvSpPr>
        <p:spPr>
          <a:xfrm>
            <a:off x="548640" y="3017520"/>
            <a:ext cx="530352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Report generation query</a:t>
            </a:r>
            <a:endParaRPr lang="en-US" sz="1400" dirty="0"/>
          </a:p>
        </p:txBody>
      </p:sp>
      <p:sp>
        <p:nvSpPr>
          <p:cNvPr id="16" name="Shape 14"/>
          <p:cNvSpPr/>
          <p:nvPr/>
        </p:nvSpPr>
        <p:spPr>
          <a:xfrm>
            <a:off x="548640" y="3383280"/>
            <a:ext cx="5394960" cy="2743200"/>
          </a:xfrm>
          <a:prstGeom prst="roundRect">
            <a:avLst>
              <a:gd name="adj" fmla="val 4000"/>
            </a:avLst>
          </a:prstGeom>
          <a:solidFill>
            <a:srgbClr val="22302B"/>
          </a:solidFill>
          <a:ln/>
          <a:effectLst>
            <a:outerShdw blurRad="101600" dist="38100" dir="5400000" algn="bl" rotWithShape="0">
              <a:srgbClr val="000000">
                <a:alpha val="35000"/>
              </a:srgbClr>
            </a:outerShdw>
          </a:effectLst>
        </p:spPr>
      </p:sp>
      <p:sp>
        <p:nvSpPr>
          <p:cNvPr id="17" name="Shape 15"/>
          <p:cNvSpPr/>
          <p:nvPr/>
        </p:nvSpPr>
        <p:spPr>
          <a:xfrm>
            <a:off x="749808" y="3529584"/>
            <a:ext cx="91440" cy="91440"/>
          </a:xfrm>
          <a:prstGeom prst="ellipse">
            <a:avLst/>
          </a:prstGeom>
          <a:solidFill>
            <a:srgbClr val="E4737A"/>
          </a:solidFill>
          <a:ln/>
        </p:spPr>
      </p:sp>
      <p:sp>
        <p:nvSpPr>
          <p:cNvPr id="18" name="Shape 16"/>
          <p:cNvSpPr/>
          <p:nvPr/>
        </p:nvSpPr>
        <p:spPr>
          <a:xfrm>
            <a:off x="914400" y="3529584"/>
            <a:ext cx="91440" cy="91440"/>
          </a:xfrm>
          <a:prstGeom prst="ellipse">
            <a:avLst/>
          </a:prstGeom>
          <a:solidFill>
            <a:srgbClr val="E8C468"/>
          </a:solidFill>
          <a:ln/>
        </p:spPr>
      </p:sp>
      <p:sp>
        <p:nvSpPr>
          <p:cNvPr id="19" name="Shape 17"/>
          <p:cNvSpPr/>
          <p:nvPr/>
        </p:nvSpPr>
        <p:spPr>
          <a:xfrm>
            <a:off x="1078992" y="3529584"/>
            <a:ext cx="91440" cy="91440"/>
          </a:xfrm>
          <a:prstGeom prst="ellipse">
            <a:avLst/>
          </a:prstGeom>
          <a:solidFill>
            <a:srgbClr val="84B59F"/>
          </a:solidFill>
          <a:ln/>
        </p:spPr>
      </p:sp>
      <p:sp>
        <p:nvSpPr>
          <p:cNvPr id="20" name="Text 18"/>
          <p:cNvSpPr/>
          <p:nvPr/>
        </p:nvSpPr>
        <p:spPr>
          <a:xfrm>
            <a:off x="749808" y="3767328"/>
            <a:ext cx="4992624" cy="221284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def plot_adoption_trends():</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cur.execute("""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SELECT strftime('%Y-%m', Adoption_Date),</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COUNT(*)</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FROM Adoption_Transactions</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GROUP BY 1 ORDER BY 1</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    """)</a:t>
            </a:r>
            <a:endParaRPr lang="en-US" sz="1150" dirty="0"/>
          </a:p>
          <a:p>
            <a:pPr marL="0" indent="0">
              <a:lnSpc>
                <a:spcPct val="108000"/>
              </a:lnSpc>
              <a:buNone/>
            </a:pP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plt.plot(months, counts, marker='o')</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plt.title('Monthly Adoption Trends')</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    plt.show()</a:t>
            </a:r>
            <a:endParaRPr lang="en-US" sz="1150" dirty="0"/>
          </a:p>
        </p:txBody>
      </p:sp>
      <p:sp>
        <p:nvSpPr>
          <p:cNvPr id="21" name="Text 19"/>
          <p:cNvSpPr/>
          <p:nvPr/>
        </p:nvSpPr>
        <p:spPr>
          <a:xfrm>
            <a:off x="6217920" y="3017520"/>
            <a:ext cx="5394960" cy="320040"/>
          </a:xfrm>
          <a:prstGeom prst="rect">
            <a:avLst/>
          </a:prstGeom>
          <a:noFill/>
          <a:ln/>
        </p:spPr>
        <p:txBody>
          <a:bodyPr wrap="square" rtlCol="0" anchor="ctr"/>
          <a:lstStyle/>
          <a:p>
            <a:pPr marL="0" indent="0">
              <a:buNone/>
            </a:pPr>
            <a:r>
              <a:rPr lang="en-US" sz="1400" b="1" dirty="0">
                <a:solidFill>
                  <a:srgbClr val="1F2C27"/>
                </a:solidFill>
                <a:latin typeface="Cambria" pitchFamily="34" charset="0"/>
                <a:ea typeface="Cambria" pitchFamily="34" charset="-122"/>
                <a:cs typeface="Cambria" pitchFamily="34" charset="-120"/>
              </a:rPr>
              <a:t>System monitoring &amp; reports</a:t>
            </a:r>
            <a:endParaRPr lang="en-US" sz="1400" dirty="0"/>
          </a:p>
        </p:txBody>
      </p:sp>
      <p:sp>
        <p:nvSpPr>
          <p:cNvPr id="22" name="Text 20"/>
          <p:cNvSpPr/>
          <p:nvPr/>
        </p:nvSpPr>
        <p:spPr>
          <a:xfrm>
            <a:off x="6217920" y="3429000"/>
            <a:ext cx="5394960" cy="2560320"/>
          </a:xfrm>
          <a:prstGeom prst="rect">
            <a:avLst/>
          </a:prstGeom>
          <a:noFill/>
          <a:ln/>
        </p:spPr>
        <p:txBody>
          <a:bodyPr wrap="square" rtlCol="0" anchor="t"/>
          <a:lstStyle/>
          <a:p>
            <a:pPr marL="342900" indent="-342900">
              <a:lnSpc>
                <a:spcPct val="125000"/>
              </a:lnSpc>
              <a:spcAft>
                <a:spcPts val="1000"/>
              </a:spcAft>
              <a:buSzPct val="100000"/>
              <a:buChar char="•"/>
            </a:pPr>
            <a:r>
              <a:rPr lang="en-US" sz="1300" dirty="0">
                <a:solidFill>
                  <a:srgbClr val="1F2C27"/>
                </a:solidFill>
                <a:latin typeface="Calibri" pitchFamily="34" charset="0"/>
                <a:ea typeface="Calibri" pitchFamily="34" charset="-122"/>
                <a:cs typeface="Calibri" pitchFamily="34" charset="-120"/>
              </a:rPr>
              <a:t>View all registered adopters and admins</a:t>
            </a:r>
            <a:endParaRPr lang="en-US" sz="1300" dirty="0"/>
          </a:p>
          <a:p>
            <a:pPr marL="342900" indent="-342900">
              <a:lnSpc>
                <a:spcPct val="125000"/>
              </a:lnSpc>
              <a:spcAft>
                <a:spcPts val="1000"/>
              </a:spcAft>
              <a:buSzPct val="100000"/>
              <a:buChar char="•"/>
            </a:pPr>
            <a:r>
              <a:rPr lang="en-US" sz="1300" dirty="0">
                <a:solidFill>
                  <a:srgbClr val="1F2C27"/>
                </a:solidFill>
                <a:latin typeface="Calibri" pitchFamily="34" charset="0"/>
                <a:ea typeface="Calibri" pitchFamily="34" charset="-122"/>
                <a:cs typeface="Calibri" pitchFamily="34" charset="-120"/>
              </a:rPr>
              <a:t>View completed adoptions and pending requests</a:t>
            </a:r>
            <a:endParaRPr lang="en-US" sz="1300" dirty="0"/>
          </a:p>
          <a:p>
            <a:pPr marL="342900" indent="-342900">
              <a:lnSpc>
                <a:spcPct val="125000"/>
              </a:lnSpc>
              <a:spcAft>
                <a:spcPts val="1000"/>
              </a:spcAft>
              <a:buSzPct val="100000"/>
              <a:buChar char="•"/>
            </a:pPr>
            <a:r>
              <a:rPr lang="en-US" sz="1300" dirty="0">
                <a:solidFill>
                  <a:srgbClr val="1F2C27"/>
                </a:solidFill>
                <a:latin typeface="Calibri" pitchFamily="34" charset="0"/>
                <a:ea typeface="Calibri" pitchFamily="34" charset="-122"/>
                <a:cs typeface="Calibri" pitchFamily="34" charset="-120"/>
              </a:rPr>
              <a:t>Generate an active-available-pets report</a:t>
            </a:r>
            <a:endParaRPr lang="en-US" sz="1300" dirty="0"/>
          </a:p>
          <a:p>
            <a:pPr marL="342900" indent="-342900">
              <a:lnSpc>
                <a:spcPct val="125000"/>
              </a:lnSpc>
              <a:spcAft>
                <a:spcPts val="1000"/>
              </a:spcAft>
              <a:buSzPct val="100000"/>
              <a:buChar char="•"/>
            </a:pPr>
            <a:r>
              <a:rPr lang="en-US" sz="1300" dirty="0">
                <a:solidFill>
                  <a:srgbClr val="1F2C27"/>
                </a:solidFill>
                <a:latin typeface="Calibri" pitchFamily="34" charset="0"/>
                <a:ea typeface="Calibri" pitchFamily="34" charset="-122"/>
                <a:cs typeface="Calibri" pitchFamily="34" charset="-120"/>
              </a:rPr>
              <a:t>Generate an overdue-vaccinations report</a:t>
            </a:r>
            <a:endParaRPr lang="en-US" sz="1300" dirty="0"/>
          </a:p>
        </p:txBody>
      </p:sp>
      <p:sp>
        <p:nvSpPr>
          <p:cNvPr id="23" name="Text 21"/>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24" name="Text 22"/>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DATABASE DESIGN</a:t>
            </a:r>
            <a:endParaRPr lang="en-US" sz="1200" dirty="0"/>
          </a:p>
        </p:txBody>
      </p:sp>
      <p:sp>
        <p:nvSpPr>
          <p:cNvPr id="3" name="Text 1"/>
          <p:cNvSpPr/>
          <p:nvPr/>
        </p:nvSpPr>
        <p:spPr>
          <a:xfrm>
            <a:off x="548640" y="731520"/>
            <a:ext cx="9144000" cy="548640"/>
          </a:xfrm>
          <a:prstGeom prst="rect">
            <a:avLst/>
          </a:prstGeom>
          <a:noFill/>
          <a:ln/>
        </p:spPr>
        <p:txBody>
          <a:bodyPr wrap="square" rtlCol="0" anchor="ctr"/>
          <a:lstStyle/>
          <a:p>
            <a:pPr marL="0" indent="0">
              <a:buNone/>
            </a:pPr>
            <a:r>
              <a:rPr lang="en-US" sz="3000" b="1" dirty="0">
                <a:solidFill>
                  <a:srgbClr val="1F2C27"/>
                </a:solidFill>
                <a:latin typeface="Cambria" pitchFamily="34" charset="0"/>
                <a:ea typeface="Cambria" pitchFamily="34" charset="-122"/>
                <a:cs typeface="Cambria" pitchFamily="34" charset="-120"/>
              </a:rPr>
              <a:t>Six related tables</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lnSpc>
                <a:spcPct val="120000"/>
              </a:lnSpc>
              <a:buNone/>
            </a:pPr>
            <a:r>
              <a:rPr lang="en-US" sz="1300" dirty="0">
                <a:solidFill>
                  <a:srgbClr val="5C6B64"/>
                </a:solidFill>
                <a:latin typeface="Calibri" pitchFamily="34" charset="0"/>
                <a:ea typeface="Calibri" pitchFamily="34" charset="-122"/>
                <a:cs typeface="Calibri" pitchFamily="34" charset="-120"/>
              </a:rPr>
              <a:t>Primary and foreign keys enforce referential integrity across adopters, administrators, pets, shelters, vaccinations, and adoption transactions.</a:t>
            </a:r>
            <a:endParaRPr lang="en-US" sz="1300" dirty="0"/>
          </a:p>
        </p:txBody>
      </p:sp>
      <p:sp>
        <p:nvSpPr>
          <p:cNvPr id="5" name="Shape 3"/>
          <p:cNvSpPr/>
          <p:nvPr/>
        </p:nvSpPr>
        <p:spPr>
          <a:xfrm>
            <a:off x="548640" y="1965960"/>
            <a:ext cx="11064240" cy="566928"/>
          </a:xfrm>
          <a:prstGeom prst="roundRect">
            <a:avLst>
              <a:gd name="adj" fmla="val 9677"/>
            </a:avLst>
          </a:prstGeom>
          <a:solidFill>
            <a:srgbClr val="FFFFFF"/>
          </a:solidFill>
          <a:ln/>
        </p:spPr>
      </p:sp>
      <p:sp>
        <p:nvSpPr>
          <p:cNvPr id="6" name="Shape 4"/>
          <p:cNvSpPr/>
          <p:nvPr/>
        </p:nvSpPr>
        <p:spPr>
          <a:xfrm>
            <a:off x="548640" y="1965960"/>
            <a:ext cx="91440" cy="566928"/>
          </a:xfrm>
          <a:prstGeom prst="roundRect">
            <a:avLst/>
          </a:prstGeom>
          <a:solidFill>
            <a:srgbClr val="69A297"/>
          </a:solidFill>
          <a:ln/>
        </p:spPr>
      </p:sp>
      <p:sp>
        <p:nvSpPr>
          <p:cNvPr id="7" name="Text 5"/>
          <p:cNvSpPr/>
          <p:nvPr/>
        </p:nvSpPr>
        <p:spPr>
          <a:xfrm>
            <a:off x="868680" y="1965960"/>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Adopters</a:t>
            </a:r>
            <a:endParaRPr lang="en-US" sz="1350" dirty="0"/>
          </a:p>
        </p:txBody>
      </p:sp>
      <p:sp>
        <p:nvSpPr>
          <p:cNvPr id="8" name="Text 6"/>
          <p:cNvSpPr/>
          <p:nvPr/>
        </p:nvSpPr>
        <p:spPr>
          <a:xfrm>
            <a:off x="3246120" y="1965960"/>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Adopter_Id · Full_Name · Email · Password_Hash · Phone · Account_Created_Date</a:t>
            </a:r>
            <a:endParaRPr lang="en-US" sz="1050" dirty="0"/>
          </a:p>
        </p:txBody>
      </p:sp>
      <p:sp>
        <p:nvSpPr>
          <p:cNvPr id="9" name="Shape 7"/>
          <p:cNvSpPr/>
          <p:nvPr/>
        </p:nvSpPr>
        <p:spPr>
          <a:xfrm>
            <a:off x="548640" y="2624328"/>
            <a:ext cx="11064240" cy="566928"/>
          </a:xfrm>
          <a:prstGeom prst="roundRect">
            <a:avLst>
              <a:gd name="adj" fmla="val 9677"/>
            </a:avLst>
          </a:prstGeom>
          <a:solidFill>
            <a:srgbClr val="EFF5F2"/>
          </a:solidFill>
          <a:ln/>
        </p:spPr>
      </p:sp>
      <p:sp>
        <p:nvSpPr>
          <p:cNvPr id="10" name="Shape 8"/>
          <p:cNvSpPr/>
          <p:nvPr/>
        </p:nvSpPr>
        <p:spPr>
          <a:xfrm>
            <a:off x="548640" y="2624328"/>
            <a:ext cx="91440" cy="566928"/>
          </a:xfrm>
          <a:prstGeom prst="roundRect">
            <a:avLst/>
          </a:prstGeom>
          <a:solidFill>
            <a:srgbClr val="69A297"/>
          </a:solidFill>
          <a:ln/>
        </p:spPr>
      </p:sp>
      <p:sp>
        <p:nvSpPr>
          <p:cNvPr id="11" name="Text 9"/>
          <p:cNvSpPr/>
          <p:nvPr/>
        </p:nvSpPr>
        <p:spPr>
          <a:xfrm>
            <a:off x="868680" y="2624328"/>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Administrators</a:t>
            </a:r>
            <a:endParaRPr lang="en-US" sz="1350" dirty="0"/>
          </a:p>
        </p:txBody>
      </p:sp>
      <p:sp>
        <p:nvSpPr>
          <p:cNvPr id="12" name="Text 10"/>
          <p:cNvSpPr/>
          <p:nvPr/>
        </p:nvSpPr>
        <p:spPr>
          <a:xfrm>
            <a:off x="3246120" y="2624328"/>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Admin_Id · Full_Name · Email · Password_Hash · Phone · Granted_By_Admin_Id</a:t>
            </a:r>
            <a:endParaRPr lang="en-US" sz="1050" dirty="0"/>
          </a:p>
        </p:txBody>
      </p:sp>
      <p:sp>
        <p:nvSpPr>
          <p:cNvPr id="13" name="Shape 11"/>
          <p:cNvSpPr/>
          <p:nvPr/>
        </p:nvSpPr>
        <p:spPr>
          <a:xfrm>
            <a:off x="548640" y="3282696"/>
            <a:ext cx="11064240" cy="566928"/>
          </a:xfrm>
          <a:prstGeom prst="roundRect">
            <a:avLst>
              <a:gd name="adj" fmla="val 9677"/>
            </a:avLst>
          </a:prstGeom>
          <a:solidFill>
            <a:srgbClr val="FFFFFF"/>
          </a:solidFill>
          <a:ln/>
        </p:spPr>
      </p:sp>
      <p:sp>
        <p:nvSpPr>
          <p:cNvPr id="14" name="Shape 12"/>
          <p:cNvSpPr/>
          <p:nvPr/>
        </p:nvSpPr>
        <p:spPr>
          <a:xfrm>
            <a:off x="548640" y="3282696"/>
            <a:ext cx="91440" cy="566928"/>
          </a:xfrm>
          <a:prstGeom prst="roundRect">
            <a:avLst/>
          </a:prstGeom>
          <a:solidFill>
            <a:srgbClr val="69A297"/>
          </a:solidFill>
          <a:ln/>
        </p:spPr>
      </p:sp>
      <p:sp>
        <p:nvSpPr>
          <p:cNvPr id="15" name="Text 13"/>
          <p:cNvSpPr/>
          <p:nvPr/>
        </p:nvSpPr>
        <p:spPr>
          <a:xfrm>
            <a:off x="868680" y="3282696"/>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Pets</a:t>
            </a:r>
            <a:endParaRPr lang="en-US" sz="1350" dirty="0"/>
          </a:p>
        </p:txBody>
      </p:sp>
      <p:sp>
        <p:nvSpPr>
          <p:cNvPr id="16" name="Text 14"/>
          <p:cNvSpPr/>
          <p:nvPr/>
        </p:nvSpPr>
        <p:spPr>
          <a:xfrm>
            <a:off x="3246120" y="3282696"/>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Pet_Id · Name · Species · Breed · Age · Health_Status · Adoption_Status · Shelter_Id (FK)</a:t>
            </a:r>
            <a:endParaRPr lang="en-US" sz="1050" dirty="0"/>
          </a:p>
        </p:txBody>
      </p:sp>
      <p:sp>
        <p:nvSpPr>
          <p:cNvPr id="17" name="Shape 15"/>
          <p:cNvSpPr/>
          <p:nvPr/>
        </p:nvSpPr>
        <p:spPr>
          <a:xfrm>
            <a:off x="548640" y="3941064"/>
            <a:ext cx="11064240" cy="566928"/>
          </a:xfrm>
          <a:prstGeom prst="roundRect">
            <a:avLst>
              <a:gd name="adj" fmla="val 9677"/>
            </a:avLst>
          </a:prstGeom>
          <a:solidFill>
            <a:srgbClr val="EFF5F2"/>
          </a:solidFill>
          <a:ln/>
        </p:spPr>
      </p:sp>
      <p:sp>
        <p:nvSpPr>
          <p:cNvPr id="18" name="Shape 16"/>
          <p:cNvSpPr/>
          <p:nvPr/>
        </p:nvSpPr>
        <p:spPr>
          <a:xfrm>
            <a:off x="548640" y="3941064"/>
            <a:ext cx="91440" cy="566928"/>
          </a:xfrm>
          <a:prstGeom prst="roundRect">
            <a:avLst/>
          </a:prstGeom>
          <a:solidFill>
            <a:srgbClr val="69A297"/>
          </a:solidFill>
          <a:ln/>
        </p:spPr>
      </p:sp>
      <p:sp>
        <p:nvSpPr>
          <p:cNvPr id="19" name="Text 17"/>
          <p:cNvSpPr/>
          <p:nvPr/>
        </p:nvSpPr>
        <p:spPr>
          <a:xfrm>
            <a:off x="868680" y="3941064"/>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Shelters</a:t>
            </a:r>
            <a:endParaRPr lang="en-US" sz="1350" dirty="0"/>
          </a:p>
        </p:txBody>
      </p:sp>
      <p:sp>
        <p:nvSpPr>
          <p:cNvPr id="20" name="Text 18"/>
          <p:cNvSpPr/>
          <p:nvPr/>
        </p:nvSpPr>
        <p:spPr>
          <a:xfrm>
            <a:off x="3246120" y="3941064"/>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Shelter_Id · Shelter_Name · Location · Capacity</a:t>
            </a:r>
            <a:endParaRPr lang="en-US" sz="1050" dirty="0"/>
          </a:p>
        </p:txBody>
      </p:sp>
      <p:sp>
        <p:nvSpPr>
          <p:cNvPr id="21" name="Shape 19"/>
          <p:cNvSpPr/>
          <p:nvPr/>
        </p:nvSpPr>
        <p:spPr>
          <a:xfrm>
            <a:off x="548640" y="4599432"/>
            <a:ext cx="11064240" cy="566928"/>
          </a:xfrm>
          <a:prstGeom prst="roundRect">
            <a:avLst>
              <a:gd name="adj" fmla="val 9677"/>
            </a:avLst>
          </a:prstGeom>
          <a:solidFill>
            <a:srgbClr val="FFFFFF"/>
          </a:solidFill>
          <a:ln/>
        </p:spPr>
      </p:sp>
      <p:sp>
        <p:nvSpPr>
          <p:cNvPr id="22" name="Shape 20"/>
          <p:cNvSpPr/>
          <p:nvPr/>
        </p:nvSpPr>
        <p:spPr>
          <a:xfrm>
            <a:off x="548640" y="4599432"/>
            <a:ext cx="91440" cy="566928"/>
          </a:xfrm>
          <a:prstGeom prst="roundRect">
            <a:avLst/>
          </a:prstGeom>
          <a:solidFill>
            <a:srgbClr val="69A297"/>
          </a:solidFill>
          <a:ln/>
        </p:spPr>
      </p:sp>
      <p:sp>
        <p:nvSpPr>
          <p:cNvPr id="23" name="Text 21"/>
          <p:cNvSpPr/>
          <p:nvPr/>
        </p:nvSpPr>
        <p:spPr>
          <a:xfrm>
            <a:off x="868680" y="4599432"/>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Vaccinations</a:t>
            </a:r>
            <a:endParaRPr lang="en-US" sz="1350" dirty="0"/>
          </a:p>
        </p:txBody>
      </p:sp>
      <p:sp>
        <p:nvSpPr>
          <p:cNvPr id="24" name="Text 22"/>
          <p:cNvSpPr/>
          <p:nvPr/>
        </p:nvSpPr>
        <p:spPr>
          <a:xfrm>
            <a:off x="3246120" y="4599432"/>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Vaccination_Id · Pet_Id (FK) · Vaccine_Name · Date_Administered · Next_Due_Date · Veterinarian</a:t>
            </a:r>
            <a:endParaRPr lang="en-US" sz="1050" dirty="0"/>
          </a:p>
        </p:txBody>
      </p:sp>
      <p:sp>
        <p:nvSpPr>
          <p:cNvPr id="25" name="Shape 23"/>
          <p:cNvSpPr/>
          <p:nvPr/>
        </p:nvSpPr>
        <p:spPr>
          <a:xfrm>
            <a:off x="548640" y="5257800"/>
            <a:ext cx="11064240" cy="566928"/>
          </a:xfrm>
          <a:prstGeom prst="roundRect">
            <a:avLst>
              <a:gd name="adj" fmla="val 9677"/>
            </a:avLst>
          </a:prstGeom>
          <a:solidFill>
            <a:srgbClr val="EFF5F2"/>
          </a:solidFill>
          <a:ln/>
        </p:spPr>
      </p:sp>
      <p:sp>
        <p:nvSpPr>
          <p:cNvPr id="26" name="Shape 24"/>
          <p:cNvSpPr/>
          <p:nvPr/>
        </p:nvSpPr>
        <p:spPr>
          <a:xfrm>
            <a:off x="548640" y="5257800"/>
            <a:ext cx="91440" cy="566928"/>
          </a:xfrm>
          <a:prstGeom prst="roundRect">
            <a:avLst/>
          </a:prstGeom>
          <a:solidFill>
            <a:srgbClr val="69A297"/>
          </a:solidFill>
          <a:ln/>
        </p:spPr>
      </p:sp>
      <p:sp>
        <p:nvSpPr>
          <p:cNvPr id="27" name="Text 25"/>
          <p:cNvSpPr/>
          <p:nvPr/>
        </p:nvSpPr>
        <p:spPr>
          <a:xfrm>
            <a:off x="868680" y="5257800"/>
            <a:ext cx="2286000" cy="566928"/>
          </a:xfrm>
          <a:prstGeom prst="rect">
            <a:avLst/>
          </a:prstGeom>
          <a:noFill/>
          <a:ln/>
        </p:spPr>
        <p:txBody>
          <a:bodyPr wrap="square" rtlCol="0" anchor="ctr"/>
          <a:lstStyle/>
          <a:p>
            <a:pPr marL="0" indent="0">
              <a:buNone/>
            </a:pPr>
            <a:r>
              <a:rPr lang="en-US" sz="1350" b="1" dirty="0">
                <a:solidFill>
                  <a:srgbClr val="50808E"/>
                </a:solidFill>
                <a:latin typeface="Cambria" pitchFamily="34" charset="0"/>
                <a:ea typeface="Cambria" pitchFamily="34" charset="-122"/>
                <a:cs typeface="Cambria" pitchFamily="34" charset="-120"/>
              </a:rPr>
              <a:t>Adoption_Transactions</a:t>
            </a:r>
            <a:endParaRPr lang="en-US" sz="1350" dirty="0"/>
          </a:p>
        </p:txBody>
      </p:sp>
      <p:sp>
        <p:nvSpPr>
          <p:cNvPr id="28" name="Text 26"/>
          <p:cNvSpPr/>
          <p:nvPr/>
        </p:nvSpPr>
        <p:spPr>
          <a:xfrm>
            <a:off x="3246120" y="5257800"/>
            <a:ext cx="8229600" cy="566928"/>
          </a:xfrm>
          <a:prstGeom prst="rect">
            <a:avLst/>
          </a:prstGeom>
          <a:noFill/>
          <a:ln/>
        </p:spPr>
        <p:txBody>
          <a:bodyPr wrap="square" rtlCol="0" anchor="ctr"/>
          <a:lstStyle/>
          <a:p>
            <a:pPr marL="0" indent="0">
              <a:buNone/>
            </a:pPr>
            <a:r>
              <a:rPr lang="en-US" sz="1050" dirty="0">
                <a:solidFill>
                  <a:srgbClr val="1F2C27"/>
                </a:solidFill>
                <a:latin typeface="Courier New" pitchFamily="34" charset="0"/>
                <a:ea typeface="Courier New" pitchFamily="34" charset="-122"/>
                <a:cs typeface="Courier New" pitchFamily="34" charset="-120"/>
              </a:rPr>
              <a:t>Transaction_Id · Pet_Id (FK) · Adopter_Id (FK) · Adoption_Date · Return_Date</a:t>
            </a:r>
            <a:endParaRPr lang="en-US" sz="1050" dirty="0"/>
          </a:p>
        </p:txBody>
      </p:sp>
      <p:sp>
        <p:nvSpPr>
          <p:cNvPr id="29" name="Text 27"/>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30" name="Text 28"/>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RELEASE NOTES</a:t>
            </a:r>
            <a:endParaRPr lang="en-US" sz="1200" dirty="0"/>
          </a:p>
        </p:txBody>
      </p:sp>
      <p:sp>
        <p:nvSpPr>
          <p:cNvPr id="3" name="Text 1"/>
          <p:cNvSpPr/>
          <p:nvPr/>
        </p:nvSpPr>
        <p:spPr>
          <a:xfrm>
            <a:off x="548640" y="731520"/>
            <a:ext cx="9144000" cy="548640"/>
          </a:xfrm>
          <a:prstGeom prst="rect">
            <a:avLst/>
          </a:prstGeom>
          <a:noFill/>
          <a:ln/>
        </p:spPr>
        <p:txBody>
          <a:bodyPr wrap="square" rtlCol="0" anchor="ctr"/>
          <a:lstStyle/>
          <a:p>
            <a:pPr marL="0" indent="0">
              <a:buNone/>
            </a:pPr>
            <a:r>
              <a:rPr lang="en-US" sz="3000" b="1" dirty="0">
                <a:solidFill>
                  <a:srgbClr val="1F2C27"/>
                </a:solidFill>
                <a:latin typeface="Cambria" pitchFamily="34" charset="0"/>
                <a:ea typeface="Cambria" pitchFamily="34" charset="-122"/>
                <a:cs typeface="Cambria" pitchFamily="34" charset="-120"/>
              </a:rPr>
              <a:t>Bug fixes in this version</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buNone/>
            </a:pPr>
            <a:r>
              <a:rPr lang="en-US" sz="1300" dirty="0">
                <a:solidFill>
                  <a:srgbClr val="5C6B64"/>
                </a:solidFill>
                <a:latin typeface="Calibri" pitchFamily="34" charset="0"/>
                <a:ea typeface="Calibri" pitchFamily="34" charset="-122"/>
                <a:cs typeface="Calibri" pitchFamily="34" charset="-120"/>
              </a:rPr>
              <a:t>The adoption-transaction table and pending-request list weren’t updating correctly. Five root causes were found and fixed.</a:t>
            </a:r>
            <a:endParaRPr lang="en-US" sz="1300" dirty="0"/>
          </a:p>
        </p:txBody>
      </p:sp>
      <p:sp>
        <p:nvSpPr>
          <p:cNvPr id="5" name="Shape 3"/>
          <p:cNvSpPr/>
          <p:nvPr/>
        </p:nvSpPr>
        <p:spPr>
          <a:xfrm>
            <a:off x="548640" y="1920240"/>
            <a:ext cx="11064240" cy="841248"/>
          </a:xfrm>
          <a:prstGeom prst="roundRect">
            <a:avLst>
              <a:gd name="adj" fmla="val 8696"/>
            </a:avLst>
          </a:prstGeom>
          <a:solidFill>
            <a:srgbClr val="FFFFFF"/>
          </a:solidFill>
          <a:ln w="12700">
            <a:solidFill>
              <a:srgbClr val="E2ECE7"/>
            </a:solidFill>
            <a:prstDash val="solid"/>
          </a:ln>
        </p:spPr>
      </p:sp>
      <p:sp>
        <p:nvSpPr>
          <p:cNvPr id="6" name="Shape 4"/>
          <p:cNvSpPr/>
          <p:nvPr/>
        </p:nvSpPr>
        <p:spPr>
          <a:xfrm>
            <a:off x="713232" y="2148840"/>
            <a:ext cx="384048" cy="384048"/>
          </a:xfrm>
          <a:prstGeom prst="roundRect">
            <a:avLst>
              <a:gd name="adj" fmla="val 50000"/>
            </a:avLst>
          </a:prstGeom>
          <a:solidFill>
            <a:srgbClr val="84B59F"/>
          </a:solidFill>
          <a:ln/>
        </p:spPr>
      </p:sp>
      <p:sp>
        <p:nvSpPr>
          <p:cNvPr id="7" name="Text 5"/>
          <p:cNvSpPr/>
          <p:nvPr/>
        </p:nvSpPr>
        <p:spPr>
          <a:xfrm>
            <a:off x="713232" y="2148840"/>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25880" y="2011680"/>
            <a:ext cx="3291840" cy="658368"/>
          </a:xfrm>
          <a:prstGeom prst="rect">
            <a:avLst/>
          </a:prstGeom>
          <a:noFill/>
          <a:ln/>
        </p:spPr>
        <p:txBody>
          <a:bodyPr wrap="square" rtlCol="0" anchor="ctr"/>
          <a:lstStyle/>
          <a:p>
            <a:pPr marL="0" indent="0">
              <a:buNone/>
            </a:pPr>
            <a:r>
              <a:rPr lang="en-US" sz="1300" b="1" dirty="0">
                <a:solidFill>
                  <a:srgbClr val="1F2C27"/>
                </a:solidFill>
                <a:latin typeface="Cambria" pitchFamily="34" charset="0"/>
                <a:ea typeface="Cambria" pitchFamily="34" charset="-122"/>
                <a:cs typeface="Cambria" pitchFamily="34" charset="-120"/>
              </a:rPr>
              <a:t>No requester link</a:t>
            </a:r>
            <a:endParaRPr lang="en-US" sz="1300" dirty="0"/>
          </a:p>
        </p:txBody>
      </p:sp>
      <p:sp>
        <p:nvSpPr>
          <p:cNvPr id="9" name="Text 7"/>
          <p:cNvSpPr/>
          <p:nvPr/>
        </p:nvSpPr>
        <p:spPr>
          <a:xfrm>
            <a:off x="4754880" y="2011680"/>
            <a:ext cx="6675120" cy="658368"/>
          </a:xfrm>
          <a:prstGeom prst="rect">
            <a:avLst/>
          </a:prstGeom>
          <a:noFill/>
          <a:ln/>
        </p:spPr>
        <p:txBody>
          <a:bodyPr wrap="square" rtlCol="0" anchor="ctr"/>
          <a:lstStyle/>
          <a:p>
            <a:pPr marL="0" indent="0">
              <a:lnSpc>
                <a:spcPct val="115000"/>
              </a:lnSpc>
              <a:buNone/>
            </a:pPr>
            <a:r>
              <a:rPr lang="en-US" sz="1150" dirty="0">
                <a:solidFill>
                  <a:srgbClr val="5C6B64"/>
                </a:solidFill>
                <a:latin typeface="Calibri" pitchFamily="34" charset="0"/>
                <a:ea typeface="Calibri" pitchFamily="34" charset="-122"/>
                <a:cs typeface="Calibri" pitchFamily="34" charset="-120"/>
              </a:rPr>
              <a:t>Requests never recorded who asked — fixed with Pets.Requested_By, filled in automatically.</a:t>
            </a:r>
            <a:endParaRPr lang="en-US" sz="1150" dirty="0"/>
          </a:p>
        </p:txBody>
      </p:sp>
      <p:sp>
        <p:nvSpPr>
          <p:cNvPr id="10" name="Shape 8"/>
          <p:cNvSpPr/>
          <p:nvPr/>
        </p:nvSpPr>
        <p:spPr>
          <a:xfrm>
            <a:off x="548640" y="2871216"/>
            <a:ext cx="11064240" cy="841248"/>
          </a:xfrm>
          <a:prstGeom prst="roundRect">
            <a:avLst>
              <a:gd name="adj" fmla="val 8696"/>
            </a:avLst>
          </a:prstGeom>
          <a:solidFill>
            <a:srgbClr val="FFFFFF"/>
          </a:solidFill>
          <a:ln w="12700">
            <a:solidFill>
              <a:srgbClr val="E2ECE7"/>
            </a:solidFill>
            <a:prstDash val="solid"/>
          </a:ln>
        </p:spPr>
      </p:sp>
      <p:sp>
        <p:nvSpPr>
          <p:cNvPr id="11" name="Shape 9"/>
          <p:cNvSpPr/>
          <p:nvPr/>
        </p:nvSpPr>
        <p:spPr>
          <a:xfrm>
            <a:off x="713232" y="3099816"/>
            <a:ext cx="384048" cy="384048"/>
          </a:xfrm>
          <a:prstGeom prst="roundRect">
            <a:avLst>
              <a:gd name="adj" fmla="val 50000"/>
            </a:avLst>
          </a:prstGeom>
          <a:solidFill>
            <a:srgbClr val="84B59F"/>
          </a:solidFill>
          <a:ln/>
        </p:spPr>
      </p:sp>
      <p:sp>
        <p:nvSpPr>
          <p:cNvPr id="12" name="Text 10"/>
          <p:cNvSpPr/>
          <p:nvPr/>
        </p:nvSpPr>
        <p:spPr>
          <a:xfrm>
            <a:off x="713232" y="3099816"/>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325880" y="2962656"/>
            <a:ext cx="3291840" cy="658368"/>
          </a:xfrm>
          <a:prstGeom prst="rect">
            <a:avLst/>
          </a:prstGeom>
          <a:noFill/>
          <a:ln/>
        </p:spPr>
        <p:txBody>
          <a:bodyPr wrap="square" rtlCol="0" anchor="ctr"/>
          <a:lstStyle/>
          <a:p>
            <a:pPr marL="0" indent="0">
              <a:buNone/>
            </a:pPr>
            <a:r>
              <a:rPr lang="en-US" sz="1300" b="1" dirty="0">
                <a:solidFill>
                  <a:srgbClr val="1F2C27"/>
                </a:solidFill>
                <a:latin typeface="Cambria" pitchFamily="34" charset="0"/>
                <a:ea typeface="Cambria" pitchFamily="34" charset="-122"/>
                <a:cs typeface="Cambria" pitchFamily="34" charset="-120"/>
              </a:rPr>
              <a:t>Two meanings for “Pending”</a:t>
            </a:r>
            <a:endParaRPr lang="en-US" sz="1300" dirty="0"/>
          </a:p>
        </p:txBody>
      </p:sp>
      <p:sp>
        <p:nvSpPr>
          <p:cNvPr id="14" name="Text 12"/>
          <p:cNvSpPr/>
          <p:nvPr/>
        </p:nvSpPr>
        <p:spPr>
          <a:xfrm>
            <a:off x="4754880" y="2962656"/>
            <a:ext cx="6675120" cy="658368"/>
          </a:xfrm>
          <a:prstGeom prst="rect">
            <a:avLst/>
          </a:prstGeom>
          <a:noFill/>
          <a:ln/>
        </p:spPr>
        <p:txBody>
          <a:bodyPr wrap="square" rtlCol="0" anchor="ctr"/>
          <a:lstStyle/>
          <a:p>
            <a:pPr marL="0" indent="0">
              <a:lnSpc>
                <a:spcPct val="115000"/>
              </a:lnSpc>
              <a:buNone/>
            </a:pPr>
            <a:r>
              <a:rPr lang="en-US" sz="1150" dirty="0">
                <a:solidFill>
                  <a:srgbClr val="5C6B64"/>
                </a:solidFill>
                <a:latin typeface="Calibri" pitchFamily="34" charset="0"/>
                <a:ea typeface="Calibri" pitchFamily="34" charset="-122"/>
                <a:cs typeface="Calibri" pitchFamily="34" charset="-120"/>
              </a:rPr>
              <a:t>Medically-ineligible pets now get a distinct Unavailable status.</a:t>
            </a:r>
            <a:endParaRPr lang="en-US" sz="1150" dirty="0"/>
          </a:p>
        </p:txBody>
      </p:sp>
      <p:sp>
        <p:nvSpPr>
          <p:cNvPr id="15" name="Shape 13"/>
          <p:cNvSpPr/>
          <p:nvPr/>
        </p:nvSpPr>
        <p:spPr>
          <a:xfrm>
            <a:off x="548640" y="3822192"/>
            <a:ext cx="11064240" cy="841248"/>
          </a:xfrm>
          <a:prstGeom prst="roundRect">
            <a:avLst>
              <a:gd name="adj" fmla="val 8696"/>
            </a:avLst>
          </a:prstGeom>
          <a:solidFill>
            <a:srgbClr val="FFFFFF"/>
          </a:solidFill>
          <a:ln w="12700">
            <a:solidFill>
              <a:srgbClr val="E2ECE7"/>
            </a:solidFill>
            <a:prstDash val="solid"/>
          </a:ln>
        </p:spPr>
      </p:sp>
      <p:sp>
        <p:nvSpPr>
          <p:cNvPr id="16" name="Shape 14"/>
          <p:cNvSpPr/>
          <p:nvPr/>
        </p:nvSpPr>
        <p:spPr>
          <a:xfrm>
            <a:off x="713232" y="4050792"/>
            <a:ext cx="384048" cy="384048"/>
          </a:xfrm>
          <a:prstGeom prst="roundRect">
            <a:avLst>
              <a:gd name="adj" fmla="val 50000"/>
            </a:avLst>
          </a:prstGeom>
          <a:solidFill>
            <a:srgbClr val="84B59F"/>
          </a:solidFill>
          <a:ln/>
        </p:spPr>
      </p:sp>
      <p:sp>
        <p:nvSpPr>
          <p:cNvPr id="17" name="Text 15"/>
          <p:cNvSpPr/>
          <p:nvPr/>
        </p:nvSpPr>
        <p:spPr>
          <a:xfrm>
            <a:off x="713232" y="4050792"/>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325880" y="3913632"/>
            <a:ext cx="3291840" cy="658368"/>
          </a:xfrm>
          <a:prstGeom prst="rect">
            <a:avLst/>
          </a:prstGeom>
          <a:noFill/>
          <a:ln/>
        </p:spPr>
        <p:txBody>
          <a:bodyPr wrap="square" rtlCol="0" anchor="ctr"/>
          <a:lstStyle/>
          <a:p>
            <a:pPr marL="0" indent="0">
              <a:buNone/>
            </a:pPr>
            <a:r>
              <a:rPr lang="en-US" sz="1300" b="1" dirty="0">
                <a:solidFill>
                  <a:srgbClr val="1F2C27"/>
                </a:solidFill>
                <a:latin typeface="Cambria" pitchFamily="34" charset="0"/>
                <a:ea typeface="Cambria" pitchFamily="34" charset="-122"/>
                <a:cs typeface="Cambria" pitchFamily="34" charset="-120"/>
              </a:rPr>
              <a:t>No way to reject</a:t>
            </a:r>
            <a:endParaRPr lang="en-US" sz="1300" dirty="0"/>
          </a:p>
        </p:txBody>
      </p:sp>
      <p:sp>
        <p:nvSpPr>
          <p:cNvPr id="19" name="Text 17"/>
          <p:cNvSpPr/>
          <p:nvPr/>
        </p:nvSpPr>
        <p:spPr>
          <a:xfrm>
            <a:off x="4754880" y="3913632"/>
            <a:ext cx="6675120" cy="658368"/>
          </a:xfrm>
          <a:prstGeom prst="rect">
            <a:avLst/>
          </a:prstGeom>
          <a:noFill/>
          <a:ln/>
        </p:spPr>
        <p:txBody>
          <a:bodyPr wrap="square" rtlCol="0" anchor="ctr"/>
          <a:lstStyle/>
          <a:p>
            <a:pPr marL="0" indent="0">
              <a:lnSpc>
                <a:spcPct val="115000"/>
              </a:lnSpc>
              <a:buNone/>
            </a:pPr>
            <a:r>
              <a:rPr lang="en-US" sz="1150" dirty="0">
                <a:solidFill>
                  <a:srgbClr val="5C6B64"/>
                </a:solidFill>
                <a:latin typeface="Calibri" pitchFamily="34" charset="0"/>
                <a:ea typeface="Calibri" pitchFamily="34" charset="-122"/>
                <a:cs typeface="Calibri" pitchFamily="34" charset="-120"/>
              </a:rPr>
              <a:t>Added a Reject Adoption Request option for admins.</a:t>
            </a:r>
            <a:endParaRPr lang="en-US" sz="1150" dirty="0"/>
          </a:p>
        </p:txBody>
      </p:sp>
      <p:sp>
        <p:nvSpPr>
          <p:cNvPr id="20" name="Shape 18"/>
          <p:cNvSpPr/>
          <p:nvPr/>
        </p:nvSpPr>
        <p:spPr>
          <a:xfrm>
            <a:off x="548640" y="4773168"/>
            <a:ext cx="11064240" cy="841248"/>
          </a:xfrm>
          <a:prstGeom prst="roundRect">
            <a:avLst>
              <a:gd name="adj" fmla="val 8696"/>
            </a:avLst>
          </a:prstGeom>
          <a:solidFill>
            <a:srgbClr val="FFFFFF"/>
          </a:solidFill>
          <a:ln w="12700">
            <a:solidFill>
              <a:srgbClr val="E2ECE7"/>
            </a:solidFill>
            <a:prstDash val="solid"/>
          </a:ln>
        </p:spPr>
      </p:sp>
      <p:sp>
        <p:nvSpPr>
          <p:cNvPr id="21" name="Shape 19"/>
          <p:cNvSpPr/>
          <p:nvPr/>
        </p:nvSpPr>
        <p:spPr>
          <a:xfrm>
            <a:off x="713232" y="5001768"/>
            <a:ext cx="384048" cy="384048"/>
          </a:xfrm>
          <a:prstGeom prst="roundRect">
            <a:avLst>
              <a:gd name="adj" fmla="val 50000"/>
            </a:avLst>
          </a:prstGeom>
          <a:solidFill>
            <a:srgbClr val="84B59F"/>
          </a:solidFill>
          <a:ln/>
        </p:spPr>
      </p:sp>
      <p:sp>
        <p:nvSpPr>
          <p:cNvPr id="22" name="Text 20"/>
          <p:cNvSpPr/>
          <p:nvPr/>
        </p:nvSpPr>
        <p:spPr>
          <a:xfrm>
            <a:off x="713232" y="5001768"/>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325880" y="4864608"/>
            <a:ext cx="3291840" cy="658368"/>
          </a:xfrm>
          <a:prstGeom prst="rect">
            <a:avLst/>
          </a:prstGeom>
          <a:noFill/>
          <a:ln/>
        </p:spPr>
        <p:txBody>
          <a:bodyPr wrap="square" rtlCol="0" anchor="ctr"/>
          <a:lstStyle/>
          <a:p>
            <a:pPr marL="0" indent="0">
              <a:buNone/>
            </a:pPr>
            <a:r>
              <a:rPr lang="en-US" sz="1300" b="1" dirty="0">
                <a:solidFill>
                  <a:srgbClr val="1F2C27"/>
                </a:solidFill>
                <a:latin typeface="Cambria" pitchFamily="34" charset="0"/>
                <a:ea typeface="Cambria" pitchFamily="34" charset="-122"/>
                <a:cs typeface="Cambria" pitchFamily="34" charset="-120"/>
              </a:rPr>
              <a:t>DB path depended on cwd</a:t>
            </a:r>
            <a:endParaRPr lang="en-US" sz="1300" dirty="0"/>
          </a:p>
        </p:txBody>
      </p:sp>
      <p:sp>
        <p:nvSpPr>
          <p:cNvPr id="24" name="Text 22"/>
          <p:cNvSpPr/>
          <p:nvPr/>
        </p:nvSpPr>
        <p:spPr>
          <a:xfrm>
            <a:off x="4754880" y="4864608"/>
            <a:ext cx="6675120" cy="658368"/>
          </a:xfrm>
          <a:prstGeom prst="rect">
            <a:avLst/>
          </a:prstGeom>
          <a:noFill/>
          <a:ln/>
        </p:spPr>
        <p:txBody>
          <a:bodyPr wrap="square" rtlCol="0" anchor="ctr"/>
          <a:lstStyle/>
          <a:p>
            <a:pPr marL="0" indent="0">
              <a:lnSpc>
                <a:spcPct val="115000"/>
              </a:lnSpc>
              <a:buNone/>
            </a:pPr>
            <a:r>
              <a:rPr lang="en-US" sz="1150" dirty="0">
                <a:solidFill>
                  <a:srgbClr val="5C6B64"/>
                </a:solidFill>
                <a:latin typeface="Calibri" pitchFamily="34" charset="0"/>
                <a:ea typeface="Calibri" pitchFamily="34" charset="-122"/>
                <a:cs typeface="Calibri" pitchFamily="34" charset="-120"/>
              </a:rPr>
              <a:t>Path is now anchored to the project folder, wherever the app is launched from.</a:t>
            </a:r>
            <a:endParaRPr lang="en-US" sz="1150" dirty="0"/>
          </a:p>
        </p:txBody>
      </p:sp>
      <p:sp>
        <p:nvSpPr>
          <p:cNvPr id="25" name="Shape 23"/>
          <p:cNvSpPr/>
          <p:nvPr/>
        </p:nvSpPr>
        <p:spPr>
          <a:xfrm>
            <a:off x="548640" y="5724144"/>
            <a:ext cx="11064240" cy="841248"/>
          </a:xfrm>
          <a:prstGeom prst="roundRect">
            <a:avLst>
              <a:gd name="adj" fmla="val 8696"/>
            </a:avLst>
          </a:prstGeom>
          <a:solidFill>
            <a:srgbClr val="FFFFFF"/>
          </a:solidFill>
          <a:ln w="12700">
            <a:solidFill>
              <a:srgbClr val="E2ECE7"/>
            </a:solidFill>
            <a:prstDash val="solid"/>
          </a:ln>
        </p:spPr>
      </p:sp>
      <p:sp>
        <p:nvSpPr>
          <p:cNvPr id="26" name="Shape 24"/>
          <p:cNvSpPr/>
          <p:nvPr/>
        </p:nvSpPr>
        <p:spPr>
          <a:xfrm>
            <a:off x="713232" y="5952744"/>
            <a:ext cx="384048" cy="384048"/>
          </a:xfrm>
          <a:prstGeom prst="roundRect">
            <a:avLst>
              <a:gd name="adj" fmla="val 50000"/>
            </a:avLst>
          </a:prstGeom>
          <a:solidFill>
            <a:srgbClr val="84B59F"/>
          </a:solidFill>
          <a:ln/>
        </p:spPr>
      </p:sp>
      <p:sp>
        <p:nvSpPr>
          <p:cNvPr id="27" name="Text 25"/>
          <p:cNvSpPr/>
          <p:nvPr/>
        </p:nvSpPr>
        <p:spPr>
          <a:xfrm>
            <a:off x="713232" y="5952744"/>
            <a:ext cx="384048" cy="384048"/>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1325880" y="5815584"/>
            <a:ext cx="3291840" cy="658368"/>
          </a:xfrm>
          <a:prstGeom prst="rect">
            <a:avLst/>
          </a:prstGeom>
          <a:noFill/>
          <a:ln/>
        </p:spPr>
        <p:txBody>
          <a:bodyPr wrap="square" rtlCol="0" anchor="ctr"/>
          <a:lstStyle/>
          <a:p>
            <a:pPr marL="0" indent="0">
              <a:buNone/>
            </a:pPr>
            <a:r>
              <a:rPr lang="en-US" sz="1300" b="1" dirty="0">
                <a:solidFill>
                  <a:srgbClr val="1F2C27"/>
                </a:solidFill>
                <a:latin typeface="Cambria" pitchFamily="34" charset="0"/>
                <a:ea typeface="Cambria" pitchFamily="34" charset="-122"/>
                <a:cs typeface="Cambria" pitchFamily="34" charset="-120"/>
              </a:rPr>
              <a:t>Stale requester links</a:t>
            </a:r>
            <a:endParaRPr lang="en-US" sz="1300" dirty="0"/>
          </a:p>
        </p:txBody>
      </p:sp>
      <p:sp>
        <p:nvSpPr>
          <p:cNvPr id="29" name="Text 27"/>
          <p:cNvSpPr/>
          <p:nvPr/>
        </p:nvSpPr>
        <p:spPr>
          <a:xfrm>
            <a:off x="4754880" y="5815584"/>
            <a:ext cx="6675120" cy="658368"/>
          </a:xfrm>
          <a:prstGeom prst="rect">
            <a:avLst/>
          </a:prstGeom>
          <a:noFill/>
          <a:ln/>
        </p:spPr>
        <p:txBody>
          <a:bodyPr wrap="square" rtlCol="0" anchor="ctr"/>
          <a:lstStyle/>
          <a:p>
            <a:pPr marL="0" indent="0">
              <a:lnSpc>
                <a:spcPct val="115000"/>
              </a:lnSpc>
              <a:buNone/>
            </a:pPr>
            <a:r>
              <a:rPr lang="en-US" sz="1150" dirty="0">
                <a:solidFill>
                  <a:srgbClr val="5C6B64"/>
                </a:solidFill>
                <a:latin typeface="Calibri" pitchFamily="34" charset="0"/>
                <a:ea typeface="Calibri" pitchFamily="34" charset="-122"/>
                <a:cs typeface="Calibri" pitchFamily="34" charset="-120"/>
              </a:rPr>
              <a:t>Manual status overrides now clear Requested_By automatically.</a:t>
            </a:r>
            <a:endParaRPr lang="en-US" sz="1150" dirty="0"/>
          </a:p>
        </p:txBody>
      </p:sp>
      <p:sp>
        <p:nvSpPr>
          <p:cNvPr id="30" name="Text 28"/>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31" name="Text 29"/>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457200"/>
            <a:ext cx="5486400" cy="274320"/>
          </a:xfrm>
          <a:prstGeom prst="rect">
            <a:avLst/>
          </a:prstGeom>
          <a:noFill/>
          <a:ln/>
        </p:spPr>
        <p:txBody>
          <a:bodyPr wrap="square" rtlCol="0" anchor="ctr"/>
          <a:lstStyle/>
          <a:p>
            <a:pPr marL="0" indent="0">
              <a:buNone/>
            </a:pPr>
            <a:r>
              <a:rPr lang="en-US" sz="1200" b="1" kern="0" spc="200" dirty="0">
                <a:solidFill>
                  <a:srgbClr val="50808E"/>
                </a:solidFill>
                <a:latin typeface="Calibri" pitchFamily="34" charset="0"/>
                <a:ea typeface="Calibri" pitchFamily="34" charset="-122"/>
                <a:cs typeface="Calibri" pitchFamily="34" charset="-120"/>
              </a:rPr>
              <a:t>SECURITY HARDENING</a:t>
            </a:r>
            <a:endParaRPr lang="en-US" sz="1200" dirty="0"/>
          </a:p>
        </p:txBody>
      </p:sp>
      <p:sp>
        <p:nvSpPr>
          <p:cNvPr id="3" name="Text 1"/>
          <p:cNvSpPr/>
          <p:nvPr/>
        </p:nvSpPr>
        <p:spPr>
          <a:xfrm>
            <a:off x="548640" y="731520"/>
            <a:ext cx="10058400" cy="548640"/>
          </a:xfrm>
          <a:prstGeom prst="rect">
            <a:avLst/>
          </a:prstGeom>
          <a:noFill/>
          <a:ln/>
        </p:spPr>
        <p:txBody>
          <a:bodyPr wrap="square" rtlCol="0" anchor="ctr"/>
          <a:lstStyle/>
          <a:p>
            <a:pPr marL="0" indent="0">
              <a:buNone/>
            </a:pPr>
            <a:r>
              <a:rPr lang="en-US" sz="2900" b="1" dirty="0">
                <a:solidFill>
                  <a:srgbClr val="1F2C27"/>
                </a:solidFill>
                <a:latin typeface="Cambria" pitchFamily="34" charset="0"/>
                <a:ea typeface="Cambria" pitchFamily="34" charset="-122"/>
                <a:cs typeface="Cambria" pitchFamily="34" charset="-120"/>
              </a:rPr>
              <a:t>Moving secrets out of source code</a:t>
            </a:r>
            <a:endParaRPr lang="en-US" sz="2900" dirty="0"/>
          </a:p>
        </p:txBody>
      </p:sp>
      <p:sp>
        <p:nvSpPr>
          <p:cNvPr id="4" name="Text 2"/>
          <p:cNvSpPr/>
          <p:nvPr/>
        </p:nvSpPr>
        <p:spPr>
          <a:xfrm>
            <a:off x="548640" y="1371600"/>
            <a:ext cx="10881360" cy="640080"/>
          </a:xfrm>
          <a:prstGeom prst="rect">
            <a:avLst/>
          </a:prstGeom>
          <a:noFill/>
          <a:ln/>
        </p:spPr>
        <p:txBody>
          <a:bodyPr wrap="square" rtlCol="0" anchor="ctr"/>
          <a:lstStyle/>
          <a:p>
            <a:pPr marL="0" indent="0">
              <a:lnSpc>
                <a:spcPct val="125000"/>
              </a:lnSpc>
              <a:buNone/>
            </a:pPr>
            <a:r>
              <a:rPr lang="en-US" sz="1300" dirty="0">
                <a:solidFill>
                  <a:srgbClr val="5C6B64"/>
                </a:solidFill>
                <a:latin typeface="Calibri" pitchFamily="34" charset="0"/>
                <a:ea typeface="Calibri" pitchFamily="34" charset="-122"/>
                <a:cs typeface="Calibri" pitchFamily="34" charset="-120"/>
              </a:rPr>
              <a:t>db_functions.py previously hardcoded the SMTP sender email and its app password directly in the source file, which meant they’d be committed to Git in plain sight. They now load from environment variables via a local .env file that Git ignores.</a:t>
            </a:r>
            <a:endParaRPr lang="en-US" sz="1300" dirty="0"/>
          </a:p>
        </p:txBody>
      </p:sp>
      <p:sp>
        <p:nvSpPr>
          <p:cNvPr id="5" name="Text 3"/>
          <p:cNvSpPr/>
          <p:nvPr/>
        </p:nvSpPr>
        <p:spPr>
          <a:xfrm>
            <a:off x="548640" y="2148840"/>
            <a:ext cx="5303520" cy="274320"/>
          </a:xfrm>
          <a:prstGeom prst="rect">
            <a:avLst/>
          </a:prstGeom>
          <a:noFill/>
          <a:ln/>
        </p:spPr>
        <p:txBody>
          <a:bodyPr wrap="square" rtlCol="0" anchor="ctr"/>
          <a:lstStyle/>
          <a:p>
            <a:pPr marL="0" indent="0">
              <a:buNone/>
            </a:pPr>
            <a:r>
              <a:rPr lang="en-US" sz="1100" b="1" kern="0" spc="100" dirty="0">
                <a:solidFill>
                  <a:srgbClr val="B23A3A"/>
                </a:solidFill>
                <a:latin typeface="Calibri" pitchFamily="34" charset="0"/>
                <a:ea typeface="Calibri" pitchFamily="34" charset="-122"/>
                <a:cs typeface="Calibri" pitchFamily="34" charset="-120"/>
              </a:rPr>
              <a:t>BEFORE  —  hardcoded in source</a:t>
            </a:r>
            <a:endParaRPr lang="en-US" sz="1100" dirty="0"/>
          </a:p>
        </p:txBody>
      </p:sp>
      <p:sp>
        <p:nvSpPr>
          <p:cNvPr id="6" name="Shape 4"/>
          <p:cNvSpPr/>
          <p:nvPr/>
        </p:nvSpPr>
        <p:spPr>
          <a:xfrm>
            <a:off x="548640" y="2468880"/>
            <a:ext cx="5394960" cy="1554480"/>
          </a:xfrm>
          <a:prstGeom prst="roundRect">
            <a:avLst>
              <a:gd name="adj" fmla="val 7059"/>
            </a:avLst>
          </a:prstGeom>
          <a:solidFill>
            <a:srgbClr val="22302B"/>
          </a:solidFill>
          <a:ln/>
          <a:effectLst>
            <a:outerShdw blurRad="101600" dist="38100" dir="5400000" algn="bl" rotWithShape="0">
              <a:srgbClr val="000000">
                <a:alpha val="35000"/>
              </a:srgbClr>
            </a:outerShdw>
          </a:effectLst>
        </p:spPr>
      </p:sp>
      <p:sp>
        <p:nvSpPr>
          <p:cNvPr id="7" name="Shape 5"/>
          <p:cNvSpPr/>
          <p:nvPr/>
        </p:nvSpPr>
        <p:spPr>
          <a:xfrm>
            <a:off x="749808" y="2615184"/>
            <a:ext cx="91440" cy="91440"/>
          </a:xfrm>
          <a:prstGeom prst="ellipse">
            <a:avLst/>
          </a:prstGeom>
          <a:solidFill>
            <a:srgbClr val="E4737A"/>
          </a:solidFill>
          <a:ln/>
        </p:spPr>
      </p:sp>
      <p:sp>
        <p:nvSpPr>
          <p:cNvPr id="8" name="Shape 6"/>
          <p:cNvSpPr/>
          <p:nvPr/>
        </p:nvSpPr>
        <p:spPr>
          <a:xfrm>
            <a:off x="914400" y="2615184"/>
            <a:ext cx="91440" cy="91440"/>
          </a:xfrm>
          <a:prstGeom prst="ellipse">
            <a:avLst/>
          </a:prstGeom>
          <a:solidFill>
            <a:srgbClr val="E8C468"/>
          </a:solidFill>
          <a:ln/>
        </p:spPr>
      </p:sp>
      <p:sp>
        <p:nvSpPr>
          <p:cNvPr id="9" name="Shape 7"/>
          <p:cNvSpPr/>
          <p:nvPr/>
        </p:nvSpPr>
        <p:spPr>
          <a:xfrm>
            <a:off x="1078992" y="2615184"/>
            <a:ext cx="91440" cy="91440"/>
          </a:xfrm>
          <a:prstGeom prst="ellipse">
            <a:avLst/>
          </a:prstGeom>
          <a:solidFill>
            <a:srgbClr val="84B59F"/>
          </a:solidFill>
          <a:ln/>
        </p:spPr>
      </p:sp>
      <p:sp>
        <p:nvSpPr>
          <p:cNvPr id="10" name="Text 8"/>
          <p:cNvSpPr/>
          <p:nvPr/>
        </p:nvSpPr>
        <p:spPr>
          <a:xfrm>
            <a:off x="749808" y="2852928"/>
            <a:ext cx="4992624" cy="102412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SMTP_SERVER = "smtp.gmail.com"</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SMTP_PORT = 587</a:t>
            </a:r>
            <a:endParaRPr lang="en-US" sz="1150" dirty="0"/>
          </a:p>
          <a:p>
            <a:pPr marL="0" indent="0">
              <a:lnSpc>
                <a:spcPct val="108000"/>
              </a:lnSpc>
              <a:buNone/>
            </a:pPr>
            <a:r>
              <a:rPr lang="en-US" sz="1150" dirty="0">
                <a:solidFill>
                  <a:srgbClr val="E4A2A2"/>
                </a:solidFill>
                <a:latin typeface="Courier New" pitchFamily="34" charset="0"/>
                <a:ea typeface="Courier New" pitchFamily="34" charset="-122"/>
                <a:cs typeface="Courier New" pitchFamily="34" charset="-120"/>
              </a:rPr>
              <a:t>SENDER_EMAIL = "you@example.com"</a:t>
            </a:r>
            <a:endParaRPr lang="en-US" sz="1150" dirty="0"/>
          </a:p>
          <a:p>
            <a:pPr marL="0" indent="0">
              <a:lnSpc>
                <a:spcPct val="108000"/>
              </a:lnSpc>
              <a:buNone/>
            </a:pPr>
            <a:r>
              <a:rPr lang="en-US" sz="1150" dirty="0">
                <a:solidFill>
                  <a:srgbClr val="E4A2A2"/>
                </a:solidFill>
                <a:latin typeface="Courier New" pitchFamily="34" charset="0"/>
                <a:ea typeface="Courier New" pitchFamily="34" charset="-122"/>
                <a:cs typeface="Courier New" pitchFamily="34" charset="-120"/>
              </a:rPr>
              <a:t>SENDER_PASSWORD = "••••• ••••• ••••• •••••"</a:t>
            </a:r>
            <a:endParaRPr lang="en-US" sz="1150" dirty="0"/>
          </a:p>
        </p:txBody>
      </p:sp>
      <p:sp>
        <p:nvSpPr>
          <p:cNvPr id="11" name="Text 9"/>
          <p:cNvSpPr/>
          <p:nvPr/>
        </p:nvSpPr>
        <p:spPr>
          <a:xfrm>
            <a:off x="6217920" y="2148840"/>
            <a:ext cx="5303520" cy="274320"/>
          </a:xfrm>
          <a:prstGeom prst="rect">
            <a:avLst/>
          </a:prstGeom>
          <a:noFill/>
          <a:ln/>
        </p:spPr>
        <p:txBody>
          <a:bodyPr wrap="square" rtlCol="0" anchor="ctr"/>
          <a:lstStyle/>
          <a:p>
            <a:pPr marL="0" indent="0">
              <a:buNone/>
            </a:pPr>
            <a:r>
              <a:rPr lang="en-US" sz="1100" b="1" kern="0" spc="100" dirty="0">
                <a:solidFill>
                  <a:srgbClr val="3F8F6B"/>
                </a:solidFill>
                <a:latin typeface="Calibri" pitchFamily="34" charset="0"/>
                <a:ea typeface="Calibri" pitchFamily="34" charset="-122"/>
                <a:cs typeface="Calibri" pitchFamily="34" charset="-120"/>
              </a:rPr>
              <a:t>AFTER  —  loaded from .env</a:t>
            </a:r>
            <a:endParaRPr lang="en-US" sz="1100" dirty="0"/>
          </a:p>
        </p:txBody>
      </p:sp>
      <p:sp>
        <p:nvSpPr>
          <p:cNvPr id="12" name="Shape 10"/>
          <p:cNvSpPr/>
          <p:nvPr/>
        </p:nvSpPr>
        <p:spPr>
          <a:xfrm>
            <a:off x="6217920" y="2468880"/>
            <a:ext cx="5394960" cy="1554480"/>
          </a:xfrm>
          <a:prstGeom prst="roundRect">
            <a:avLst>
              <a:gd name="adj" fmla="val 7059"/>
            </a:avLst>
          </a:prstGeom>
          <a:solidFill>
            <a:srgbClr val="22302B"/>
          </a:solidFill>
          <a:ln/>
          <a:effectLst>
            <a:outerShdw blurRad="101600" dist="38100" dir="5400000" algn="bl" rotWithShape="0">
              <a:srgbClr val="000000">
                <a:alpha val="35000"/>
              </a:srgbClr>
            </a:outerShdw>
          </a:effectLst>
        </p:spPr>
      </p:sp>
      <p:sp>
        <p:nvSpPr>
          <p:cNvPr id="13" name="Shape 11"/>
          <p:cNvSpPr/>
          <p:nvPr/>
        </p:nvSpPr>
        <p:spPr>
          <a:xfrm>
            <a:off x="6419088" y="2615184"/>
            <a:ext cx="91440" cy="91440"/>
          </a:xfrm>
          <a:prstGeom prst="ellipse">
            <a:avLst/>
          </a:prstGeom>
          <a:solidFill>
            <a:srgbClr val="E4737A"/>
          </a:solidFill>
          <a:ln/>
        </p:spPr>
      </p:sp>
      <p:sp>
        <p:nvSpPr>
          <p:cNvPr id="14" name="Shape 12"/>
          <p:cNvSpPr/>
          <p:nvPr/>
        </p:nvSpPr>
        <p:spPr>
          <a:xfrm>
            <a:off x="6583680" y="2615184"/>
            <a:ext cx="91440" cy="91440"/>
          </a:xfrm>
          <a:prstGeom prst="ellipse">
            <a:avLst/>
          </a:prstGeom>
          <a:solidFill>
            <a:srgbClr val="E8C468"/>
          </a:solidFill>
          <a:ln/>
        </p:spPr>
      </p:sp>
      <p:sp>
        <p:nvSpPr>
          <p:cNvPr id="15" name="Shape 13"/>
          <p:cNvSpPr/>
          <p:nvPr/>
        </p:nvSpPr>
        <p:spPr>
          <a:xfrm>
            <a:off x="6748272" y="2615184"/>
            <a:ext cx="91440" cy="91440"/>
          </a:xfrm>
          <a:prstGeom prst="ellipse">
            <a:avLst/>
          </a:prstGeom>
          <a:solidFill>
            <a:srgbClr val="84B59F"/>
          </a:solidFill>
          <a:ln/>
        </p:spPr>
      </p:sp>
      <p:sp>
        <p:nvSpPr>
          <p:cNvPr id="16" name="Text 14"/>
          <p:cNvSpPr/>
          <p:nvPr/>
        </p:nvSpPr>
        <p:spPr>
          <a:xfrm>
            <a:off x="6419088" y="2852928"/>
            <a:ext cx="4992624" cy="1024128"/>
          </a:xfrm>
          <a:prstGeom prst="rect">
            <a:avLst/>
          </a:prstGeom>
          <a:noFill/>
          <a:ln/>
        </p:spPr>
        <p:txBody>
          <a:bodyPr wrap="square" lIns="0" tIns="0" rIns="0" bIns="0" rtlCol="0" anchor="t"/>
          <a:lstStyle/>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from dotenv import load_dotenv</a:t>
            </a:r>
            <a:endParaRPr lang="en-US" sz="1150" dirty="0"/>
          </a:p>
          <a:p>
            <a:pPr marL="0" indent="0">
              <a:lnSpc>
                <a:spcPct val="108000"/>
              </a:lnSpc>
              <a:buNone/>
            </a:pPr>
            <a:r>
              <a:rPr lang="en-US" sz="1150" dirty="0">
                <a:solidFill>
                  <a:srgbClr val="E9F3EE"/>
                </a:solidFill>
                <a:latin typeface="Courier New" pitchFamily="34" charset="0"/>
                <a:ea typeface="Courier New" pitchFamily="34" charset="-122"/>
                <a:cs typeface="Courier New" pitchFamily="34" charset="-120"/>
              </a:rPr>
              <a:t>load_dotenv()</a:t>
            </a:r>
            <a:endParaRPr lang="en-US" sz="1150" dirty="0"/>
          </a:p>
          <a:p>
            <a:pPr marL="0" indent="0">
              <a:lnSpc>
                <a:spcPct val="108000"/>
              </a:lnSpc>
              <a:buNone/>
            </a:pP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SENDER_EMAIL = os.getenv("SENDER_EMAIL")</a:t>
            </a:r>
            <a:endParaRPr lang="en-US" sz="1150" dirty="0"/>
          </a:p>
          <a:p>
            <a:pPr marL="0" indent="0">
              <a:lnSpc>
                <a:spcPct val="108000"/>
              </a:lnSpc>
              <a:buNone/>
            </a:pPr>
            <a:r>
              <a:rPr lang="en-US" sz="1150" dirty="0">
                <a:solidFill>
                  <a:srgbClr val="9CD6BE"/>
                </a:solidFill>
                <a:latin typeface="Courier New" pitchFamily="34" charset="0"/>
                <a:ea typeface="Courier New" pitchFamily="34" charset="-122"/>
                <a:cs typeface="Courier New" pitchFamily="34" charset="-120"/>
              </a:rPr>
              <a:t>SENDER_PASSWORD = os.getenv("SENDER_PASSWORD")</a:t>
            </a:r>
            <a:endParaRPr lang="en-US" sz="1150" dirty="0"/>
          </a:p>
        </p:txBody>
      </p:sp>
      <p:sp>
        <p:nvSpPr>
          <p:cNvPr id="17" name="Shape 15"/>
          <p:cNvSpPr/>
          <p:nvPr/>
        </p:nvSpPr>
        <p:spPr>
          <a:xfrm>
            <a:off x="548640" y="4206240"/>
            <a:ext cx="11064240" cy="1920240"/>
          </a:xfrm>
          <a:prstGeom prst="roundRect">
            <a:avLst>
              <a:gd name="adj" fmla="val 4762"/>
            </a:avLst>
          </a:prstGeom>
          <a:solidFill>
            <a:srgbClr val="50808E"/>
          </a:solidFill>
          <a:ln/>
        </p:spPr>
      </p:sp>
      <p:sp>
        <p:nvSpPr>
          <p:cNvPr id="18" name="Text 16"/>
          <p:cNvSpPr/>
          <p:nvPr/>
        </p:nvSpPr>
        <p:spPr>
          <a:xfrm>
            <a:off x="822960" y="4370832"/>
            <a:ext cx="5486400" cy="274320"/>
          </a:xfrm>
          <a:prstGeom prst="rect">
            <a:avLst/>
          </a:prstGeom>
          <a:noFill/>
          <a:ln/>
        </p:spPr>
        <p:txBody>
          <a:bodyPr wrap="square" rtlCol="0" anchor="ctr"/>
          <a:lstStyle/>
          <a:p>
            <a:pPr marL="0" indent="0">
              <a:buNone/>
            </a:pPr>
            <a:r>
              <a:rPr lang="en-US" sz="1200" b="1" kern="0" spc="100" dirty="0">
                <a:solidFill>
                  <a:srgbClr val="CFE3DC"/>
                </a:solidFill>
                <a:latin typeface="Calibri" pitchFamily="34" charset="0"/>
                <a:ea typeface="Calibri" pitchFamily="34" charset="-122"/>
                <a:cs typeface="Calibri" pitchFamily="34" charset="-120"/>
              </a:rPr>
              <a:t>What was added to the project</a:t>
            </a:r>
            <a:endParaRPr lang="en-US" sz="1200" dirty="0"/>
          </a:p>
        </p:txBody>
      </p:sp>
      <p:sp>
        <p:nvSpPr>
          <p:cNvPr id="19" name="Text 17"/>
          <p:cNvSpPr/>
          <p:nvPr/>
        </p:nvSpPr>
        <p:spPr>
          <a:xfrm>
            <a:off x="822960" y="4754880"/>
            <a:ext cx="33832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.env</a:t>
            </a:r>
            <a:endParaRPr lang="en-US" sz="1300" dirty="0"/>
          </a:p>
        </p:txBody>
      </p:sp>
      <p:sp>
        <p:nvSpPr>
          <p:cNvPr id="20" name="Text 18"/>
          <p:cNvSpPr/>
          <p:nvPr/>
        </p:nvSpPr>
        <p:spPr>
          <a:xfrm>
            <a:off x="822960" y="5074920"/>
            <a:ext cx="3383280" cy="914400"/>
          </a:xfrm>
          <a:prstGeom prst="rect">
            <a:avLst/>
          </a:prstGeom>
          <a:noFill/>
          <a:ln/>
        </p:spPr>
        <p:txBody>
          <a:bodyPr wrap="square" rtlCol="0" anchor="t"/>
          <a:lstStyle/>
          <a:p>
            <a:pPr marL="0" indent="0">
              <a:lnSpc>
                <a:spcPct val="120000"/>
              </a:lnSpc>
              <a:buNone/>
            </a:pPr>
            <a:r>
              <a:rPr lang="en-US" sz="1100" dirty="0">
                <a:solidFill>
                  <a:srgbClr val="DCEAE4"/>
                </a:solidFill>
                <a:latin typeface="Calibri" pitchFamily="34" charset="0"/>
                <a:ea typeface="Calibri" pitchFamily="34" charset="-122"/>
                <a:cs typeface="Calibri" pitchFamily="34" charset="-120"/>
              </a:rPr>
              <a:t>Holds the real SENDER_EMAIL and SENDER_PASSWORD locally — never committed.</a:t>
            </a:r>
            <a:endParaRPr lang="en-US" sz="1100" dirty="0"/>
          </a:p>
        </p:txBody>
      </p:sp>
      <p:sp>
        <p:nvSpPr>
          <p:cNvPr id="21" name="Text 19"/>
          <p:cNvSpPr/>
          <p:nvPr/>
        </p:nvSpPr>
        <p:spPr>
          <a:xfrm>
            <a:off x="4480560" y="4754880"/>
            <a:ext cx="33832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.env.example</a:t>
            </a:r>
            <a:endParaRPr lang="en-US" sz="1300" dirty="0"/>
          </a:p>
        </p:txBody>
      </p:sp>
      <p:sp>
        <p:nvSpPr>
          <p:cNvPr id="22" name="Text 20"/>
          <p:cNvSpPr/>
          <p:nvPr/>
        </p:nvSpPr>
        <p:spPr>
          <a:xfrm>
            <a:off x="4480560" y="5074920"/>
            <a:ext cx="3383280" cy="914400"/>
          </a:xfrm>
          <a:prstGeom prst="rect">
            <a:avLst/>
          </a:prstGeom>
          <a:noFill/>
          <a:ln/>
        </p:spPr>
        <p:txBody>
          <a:bodyPr wrap="square" rtlCol="0" anchor="t"/>
          <a:lstStyle/>
          <a:p>
            <a:pPr marL="0" indent="0">
              <a:lnSpc>
                <a:spcPct val="120000"/>
              </a:lnSpc>
              <a:buNone/>
            </a:pPr>
            <a:r>
              <a:rPr lang="en-US" sz="1100" dirty="0">
                <a:solidFill>
                  <a:srgbClr val="DCEAE4"/>
                </a:solidFill>
                <a:latin typeface="Calibri" pitchFamily="34" charset="0"/>
                <a:ea typeface="Calibri" pitchFamily="34" charset="-122"/>
                <a:cs typeface="Calibri" pitchFamily="34" charset="-120"/>
              </a:rPr>
              <a:t>A template with blank values so the project still documents what’s required.</a:t>
            </a:r>
            <a:endParaRPr lang="en-US" sz="1100" dirty="0"/>
          </a:p>
        </p:txBody>
      </p:sp>
      <p:sp>
        <p:nvSpPr>
          <p:cNvPr id="23" name="Text 21"/>
          <p:cNvSpPr/>
          <p:nvPr/>
        </p:nvSpPr>
        <p:spPr>
          <a:xfrm>
            <a:off x="8138160" y="4754880"/>
            <a:ext cx="3383280" cy="29260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.gitignore</a:t>
            </a:r>
            <a:endParaRPr lang="en-US" sz="1300" dirty="0"/>
          </a:p>
        </p:txBody>
      </p:sp>
      <p:sp>
        <p:nvSpPr>
          <p:cNvPr id="24" name="Text 22"/>
          <p:cNvSpPr/>
          <p:nvPr/>
        </p:nvSpPr>
        <p:spPr>
          <a:xfrm>
            <a:off x="8138160" y="5074920"/>
            <a:ext cx="3383280" cy="914400"/>
          </a:xfrm>
          <a:prstGeom prst="rect">
            <a:avLst/>
          </a:prstGeom>
          <a:noFill/>
          <a:ln/>
        </p:spPr>
        <p:txBody>
          <a:bodyPr wrap="square" rtlCol="0" anchor="t"/>
          <a:lstStyle/>
          <a:p>
            <a:pPr marL="0" indent="0">
              <a:lnSpc>
                <a:spcPct val="120000"/>
              </a:lnSpc>
              <a:buNone/>
            </a:pPr>
            <a:r>
              <a:rPr lang="en-US" sz="1100" dirty="0">
                <a:solidFill>
                  <a:srgbClr val="DCEAE4"/>
                </a:solidFill>
                <a:latin typeface="Calibri" pitchFamily="34" charset="0"/>
                <a:ea typeface="Calibri" pitchFamily="34" charset="-122"/>
                <a:cs typeface="Calibri" pitchFamily="34" charset="-120"/>
              </a:rPr>
              <a:t>Excludes .env (and other local/generated files) from version control.</a:t>
            </a:r>
            <a:endParaRPr lang="en-US" sz="1100" dirty="0"/>
          </a:p>
        </p:txBody>
      </p:sp>
      <p:sp>
        <p:nvSpPr>
          <p:cNvPr id="25" name="Text 23"/>
          <p:cNvSpPr/>
          <p:nvPr/>
        </p:nvSpPr>
        <p:spPr>
          <a:xfrm>
            <a:off x="457200" y="6528816"/>
            <a:ext cx="7315200" cy="274320"/>
          </a:xfrm>
          <a:prstGeom prst="rect">
            <a:avLst/>
          </a:prstGeom>
          <a:noFill/>
          <a:ln/>
        </p:spPr>
        <p:txBody>
          <a:bodyPr wrap="square" rtlCol="0" anchor="ctr"/>
          <a:lstStyle/>
          <a:p>
            <a:pPr marL="0" indent="0" algn="l">
              <a:buNone/>
            </a:pPr>
            <a:r>
              <a:rPr lang="en-US" sz="900" dirty="0">
                <a:solidFill>
                  <a:srgbClr val="5C6B64"/>
                </a:solidFill>
                <a:latin typeface="Calibri" pitchFamily="34" charset="0"/>
                <a:ea typeface="Calibri" pitchFamily="34" charset="-122"/>
                <a:cs typeface="Calibri" pitchFamily="34" charset="-120"/>
              </a:rPr>
              <a:t>Pet Adoption &amp; Rescue Management System</a:t>
            </a:r>
            <a:endParaRPr lang="en-US" sz="900" dirty="0"/>
          </a:p>
        </p:txBody>
      </p:sp>
      <p:sp>
        <p:nvSpPr>
          <p:cNvPr id="26" name="Text 24"/>
          <p:cNvSpPr/>
          <p:nvPr/>
        </p:nvSpPr>
        <p:spPr>
          <a:xfrm>
            <a:off x="11430000" y="6528816"/>
            <a:ext cx="365760" cy="274320"/>
          </a:xfrm>
          <a:prstGeom prst="rect">
            <a:avLst/>
          </a:prstGeom>
          <a:noFill/>
          <a:ln/>
        </p:spPr>
        <p:txBody>
          <a:bodyPr wrap="square" rtlCol="0" anchor="ctr"/>
          <a:lstStyle/>
          <a:p>
            <a:pPr marL="0" indent="0" algn="r">
              <a:buNone/>
            </a:pPr>
            <a:r>
              <a:rPr lang="en-US" sz="900" dirty="0">
                <a:solidFill>
                  <a:srgbClr val="5C6B6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ellipse">
            <a:avLst/>
          </a:prstGeom>
          <a:solidFill>
            <a:srgbClr val="84B59F">
              <a:alpha val="12000"/>
            </a:srgbClr>
          </a:solidFill>
          <a:ln/>
        </p:spPr>
      </p:sp>
      <p:sp>
        <p:nvSpPr>
          <p:cNvPr id="3" name="Shape 1"/>
          <p:cNvSpPr/>
          <p:nvPr/>
        </p:nvSpPr>
        <p:spPr>
          <a:xfrm>
            <a:off x="9875520" y="4389120"/>
            <a:ext cx="4023360" cy="4023360"/>
          </a:xfrm>
          <a:prstGeom prst="ellipse">
            <a:avLst/>
          </a:prstGeom>
          <a:solidFill>
            <a:srgbClr val="69A297">
              <a:alpha val="10000"/>
            </a:srgbClr>
          </a:solidFill>
          <a:ln/>
        </p:spPr>
      </p:sp>
      <p:sp>
        <p:nvSpPr>
          <p:cNvPr id="4" name="Text 2"/>
          <p:cNvSpPr/>
          <p:nvPr/>
        </p:nvSpPr>
        <p:spPr>
          <a:xfrm>
            <a:off x="822960" y="1463040"/>
            <a:ext cx="5486400" cy="274320"/>
          </a:xfrm>
          <a:prstGeom prst="rect">
            <a:avLst/>
          </a:prstGeom>
          <a:noFill/>
          <a:ln/>
        </p:spPr>
        <p:txBody>
          <a:bodyPr wrap="square" rtlCol="0" anchor="ctr"/>
          <a:lstStyle/>
          <a:p>
            <a:pPr marL="0" indent="0">
              <a:buNone/>
            </a:pPr>
            <a:r>
              <a:rPr lang="en-US" sz="1200" b="1" kern="0" spc="200" dirty="0">
                <a:solidFill>
                  <a:srgbClr val="84B59F"/>
                </a:solidFill>
                <a:latin typeface="Calibri" pitchFamily="34" charset="0"/>
                <a:ea typeface="Calibri" pitchFamily="34" charset="-122"/>
                <a:cs typeface="Calibri" pitchFamily="34" charset="-120"/>
              </a:rPr>
              <a:t>SUMMARY</a:t>
            </a:r>
            <a:endParaRPr lang="en-US" sz="1200" dirty="0"/>
          </a:p>
        </p:txBody>
      </p:sp>
      <p:sp>
        <p:nvSpPr>
          <p:cNvPr id="5" name="Text 3"/>
          <p:cNvSpPr/>
          <p:nvPr/>
        </p:nvSpPr>
        <p:spPr>
          <a:xfrm>
            <a:off x="822960" y="1828800"/>
            <a:ext cx="9601200" cy="1371600"/>
          </a:xfrm>
          <a:prstGeom prst="rect">
            <a:avLst/>
          </a:prstGeom>
          <a:noFill/>
          <a:ln/>
        </p:spPr>
        <p:txBody>
          <a:bodyPr wrap="square"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A single role-aware system,</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end to end.</a:t>
            </a:r>
            <a:endParaRPr lang="en-US" sz="3400" dirty="0"/>
          </a:p>
        </p:txBody>
      </p:sp>
      <p:sp>
        <p:nvSpPr>
          <p:cNvPr id="6" name="Text 4"/>
          <p:cNvSpPr/>
          <p:nvPr/>
        </p:nvSpPr>
        <p:spPr>
          <a:xfrm>
            <a:off x="822960" y="3246120"/>
            <a:ext cx="9326880" cy="1280160"/>
          </a:xfrm>
          <a:prstGeom prst="rect">
            <a:avLst/>
          </a:prstGeom>
          <a:noFill/>
          <a:ln/>
        </p:spPr>
        <p:txBody>
          <a:bodyPr wrap="square" rtlCol="0" anchor="ctr"/>
          <a:lstStyle/>
          <a:p>
            <a:pPr marL="0" indent="0">
              <a:lnSpc>
                <a:spcPct val="135000"/>
              </a:lnSpc>
              <a:buNone/>
            </a:pPr>
            <a:r>
              <a:rPr lang="en-US" sz="1400" dirty="0">
                <a:solidFill>
                  <a:srgbClr val="C7D8D1"/>
                </a:solidFill>
                <a:latin typeface="Calibri" pitchFamily="34" charset="0"/>
                <a:ea typeface="Calibri" pitchFamily="34" charset="-122"/>
                <a:cs typeface="Calibri" pitchFamily="34" charset="-120"/>
              </a:rPr>
              <a:t>Six modules — authentication, inventory, search, medical tracking, transactions, and analytics — built by six owners and tied together by one shared access-control layer. This version resolves the adoption-workflow bugs, anchors the database path, and moves credentials out of source code.</a:t>
            </a:r>
            <a:endParaRPr lang="en-US" sz="1400" dirty="0"/>
          </a:p>
        </p:txBody>
      </p:sp>
      <p:sp>
        <p:nvSpPr>
          <p:cNvPr id="7" name="Shape 5"/>
          <p:cNvSpPr/>
          <p:nvPr/>
        </p:nvSpPr>
        <p:spPr>
          <a:xfrm>
            <a:off x="822960" y="4800600"/>
            <a:ext cx="2011680" cy="0"/>
          </a:xfrm>
          <a:prstGeom prst="line">
            <a:avLst/>
          </a:prstGeom>
          <a:noFill/>
          <a:ln w="25400">
            <a:solidFill>
              <a:srgbClr val="84B59F"/>
            </a:solidFill>
            <a:prstDash val="solid"/>
          </a:ln>
        </p:spPr>
      </p:sp>
      <p:sp>
        <p:nvSpPr>
          <p:cNvPr id="8" name="Text 6"/>
          <p:cNvSpPr/>
          <p:nvPr/>
        </p:nvSpPr>
        <p:spPr>
          <a:xfrm>
            <a:off x="822960" y="4983480"/>
            <a:ext cx="7315200" cy="365760"/>
          </a:xfrm>
          <a:prstGeom prst="rect">
            <a:avLst/>
          </a:prstGeom>
          <a:noFill/>
          <a:ln/>
        </p:spPr>
        <p:txBody>
          <a:bodyPr wrap="square" rtlCol="0" anchor="ctr"/>
          <a:lstStyle/>
          <a:p>
            <a:pPr marL="0" indent="0">
              <a:buNone/>
            </a:pPr>
            <a:r>
              <a:rPr lang="en-US" sz="1300" i="1" dirty="0">
                <a:solidFill>
                  <a:srgbClr val="9FB5AC"/>
                </a:solidFill>
                <a:latin typeface="Calibri" pitchFamily="34" charset="0"/>
                <a:ea typeface="Calibri" pitchFamily="34" charset="-122"/>
                <a:cs typeface="Calibri" pitchFamily="34" charset="-120"/>
              </a:rPr>
              <a:t>Thank you  —  RescueOps Development Team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2061</Words>
  <Application>Microsoft Office PowerPoint</Application>
  <PresentationFormat>Widescreen</PresentationFormat>
  <Paragraphs>318</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Riya Patani</cp:lastModifiedBy>
  <cp:revision>2</cp:revision>
  <dcterms:created xsi:type="dcterms:W3CDTF">2026-07-12T18:19:21Z</dcterms:created>
  <dcterms:modified xsi:type="dcterms:W3CDTF">2026-07-14T04:12:19Z</dcterms:modified>
</cp:coreProperties>
</file>