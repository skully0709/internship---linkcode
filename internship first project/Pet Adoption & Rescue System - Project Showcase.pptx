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Pets housed</c:v>
                </c:pt>
              </c:strCache>
            </c:strRef>
          </c:tx>
          <c:spPr>
            <a:solidFill>
              <a:srgbClr val="E3B2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4F1E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North</c:v>
                  </c:pt>
                  <c:pt idx="1">
                    <c:v>East</c:v>
                  </c:pt>
                  <c:pt idx="2">
                    <c:v>South</c:v>
                  </c:pt>
                  <c:pt idx="3">
                    <c:v>West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31</c:v>
                </c:pt>
                <c:pt idx="2">
                  <c:v>27</c:v>
                </c:pt>
                <c:pt idx="3">
                  <c:v>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4F1E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72C3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297A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272C3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272C3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297A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41821">
            <a:alpha val="0"/>
          </a:srgbClr>
        </a:solidFill>
        <a:ln>
          <a:noFill/>
        </a:ln>
        <a:effectLst/>
      </c:spPr>
    </c:plotArea>
    <c:plotVisOnly val="1"/>
    <c:dispBlanksAs val="span"/>
  </c:chart>
  <c:spPr>
    <a:solidFill>
      <a:srgbClr val="141821">
        <a:alpha val="0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C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2011680"/>
            <a:ext cx="7315200" cy="7315200"/>
          </a:xfrm>
          <a:prstGeom prst="ellipse">
            <a:avLst/>
          </a:prstGeom>
          <a:solidFill>
            <a:srgbClr val="E3B23C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114800"/>
            <a:ext cx="6400800" cy="6400800"/>
          </a:xfrm>
          <a:prstGeom prst="ellipse">
            <a:avLst/>
          </a:prstGeom>
          <a:solidFill>
            <a:srgbClr val="49B9AE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2331720"/>
            <a:ext cx="82296" cy="82296"/>
          </a:xfrm>
          <a:prstGeom prst="ellipse">
            <a:avLst/>
          </a:prstGeom>
          <a:solidFill>
            <a:srgbClr val="E3B23C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240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CONSOLE-BASED GROUP PROJECT  ·  PYTHON  +  SQLITE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102412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46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Pet Adoption</a:t>
            </a:r>
            <a:endParaRPr lang="en-US" sz="46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46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Rescue Management System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795528" y="4526280"/>
            <a:ext cx="8961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92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Streamlining shelter operations end-to-end — from adopter registration to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92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vaccination alerts, adoption workflows, donations, and live analytics.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95528" y="5349240"/>
            <a:ext cx="2011680" cy="0"/>
          </a:xfrm>
          <a:prstGeom prst="line">
            <a:avLst/>
          </a:prstGeom>
          <a:noFill/>
          <a:ln w="19050">
            <a:solidFill>
              <a:srgbClr val="9C7A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5486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A6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six-module system built by a six-person team</a:t>
            </a:r>
            <a:endParaRPr lang="en-US" sz="1200" dirty="0"/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C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5120640"/>
            <a:ext cx="5486400" cy="5486400"/>
          </a:xfrm>
          <a:prstGeom prst="ellipse">
            <a:avLst/>
          </a:prstGeom>
          <a:solidFill>
            <a:srgbClr val="E3B23C">
              <a:alpha val="9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943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77240" y="86868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system, every shelter workflow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77240" y="1691640"/>
            <a:ext cx="5989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92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menu-driven terminal application that gives rescue shelters a single source of truth: who's registered, which pets are available, whose vaccinations are due, which adoptions are pending, and how the shelter is trending — without spreadsheets or paper trails.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77240" y="34290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3B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77240" y="3950208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2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database tables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350008" y="34290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3B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350008" y="3950208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2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modules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922776" y="34290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3B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922776" y="3950208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2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dashboards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495544" y="34290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3B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3,200+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495544" y="3950208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2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Python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178040" y="1691640"/>
            <a:ext cx="4251960" cy="4160520"/>
          </a:xfrm>
          <a:prstGeom prst="roundRect">
            <a:avLst>
              <a:gd name="adj" fmla="val 2198"/>
            </a:avLst>
          </a:prstGeom>
          <a:solidFill>
            <a:srgbClr val="141821"/>
          </a:solidFill>
          <a:ln w="12700">
            <a:solidFill>
              <a:srgbClr val="272C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0" y="1920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roles, one platform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498080" y="2423160"/>
            <a:ext cx="384048" cy="384048"/>
          </a:xfrm>
          <a:prstGeom prst="ellipse">
            <a:avLst/>
          </a:prstGeom>
          <a:solidFill>
            <a:srgbClr val="1B202C"/>
          </a:solidFill>
          <a:ln w="15875">
            <a:solidFill>
              <a:srgbClr val="E3B2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0" y="24231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00100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498080" y="278892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2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 — inventory, vaccinations, approvals, analytics, user &amp; account management.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498080" y="3611880"/>
            <a:ext cx="384048" cy="384048"/>
          </a:xfrm>
          <a:prstGeom prst="ellipse">
            <a:avLst/>
          </a:prstGeom>
          <a:solidFill>
            <a:srgbClr val="1B202C"/>
          </a:solidFill>
          <a:ln w="15875">
            <a:solidFill>
              <a:srgbClr val="E3B2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0" y="36118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001000" y="3611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Adopter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498080" y="39776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2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&amp; search pets, submit adoption requests, track applications, view vaccination records, donate.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498080" y="4892040"/>
            <a:ext cx="3566160" cy="0"/>
          </a:xfrm>
          <a:prstGeom prst="line">
            <a:avLst/>
          </a:prstGeom>
          <a:noFill/>
          <a:ln w="12700">
            <a:solidFill>
              <a:srgbClr val="272C3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0" y="5029200"/>
            <a:ext cx="3611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6A6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is routed through role-checked dashboards, then logged to an audit trail.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" y="652881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6A6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 ADOPTION &amp; RESCUE MANAGEMENT SYSTEM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247120" y="6528816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A6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9525">
            <a:solidFill>
              <a:srgbClr val="272C38"/>
            </a:solidFill>
            <a:prstDash val="solid"/>
          </a:ln>
        </p:spPr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C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49B9AE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943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77240" y="8686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lean, built for the terminal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1874520"/>
            <a:ext cx="3429000" cy="1783080"/>
          </a:xfrm>
          <a:prstGeom prst="roundRect">
            <a:avLst>
              <a:gd name="adj" fmla="val 4615"/>
            </a:avLst>
          </a:prstGeom>
          <a:solidFill>
            <a:srgbClr val="141821"/>
          </a:solidFill>
          <a:ln w="12700">
            <a:solidFill>
              <a:srgbClr val="272C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14984" y="2112264"/>
            <a:ext cx="475488" cy="475488"/>
          </a:xfrm>
          <a:prstGeom prst="ellipse">
            <a:avLst/>
          </a:prstGeom>
          <a:solidFill>
            <a:srgbClr val="1B202C"/>
          </a:solidFill>
          <a:ln w="15875">
            <a:solidFill>
              <a:srgbClr val="E3B2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4984" y="211226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14984" y="2770632"/>
            <a:ext cx="2953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14984" y="3118104"/>
            <a:ext cx="2953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92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application language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4407408" y="1874520"/>
            <a:ext cx="3429000" cy="1783080"/>
          </a:xfrm>
          <a:prstGeom prst="roundRect">
            <a:avLst>
              <a:gd name="adj" fmla="val 4615"/>
            </a:avLst>
          </a:prstGeom>
          <a:solidFill>
            <a:srgbClr val="141821"/>
          </a:solidFill>
          <a:ln w="12700">
            <a:solidFill>
              <a:srgbClr val="272C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45152" y="2112264"/>
            <a:ext cx="475488" cy="475488"/>
          </a:xfrm>
          <a:prstGeom prst="ellipse">
            <a:avLst/>
          </a:prstGeom>
          <a:solidFill>
            <a:srgbClr val="1B202C"/>
          </a:solidFill>
          <a:ln w="15875">
            <a:solidFill>
              <a:srgbClr val="E3B2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45152" y="211226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645152" y="2770632"/>
            <a:ext cx="2953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45152" y="3118104"/>
            <a:ext cx="2953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92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relational database — petadoption.db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8037576" y="1874520"/>
            <a:ext cx="3429000" cy="1783080"/>
          </a:xfrm>
          <a:prstGeom prst="roundRect">
            <a:avLst>
              <a:gd name="adj" fmla="val 4615"/>
            </a:avLst>
          </a:prstGeom>
          <a:solidFill>
            <a:srgbClr val="141821"/>
          </a:solidFill>
          <a:ln w="12700">
            <a:solidFill>
              <a:srgbClr val="272C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75320" y="2112264"/>
            <a:ext cx="475488" cy="475488"/>
          </a:xfrm>
          <a:prstGeom prst="ellipse">
            <a:avLst/>
          </a:prstGeom>
          <a:solidFill>
            <a:srgbClr val="1B202C"/>
          </a:solidFill>
          <a:ln w="15875">
            <a:solidFill>
              <a:srgbClr val="E3B2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75320" y="211226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275320" y="2770632"/>
            <a:ext cx="2953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tabulate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75320" y="3118104"/>
            <a:ext cx="2953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92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Formatted console table output across every module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777240" y="3886200"/>
            <a:ext cx="3429000" cy="1783080"/>
          </a:xfrm>
          <a:prstGeom prst="roundRect">
            <a:avLst>
              <a:gd name="adj" fmla="val 4615"/>
            </a:avLst>
          </a:prstGeom>
          <a:solidFill>
            <a:srgbClr val="141821"/>
          </a:solidFill>
          <a:ln w="12700">
            <a:solidFill>
              <a:srgbClr val="272C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14984" y="4123944"/>
            <a:ext cx="475488" cy="475488"/>
          </a:xfrm>
          <a:prstGeom prst="ellipse">
            <a:avLst/>
          </a:prstGeom>
          <a:solidFill>
            <a:srgbClr val="1B202C"/>
          </a:solidFill>
          <a:ln w="15875">
            <a:solidFill>
              <a:srgbClr val="E3B2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14984" y="412394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1014984" y="4782312"/>
            <a:ext cx="2953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14984" y="5129784"/>
            <a:ext cx="2953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92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trend, species &amp; occupancy visualizations</a:t>
            </a:r>
            <a:endParaRPr lang="en-US" sz="1030" dirty="0"/>
          </a:p>
        </p:txBody>
      </p:sp>
      <p:sp>
        <p:nvSpPr>
          <p:cNvPr id="25" name="Shape 23"/>
          <p:cNvSpPr/>
          <p:nvPr/>
        </p:nvSpPr>
        <p:spPr>
          <a:xfrm>
            <a:off x="4407408" y="3886200"/>
            <a:ext cx="3429000" cy="1783080"/>
          </a:xfrm>
          <a:prstGeom prst="roundRect">
            <a:avLst>
              <a:gd name="adj" fmla="val 4615"/>
            </a:avLst>
          </a:prstGeom>
          <a:solidFill>
            <a:srgbClr val="141821"/>
          </a:solidFill>
          <a:ln w="12700">
            <a:solidFill>
              <a:srgbClr val="272C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45152" y="4123944"/>
            <a:ext cx="475488" cy="475488"/>
          </a:xfrm>
          <a:prstGeom prst="ellipse">
            <a:avLst/>
          </a:prstGeom>
          <a:solidFill>
            <a:srgbClr val="1B202C"/>
          </a:solidFill>
          <a:ln w="15875">
            <a:solidFill>
              <a:srgbClr val="E3B2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45152" y="412394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4645152" y="4782312"/>
            <a:ext cx="2953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smtplib / email.mime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645152" y="5129784"/>
            <a:ext cx="2953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92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codes &amp; emailed donation invoices</a:t>
            </a:r>
            <a:endParaRPr lang="en-US" sz="1030" dirty="0"/>
          </a:p>
        </p:txBody>
      </p:sp>
      <p:sp>
        <p:nvSpPr>
          <p:cNvPr id="30" name="Shape 28"/>
          <p:cNvSpPr/>
          <p:nvPr/>
        </p:nvSpPr>
        <p:spPr>
          <a:xfrm>
            <a:off x="8037576" y="3886200"/>
            <a:ext cx="3429000" cy="1783080"/>
          </a:xfrm>
          <a:prstGeom prst="roundRect">
            <a:avLst>
              <a:gd name="adj" fmla="val 4615"/>
            </a:avLst>
          </a:prstGeom>
          <a:solidFill>
            <a:srgbClr val="141821"/>
          </a:solidFill>
          <a:ln w="12700">
            <a:solidFill>
              <a:srgbClr val="272C3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75320" y="4123944"/>
            <a:ext cx="475488" cy="475488"/>
          </a:xfrm>
          <a:prstGeom prst="ellipse">
            <a:avLst/>
          </a:prstGeom>
          <a:solidFill>
            <a:srgbClr val="1B202C"/>
          </a:solidFill>
          <a:ln w="15875">
            <a:solidFill>
              <a:srgbClr val="E3B23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75320" y="412394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900" dirty="0"/>
          </a:p>
        </p:txBody>
      </p:sp>
      <p:sp>
        <p:nvSpPr>
          <p:cNvPr id="33" name="Text 31"/>
          <p:cNvSpPr/>
          <p:nvPr/>
        </p:nvSpPr>
        <p:spPr>
          <a:xfrm>
            <a:off x="8275320" y="4782312"/>
            <a:ext cx="2953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hashlib (SHA-256)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275320" y="5129784"/>
            <a:ext cx="2953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92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hashing — credentials never stored in plain text</a:t>
            </a:r>
            <a:endParaRPr lang="en-US" sz="1030" dirty="0"/>
          </a:p>
        </p:txBody>
      </p:sp>
      <p:sp>
        <p:nvSpPr>
          <p:cNvPr id="35" name="Text 33"/>
          <p:cNvSpPr/>
          <p:nvPr/>
        </p:nvSpPr>
        <p:spPr>
          <a:xfrm>
            <a:off x="502920" y="652881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6A6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 ADOPTION &amp; RESCUE MANAGEMENT SYSTEM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1247120" y="6528816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A6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9525">
            <a:solidFill>
              <a:srgbClr val="272C38"/>
            </a:solidFill>
            <a:prstDash val="solid"/>
          </a:ln>
        </p:spPr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C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0" y="6217920"/>
            <a:ext cx="5486400" cy="5486400"/>
          </a:xfrm>
          <a:prstGeom prst="ellipse">
            <a:avLst/>
          </a:prstGeom>
          <a:solidFill>
            <a:srgbClr val="E3B23C">
              <a:alpha val="9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943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77240" y="8686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modules connect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1783080"/>
            <a:ext cx="2926080" cy="777240"/>
          </a:xfrm>
          <a:prstGeom prst="roundRect">
            <a:avLst>
              <a:gd name="adj" fmla="val 10588"/>
            </a:avLst>
          </a:prstGeom>
          <a:solidFill>
            <a:srgbClr val="1B202C"/>
          </a:solidFill>
          <a:ln w="15875">
            <a:solidFill>
              <a:srgbClr val="E3B2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8308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run.py — entry point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40280" y="2560320"/>
            <a:ext cx="0" cy="457200"/>
          </a:xfrm>
          <a:prstGeom prst="line">
            <a:avLst/>
          </a:prstGeom>
          <a:noFill/>
          <a:ln w="19050">
            <a:solidFill>
              <a:srgbClr val="272C3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3017520"/>
            <a:ext cx="2926080" cy="685800"/>
          </a:xfrm>
          <a:prstGeom prst="roundRect">
            <a:avLst>
              <a:gd name="adj" fmla="val 12000"/>
            </a:avLst>
          </a:prstGeom>
          <a:solidFill>
            <a:srgbClr val="141821"/>
          </a:solidFill>
          <a:ln w="12700">
            <a:solidFill>
              <a:srgbClr val="272C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01752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main_file.py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+ Role Routing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703320" y="3360420"/>
            <a:ext cx="548640" cy="0"/>
          </a:xfrm>
          <a:prstGeom prst="line">
            <a:avLst/>
          </a:prstGeom>
          <a:noFill/>
          <a:ln w="15875">
            <a:solidFill>
              <a:srgbClr val="272C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51960" y="1783080"/>
            <a:ext cx="0" cy="3383280"/>
          </a:xfrm>
          <a:prstGeom prst="line">
            <a:avLst/>
          </a:prstGeom>
          <a:noFill/>
          <a:ln w="15875">
            <a:solidFill>
              <a:srgbClr val="272C3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51960" y="1783080"/>
            <a:ext cx="3246120" cy="822960"/>
          </a:xfrm>
          <a:prstGeom prst="roundRect">
            <a:avLst>
              <a:gd name="adj" fmla="val 8889"/>
            </a:avLst>
          </a:prstGeom>
          <a:solidFill>
            <a:srgbClr val="141821"/>
          </a:solidFill>
          <a:ln w="12700">
            <a:solidFill>
              <a:srgbClr val="272C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1783080"/>
            <a:ext cx="291693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pet_management.py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54112" y="1783080"/>
            <a:ext cx="3246120" cy="822960"/>
          </a:xfrm>
          <a:prstGeom prst="roundRect">
            <a:avLst>
              <a:gd name="adj" fmla="val 8889"/>
            </a:avLst>
          </a:prstGeom>
          <a:solidFill>
            <a:srgbClr val="141821"/>
          </a:solidFill>
          <a:ln w="12700">
            <a:solidFill>
              <a:srgbClr val="272C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18704" y="1783080"/>
            <a:ext cx="291693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search_menu.py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251960" y="2862072"/>
            <a:ext cx="3246120" cy="822960"/>
          </a:xfrm>
          <a:prstGeom prst="roundRect">
            <a:avLst>
              <a:gd name="adj" fmla="val 8889"/>
            </a:avLst>
          </a:prstGeom>
          <a:solidFill>
            <a:srgbClr val="141821"/>
          </a:solidFill>
          <a:ln w="12700">
            <a:solidFill>
              <a:srgbClr val="272C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16552" y="2862072"/>
            <a:ext cx="291693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vaccinations.py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754112" y="2862072"/>
            <a:ext cx="3246120" cy="822960"/>
          </a:xfrm>
          <a:prstGeom prst="roundRect">
            <a:avLst>
              <a:gd name="adj" fmla="val 8889"/>
            </a:avLst>
          </a:prstGeom>
          <a:solidFill>
            <a:srgbClr val="141821"/>
          </a:solidFill>
          <a:ln w="12700">
            <a:solidFill>
              <a:srgbClr val="272C3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18704" y="2862072"/>
            <a:ext cx="291693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adoption_transaction.py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251960" y="3941064"/>
            <a:ext cx="3246120" cy="822960"/>
          </a:xfrm>
          <a:prstGeom prst="roundRect">
            <a:avLst>
              <a:gd name="adj" fmla="val 8889"/>
            </a:avLst>
          </a:prstGeom>
          <a:solidFill>
            <a:srgbClr val="141821"/>
          </a:solidFill>
          <a:ln w="12700">
            <a:solidFill>
              <a:srgbClr val="272C3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16552" y="3941064"/>
            <a:ext cx="291693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donations.py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754112" y="3941064"/>
            <a:ext cx="3246120" cy="822960"/>
          </a:xfrm>
          <a:prstGeom prst="roundRect">
            <a:avLst>
              <a:gd name="adj" fmla="val 8889"/>
            </a:avLst>
          </a:prstGeom>
          <a:solidFill>
            <a:srgbClr val="141821"/>
          </a:solidFill>
          <a:ln w="12700">
            <a:solidFill>
              <a:srgbClr val="272C3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18704" y="3941064"/>
            <a:ext cx="291693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reports_generation.py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77240" y="5257800"/>
            <a:ext cx="6720840" cy="594360"/>
          </a:xfrm>
          <a:prstGeom prst="roundRect">
            <a:avLst>
              <a:gd name="adj" fmla="val 12308"/>
            </a:avLst>
          </a:prstGeom>
          <a:solidFill>
            <a:srgbClr val="12151C"/>
          </a:solidFill>
          <a:ln w="12700">
            <a:solidFill>
              <a:srgbClr val="49B9A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5257800"/>
            <a:ext cx="6720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9B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db_functions.py  →  shared SQLite connection · hashing · email · activity logging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818120" y="1783080"/>
            <a:ext cx="3611880" cy="4069080"/>
          </a:xfrm>
          <a:prstGeom prst="roundRect">
            <a:avLst>
              <a:gd name="adj" fmla="val 2532"/>
            </a:avLst>
          </a:prstGeom>
          <a:solidFill>
            <a:srgbClr val="141821"/>
          </a:solidFill>
          <a:ln w="12700">
            <a:solidFill>
              <a:srgbClr val="272C3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92440" y="20116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pattern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8092440" y="2450592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80" dirty="0">
                <a:solidFill>
                  <a:srgbClr val="92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Each module exposes two entry points — an adopter view and an admin view — both taking only the current user.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8092440" y="329184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80" dirty="0">
                <a:solidFill>
                  <a:srgbClr val="92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Role checks live in the dashboard router, not inside individual modules.</a:t>
            </a:r>
            <a:endParaRPr lang="en-US" sz="1080" dirty="0"/>
          </a:p>
        </p:txBody>
      </p:sp>
      <p:sp>
        <p:nvSpPr>
          <p:cNvPr id="30" name="Text 28"/>
          <p:cNvSpPr/>
          <p:nvPr/>
        </p:nvSpPr>
        <p:spPr>
          <a:xfrm>
            <a:off x="8092440" y="4133088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80" dirty="0">
                <a:solidFill>
                  <a:srgbClr val="92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 module-level current_user variable replaces passing arguments through every function.</a:t>
            </a:r>
            <a:endParaRPr lang="en-US" sz="1080" dirty="0"/>
          </a:p>
        </p:txBody>
      </p:sp>
      <p:sp>
        <p:nvSpPr>
          <p:cNvPr id="31" name="Text 29"/>
          <p:cNvSpPr/>
          <p:nvPr/>
        </p:nvSpPr>
        <p:spPr>
          <a:xfrm>
            <a:off x="8092440" y="4974336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80" dirty="0">
                <a:solidFill>
                  <a:srgbClr val="92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“INTEGRATION POINT” markers show exactly where a teammate's module plugs in.</a:t>
            </a:r>
            <a:endParaRPr lang="en-US" sz="1080" dirty="0"/>
          </a:p>
        </p:txBody>
      </p:sp>
      <p:sp>
        <p:nvSpPr>
          <p:cNvPr id="32" name="Text 30"/>
          <p:cNvSpPr/>
          <p:nvPr/>
        </p:nvSpPr>
        <p:spPr>
          <a:xfrm>
            <a:off x="502920" y="652881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6A6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 ADOPTION &amp; RESCUE MANAGEMENT SYSTEM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1247120" y="6528816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A6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9525">
            <a:solidFill>
              <a:srgbClr val="272C38"/>
            </a:solidFill>
            <a:prstDash val="solid"/>
          </a:ln>
        </p:spPr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C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6400800"/>
            <a:ext cx="5486400" cy="5486400"/>
          </a:xfrm>
          <a:prstGeom prst="ellipse">
            <a:avLst/>
          </a:prstGeom>
          <a:solidFill>
            <a:srgbClr val="49B9AE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943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77240" y="8686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tables, fully relational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1737360"/>
            <a:ext cx="2587752" cy="1417320"/>
          </a:xfrm>
          <a:prstGeom prst="roundRect">
            <a:avLst>
              <a:gd name="adj" fmla="val 5161"/>
            </a:avLst>
          </a:prstGeom>
          <a:solidFill>
            <a:srgbClr val="141821"/>
          </a:solidFill>
          <a:ln w="12700">
            <a:solidFill>
              <a:srgbClr val="272C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121408"/>
            <a:ext cx="2587752" cy="0"/>
          </a:xfrm>
          <a:prstGeom prst="line">
            <a:avLst/>
          </a:prstGeom>
          <a:noFill/>
          <a:ln w="9525">
            <a:solidFill>
              <a:srgbClr val="272C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2313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194560"/>
            <a:ext cx="23134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92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Admin_Id · Username · Password_Hash · Granted_By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3529584" y="1737360"/>
            <a:ext cx="2587752" cy="1417320"/>
          </a:xfrm>
          <a:prstGeom prst="roundRect">
            <a:avLst>
              <a:gd name="adj" fmla="val 5161"/>
            </a:avLst>
          </a:prstGeom>
          <a:solidFill>
            <a:srgbClr val="141821"/>
          </a:solidFill>
          <a:ln w="12700">
            <a:solidFill>
              <a:srgbClr val="272C3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29584" y="2121408"/>
            <a:ext cx="2587752" cy="0"/>
          </a:xfrm>
          <a:prstGeom prst="line">
            <a:avLst/>
          </a:prstGeom>
          <a:noFill/>
          <a:ln w="9525">
            <a:solidFill>
              <a:srgbClr val="272C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66744" y="1737360"/>
            <a:ext cx="2313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66744" y="2194560"/>
            <a:ext cx="23134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92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Adopter_Id · Username · Location · Password_Hash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6281928" y="1737360"/>
            <a:ext cx="2587752" cy="1417320"/>
          </a:xfrm>
          <a:prstGeom prst="roundRect">
            <a:avLst>
              <a:gd name="adj" fmla="val 5161"/>
            </a:avLst>
          </a:prstGeom>
          <a:solidFill>
            <a:srgbClr val="141821"/>
          </a:solidFill>
          <a:ln w="12700">
            <a:solidFill>
              <a:srgbClr val="272C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81928" y="2121408"/>
            <a:ext cx="2587752" cy="0"/>
          </a:xfrm>
          <a:prstGeom prst="line">
            <a:avLst/>
          </a:prstGeom>
          <a:noFill/>
          <a:ln w="9525">
            <a:solidFill>
              <a:srgbClr val="272C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19088" y="1737360"/>
            <a:ext cx="2313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Shelters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19088" y="2194560"/>
            <a:ext cx="23134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92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Shelter_ID · Name · Location · Capacity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9034272" y="1737360"/>
            <a:ext cx="2587752" cy="1417320"/>
          </a:xfrm>
          <a:prstGeom prst="roundRect">
            <a:avLst>
              <a:gd name="adj" fmla="val 5161"/>
            </a:avLst>
          </a:prstGeom>
          <a:solidFill>
            <a:srgbClr val="141821"/>
          </a:solidFill>
          <a:ln w="12700">
            <a:solidFill>
              <a:srgbClr val="272C3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34272" y="2121408"/>
            <a:ext cx="2587752" cy="0"/>
          </a:xfrm>
          <a:prstGeom prst="line">
            <a:avLst/>
          </a:prstGeom>
          <a:noFill/>
          <a:ln w="9525">
            <a:solidFill>
              <a:srgbClr val="272C3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71432" y="1737360"/>
            <a:ext cx="2313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71432" y="2194560"/>
            <a:ext cx="23134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92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Pet_ID · Species · Health_Status · Adoption_Status · Requested_By</a:t>
            </a:r>
            <a:endParaRPr lang="en-US" sz="930" dirty="0"/>
          </a:p>
        </p:txBody>
      </p:sp>
      <p:sp>
        <p:nvSpPr>
          <p:cNvPr id="21" name="Shape 19"/>
          <p:cNvSpPr/>
          <p:nvPr/>
        </p:nvSpPr>
        <p:spPr>
          <a:xfrm>
            <a:off x="777240" y="3337560"/>
            <a:ext cx="2587752" cy="1417320"/>
          </a:xfrm>
          <a:prstGeom prst="roundRect">
            <a:avLst>
              <a:gd name="adj" fmla="val 5161"/>
            </a:avLst>
          </a:prstGeom>
          <a:solidFill>
            <a:srgbClr val="141821"/>
          </a:solidFill>
          <a:ln w="12700">
            <a:solidFill>
              <a:srgbClr val="272C3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3721608"/>
            <a:ext cx="2587752" cy="0"/>
          </a:xfrm>
          <a:prstGeom prst="line">
            <a:avLst/>
          </a:prstGeom>
          <a:noFill/>
          <a:ln w="9525">
            <a:solidFill>
              <a:srgbClr val="272C3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3337560"/>
            <a:ext cx="2313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Vaccinations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3794760"/>
            <a:ext cx="23134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92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Vaccination_ID · Pet_ID · Vaccine_Name · Next_Due_Date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3529584" y="3337560"/>
            <a:ext cx="2587752" cy="1417320"/>
          </a:xfrm>
          <a:prstGeom prst="roundRect">
            <a:avLst>
              <a:gd name="adj" fmla="val 5161"/>
            </a:avLst>
          </a:prstGeom>
          <a:solidFill>
            <a:srgbClr val="141821"/>
          </a:solidFill>
          <a:ln w="12700">
            <a:solidFill>
              <a:srgbClr val="272C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29584" y="3721608"/>
            <a:ext cx="2587752" cy="0"/>
          </a:xfrm>
          <a:prstGeom prst="line">
            <a:avLst/>
          </a:prstGeom>
          <a:noFill/>
          <a:ln w="9525">
            <a:solidFill>
              <a:srgbClr val="272C3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66744" y="3337560"/>
            <a:ext cx="2313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Adoption_Transactions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666744" y="3794760"/>
            <a:ext cx="23134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92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Transaction_ID · Pet_ID · Adopter_Id · Adoption_Date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6281928" y="3337560"/>
            <a:ext cx="2587752" cy="1417320"/>
          </a:xfrm>
          <a:prstGeom prst="roundRect">
            <a:avLst>
              <a:gd name="adj" fmla="val 5161"/>
            </a:avLst>
          </a:prstGeom>
          <a:solidFill>
            <a:srgbClr val="141821"/>
          </a:solidFill>
          <a:ln w="12700">
            <a:solidFill>
              <a:srgbClr val="272C3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81928" y="3721608"/>
            <a:ext cx="2587752" cy="0"/>
          </a:xfrm>
          <a:prstGeom prst="line">
            <a:avLst/>
          </a:prstGeom>
          <a:noFill/>
          <a:ln w="9525">
            <a:solidFill>
              <a:srgbClr val="272C3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19088" y="3337560"/>
            <a:ext cx="2313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Donations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19088" y="3794760"/>
            <a:ext cx="23134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92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Donation_ID · Adopter_Id · Amount · Status · Purpose</a:t>
            </a:r>
            <a:endParaRPr lang="en-US" sz="930" dirty="0"/>
          </a:p>
        </p:txBody>
      </p:sp>
      <p:sp>
        <p:nvSpPr>
          <p:cNvPr id="33" name="Shape 31"/>
          <p:cNvSpPr/>
          <p:nvPr/>
        </p:nvSpPr>
        <p:spPr>
          <a:xfrm>
            <a:off x="9034272" y="3337560"/>
            <a:ext cx="2587752" cy="1417320"/>
          </a:xfrm>
          <a:prstGeom prst="roundRect">
            <a:avLst>
              <a:gd name="adj" fmla="val 5161"/>
            </a:avLst>
          </a:prstGeom>
          <a:solidFill>
            <a:srgbClr val="141821"/>
          </a:solidFill>
          <a:ln w="12700">
            <a:solidFill>
              <a:srgbClr val="272C3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034272" y="3721608"/>
            <a:ext cx="2587752" cy="0"/>
          </a:xfrm>
          <a:prstGeom prst="line">
            <a:avLst/>
          </a:prstGeom>
          <a:noFill/>
          <a:ln w="9525">
            <a:solidFill>
              <a:srgbClr val="272C3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71432" y="3337560"/>
            <a:ext cx="2313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Activity_log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171432" y="3794760"/>
            <a:ext cx="23134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92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Log_Id · Username · Role · Action · Log_Time</a:t>
            </a:r>
            <a:endParaRPr lang="en-US" sz="930" dirty="0"/>
          </a:p>
        </p:txBody>
      </p:sp>
      <p:sp>
        <p:nvSpPr>
          <p:cNvPr id="37" name="Text 35"/>
          <p:cNvSpPr/>
          <p:nvPr/>
        </p:nvSpPr>
        <p:spPr>
          <a:xfrm>
            <a:off x="777240" y="5074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9B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Pets → Shelters   ·   Vaccinations → Pets   ·   Adoption_Transactions → Pets, Adopters   ·   Donations → Adopters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77240" y="54406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6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keys enforce every relationship — no orphaned records, no duplicate adoption links.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02920" y="652881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6A6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 ADOPTION &amp; RESCUE MANAGEMENT SYSTEM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1247120" y="6528816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A6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9525">
            <a:solidFill>
              <a:srgbClr val="272C38"/>
            </a:solidFill>
            <a:prstDash val="solid"/>
          </a:ln>
        </p:spPr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C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5486400" cy="5486400"/>
          </a:xfrm>
          <a:prstGeom prst="ellipse">
            <a:avLst/>
          </a:prstGeom>
          <a:solidFill>
            <a:srgbClr val="E3B23C">
              <a:alpha val="9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943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OWNERSHIP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77240" y="8686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people, six modules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1828800"/>
            <a:ext cx="3456432" cy="1371600"/>
          </a:xfrm>
          <a:prstGeom prst="roundRect">
            <a:avLst>
              <a:gd name="adj" fmla="val 6000"/>
            </a:avLst>
          </a:prstGeom>
          <a:solidFill>
            <a:srgbClr val="141821"/>
          </a:solidFill>
          <a:ln w="12700">
            <a:solidFill>
              <a:srgbClr val="272C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8408" y="2029968"/>
            <a:ext cx="457200" cy="457200"/>
          </a:xfrm>
          <a:prstGeom prst="ellipse">
            <a:avLst/>
          </a:prstGeom>
          <a:solidFill>
            <a:srgbClr val="1B202C"/>
          </a:solidFill>
          <a:ln w="15875">
            <a:solidFill>
              <a:srgbClr val="E3B2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2029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00200" y="1993392"/>
            <a:ext cx="24505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Sarthak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00200" y="2286000"/>
            <a:ext cx="2450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— Authentication &amp; Dashboards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78408" y="2697480"/>
            <a:ext cx="3054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70" dirty="0">
                <a:solidFill>
                  <a:srgbClr val="92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architecture: routing, roles, integration</a:t>
            </a:r>
            <a:endParaRPr lang="en-US" sz="970" dirty="0"/>
          </a:p>
        </p:txBody>
      </p:sp>
      <p:sp>
        <p:nvSpPr>
          <p:cNvPr id="11" name="Shape 9"/>
          <p:cNvSpPr/>
          <p:nvPr/>
        </p:nvSpPr>
        <p:spPr>
          <a:xfrm>
            <a:off x="4434840" y="1828800"/>
            <a:ext cx="3456432" cy="1371600"/>
          </a:xfrm>
          <a:prstGeom prst="roundRect">
            <a:avLst>
              <a:gd name="adj" fmla="val 6000"/>
            </a:avLst>
          </a:prstGeom>
          <a:solidFill>
            <a:srgbClr val="141821"/>
          </a:solidFill>
          <a:ln w="12700">
            <a:solidFill>
              <a:srgbClr val="272C3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36008" y="2029968"/>
            <a:ext cx="457200" cy="457200"/>
          </a:xfrm>
          <a:prstGeom prst="ellipse">
            <a:avLst/>
          </a:prstGeom>
          <a:solidFill>
            <a:srgbClr val="1B202C"/>
          </a:solidFill>
          <a:ln w="15875">
            <a:solidFill>
              <a:srgbClr val="E3B2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36008" y="2029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257800" y="1993392"/>
            <a:ext cx="24505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Shravani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257800" y="2286000"/>
            <a:ext cx="2450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— Pet Inventory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36008" y="2697480"/>
            <a:ext cx="3054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70" dirty="0">
                <a:solidFill>
                  <a:srgbClr val="92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CRUD over the shelter's pet catalog</a:t>
            </a:r>
            <a:endParaRPr lang="en-US" sz="970" dirty="0"/>
          </a:p>
        </p:txBody>
      </p:sp>
      <p:sp>
        <p:nvSpPr>
          <p:cNvPr id="17" name="Shape 15"/>
          <p:cNvSpPr/>
          <p:nvPr/>
        </p:nvSpPr>
        <p:spPr>
          <a:xfrm>
            <a:off x="8092440" y="1828800"/>
            <a:ext cx="3456432" cy="1371600"/>
          </a:xfrm>
          <a:prstGeom prst="roundRect">
            <a:avLst>
              <a:gd name="adj" fmla="val 6000"/>
            </a:avLst>
          </a:prstGeom>
          <a:solidFill>
            <a:srgbClr val="141821"/>
          </a:solidFill>
          <a:ln w="12700">
            <a:solidFill>
              <a:srgbClr val="272C3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93608" y="2029968"/>
            <a:ext cx="457200" cy="457200"/>
          </a:xfrm>
          <a:prstGeom prst="ellipse">
            <a:avLst/>
          </a:prstGeom>
          <a:solidFill>
            <a:srgbClr val="1B202C"/>
          </a:solidFill>
          <a:ln w="15875">
            <a:solidFill>
              <a:srgbClr val="E3B2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93608" y="2029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915400" y="1993392"/>
            <a:ext cx="24505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Kadambari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915400" y="2286000"/>
            <a:ext cx="2450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— Search &amp; Discovery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93608" y="2697480"/>
            <a:ext cx="3054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70" dirty="0">
                <a:solidFill>
                  <a:srgbClr val="92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Multi-filter search across the pet catalog</a:t>
            </a:r>
            <a:endParaRPr lang="en-US" sz="970" dirty="0"/>
          </a:p>
        </p:txBody>
      </p:sp>
      <p:sp>
        <p:nvSpPr>
          <p:cNvPr id="23" name="Shape 21"/>
          <p:cNvSpPr/>
          <p:nvPr/>
        </p:nvSpPr>
        <p:spPr>
          <a:xfrm>
            <a:off x="777240" y="3419856"/>
            <a:ext cx="3456432" cy="1371600"/>
          </a:xfrm>
          <a:prstGeom prst="roundRect">
            <a:avLst>
              <a:gd name="adj" fmla="val 6000"/>
            </a:avLst>
          </a:prstGeom>
          <a:solidFill>
            <a:srgbClr val="141821"/>
          </a:solidFill>
          <a:ln w="12700">
            <a:solidFill>
              <a:srgbClr val="272C3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78408" y="3621024"/>
            <a:ext cx="457200" cy="457200"/>
          </a:xfrm>
          <a:prstGeom prst="ellipse">
            <a:avLst/>
          </a:prstGeom>
          <a:solidFill>
            <a:srgbClr val="1B202C"/>
          </a:solidFill>
          <a:ln w="15875">
            <a:solidFill>
              <a:srgbClr val="E3B2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8408" y="36210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600200" y="3584448"/>
            <a:ext cx="24505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Avishkar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600200" y="3877056"/>
            <a:ext cx="2450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— Vaccinations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78408" y="4288536"/>
            <a:ext cx="3054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70" dirty="0">
                <a:solidFill>
                  <a:srgbClr val="92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records &amp; eligibility tracking</a:t>
            </a:r>
            <a:endParaRPr lang="en-US" sz="970" dirty="0"/>
          </a:p>
        </p:txBody>
      </p:sp>
      <p:sp>
        <p:nvSpPr>
          <p:cNvPr id="29" name="Shape 27"/>
          <p:cNvSpPr/>
          <p:nvPr/>
        </p:nvSpPr>
        <p:spPr>
          <a:xfrm>
            <a:off x="4434840" y="3419856"/>
            <a:ext cx="3456432" cy="1371600"/>
          </a:xfrm>
          <a:prstGeom prst="roundRect">
            <a:avLst>
              <a:gd name="adj" fmla="val 6000"/>
            </a:avLst>
          </a:prstGeom>
          <a:solidFill>
            <a:srgbClr val="141821"/>
          </a:solidFill>
          <a:ln w="12700">
            <a:solidFill>
              <a:srgbClr val="272C3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36008" y="3621024"/>
            <a:ext cx="457200" cy="457200"/>
          </a:xfrm>
          <a:prstGeom prst="ellipse">
            <a:avLst/>
          </a:prstGeom>
          <a:solidFill>
            <a:srgbClr val="1B202C"/>
          </a:solidFill>
          <a:ln w="15875">
            <a:solidFill>
              <a:srgbClr val="E3B2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36008" y="36210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257800" y="3584448"/>
            <a:ext cx="24505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Nishtha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257800" y="3877056"/>
            <a:ext cx="2450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— Adoption Transactions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636008" y="4288536"/>
            <a:ext cx="3054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70" dirty="0">
                <a:solidFill>
                  <a:srgbClr val="92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Requests, approvals, returns, history</a:t>
            </a:r>
            <a:endParaRPr lang="en-US" sz="970" dirty="0"/>
          </a:p>
        </p:txBody>
      </p:sp>
      <p:sp>
        <p:nvSpPr>
          <p:cNvPr id="35" name="Shape 33"/>
          <p:cNvSpPr/>
          <p:nvPr/>
        </p:nvSpPr>
        <p:spPr>
          <a:xfrm>
            <a:off x="8092440" y="3419856"/>
            <a:ext cx="3456432" cy="1371600"/>
          </a:xfrm>
          <a:prstGeom prst="roundRect">
            <a:avLst>
              <a:gd name="adj" fmla="val 6000"/>
            </a:avLst>
          </a:prstGeom>
          <a:solidFill>
            <a:srgbClr val="141821"/>
          </a:solidFill>
          <a:ln w="12700">
            <a:solidFill>
              <a:srgbClr val="272C3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93608" y="3621024"/>
            <a:ext cx="457200" cy="457200"/>
          </a:xfrm>
          <a:prstGeom prst="ellipse">
            <a:avLst/>
          </a:prstGeom>
          <a:solidFill>
            <a:srgbClr val="1B202C"/>
          </a:solidFill>
          <a:ln w="15875">
            <a:solidFill>
              <a:srgbClr val="E3B23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93608" y="36210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8915400" y="3584448"/>
            <a:ext cx="24505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Shaun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915400" y="3877056"/>
            <a:ext cx="2450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— Analytics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293608" y="4288536"/>
            <a:ext cx="3054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70" dirty="0">
                <a:solidFill>
                  <a:srgbClr val="92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 matplotlib visual dashboards</a:t>
            </a:r>
            <a:endParaRPr lang="en-US" sz="970" dirty="0"/>
          </a:p>
        </p:txBody>
      </p:sp>
      <p:sp>
        <p:nvSpPr>
          <p:cNvPr id="41" name="Text 39"/>
          <p:cNvSpPr/>
          <p:nvPr/>
        </p:nvSpPr>
        <p:spPr>
          <a:xfrm>
            <a:off x="502920" y="652881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6A6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 ADOPTION &amp; RESCUE MANAGEMENT SYSTEM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11247120" y="6528816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A6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9525">
            <a:solidFill>
              <a:srgbClr val="272C38"/>
            </a:solidFill>
            <a:prstDash val="solid"/>
          </a:ln>
        </p:spPr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C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5943600"/>
            <a:ext cx="5486400" cy="5486400"/>
          </a:xfrm>
          <a:prstGeom prst="ellipse">
            <a:avLst/>
          </a:prstGeom>
          <a:solidFill>
            <a:srgbClr val="E3B23C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6692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77240" y="841248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 &amp; User Management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77240" y="1481328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2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front door — registration, login, roles, and account recovery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2057400"/>
            <a:ext cx="457200" cy="457200"/>
          </a:xfrm>
          <a:prstGeom prst="ellipse">
            <a:avLst/>
          </a:prstGeom>
          <a:solidFill>
            <a:srgbClr val="1B202C"/>
          </a:solidFill>
          <a:ln w="15875">
            <a:solidFill>
              <a:srgbClr val="E3B2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35608" y="2002536"/>
            <a:ext cx="4462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435608" y="2295144"/>
            <a:ext cx="44622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77240" y="3246120"/>
            <a:ext cx="457200" cy="457200"/>
          </a:xfrm>
          <a:prstGeom prst="ellipse">
            <a:avLst/>
          </a:prstGeom>
          <a:solidFill>
            <a:srgbClr val="1B202C"/>
          </a:solidFill>
          <a:ln w="15875">
            <a:solidFill>
              <a:srgbClr val="E3B2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35608" y="3191256"/>
            <a:ext cx="4462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435608" y="3483864"/>
            <a:ext cx="44622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77240" y="4434840"/>
            <a:ext cx="457200" cy="457200"/>
          </a:xfrm>
          <a:prstGeom prst="ellipse">
            <a:avLst/>
          </a:prstGeom>
          <a:solidFill>
            <a:srgbClr val="1B202C"/>
          </a:solidFill>
          <a:ln w="15875">
            <a:solidFill>
              <a:srgbClr val="E3B2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434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35608" y="4379976"/>
            <a:ext cx="4462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435608" y="4672584"/>
            <a:ext cx="44622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63640" y="2057400"/>
            <a:ext cx="457200" cy="457200"/>
          </a:xfrm>
          <a:prstGeom prst="ellipse">
            <a:avLst/>
          </a:prstGeom>
          <a:solidFill>
            <a:srgbClr val="1B202C"/>
          </a:solidFill>
          <a:ln w="15875">
            <a:solidFill>
              <a:srgbClr val="E3B2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922008" y="2002536"/>
            <a:ext cx="4462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922008" y="2295144"/>
            <a:ext cx="44622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63640" y="3246120"/>
            <a:ext cx="457200" cy="457200"/>
          </a:xfrm>
          <a:prstGeom prst="ellipse">
            <a:avLst/>
          </a:prstGeom>
          <a:solidFill>
            <a:srgbClr val="1B202C"/>
          </a:solidFill>
          <a:ln w="15875">
            <a:solidFill>
              <a:srgbClr val="E3B2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6364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922008" y="3191256"/>
            <a:ext cx="4462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922008" y="3483864"/>
            <a:ext cx="44622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263640" y="4434840"/>
            <a:ext cx="457200" cy="457200"/>
          </a:xfrm>
          <a:prstGeom prst="ellipse">
            <a:avLst/>
          </a:prstGeom>
          <a:solidFill>
            <a:srgbClr val="1B202C"/>
          </a:solidFill>
          <a:ln w="15875">
            <a:solidFill>
              <a:srgbClr val="E3B2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63640" y="4434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922008" y="4379976"/>
            <a:ext cx="4462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6922008" y="4672584"/>
            <a:ext cx="44622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02920" y="652881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6A6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 ADOPTION &amp; RESCUE MANAGEMENT SYSTEM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1247120" y="6528816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A6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9525">
            <a:solidFill>
              <a:srgbClr val="272C38"/>
            </a:solidFill>
            <a:prstDash val="solid"/>
          </a:ln>
        </p:spPr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C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0" y="0"/>
            <a:ext cx="5486400" cy="5486400"/>
          </a:xfrm>
          <a:prstGeom prst="ellipse">
            <a:avLst/>
          </a:prstGeom>
          <a:solidFill>
            <a:srgbClr val="49B9AE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6692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77240" y="841248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Pet Management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77240" y="1481328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2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Admin-only inventory control — the shelter's single source of truth for every pet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1965960"/>
            <a:ext cx="5257800" cy="1298448"/>
          </a:xfrm>
          <a:prstGeom prst="roundRect">
            <a:avLst>
              <a:gd name="adj" fmla="val 6338"/>
            </a:avLst>
          </a:prstGeom>
          <a:solidFill>
            <a:srgbClr val="141821"/>
          </a:solidFill>
          <a:ln w="12700">
            <a:solidFill>
              <a:srgbClr val="272C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33272" y="2203704"/>
            <a:ext cx="420624" cy="420624"/>
          </a:xfrm>
          <a:prstGeom prst="ellipse">
            <a:avLst/>
          </a:prstGeom>
          <a:solidFill>
            <a:srgbClr val="1B202C"/>
          </a:solidFill>
          <a:ln w="15875">
            <a:solidFill>
              <a:srgbClr val="E3B2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3272" y="220370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00200" y="2167128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new pets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33272" y="2752344"/>
            <a:ext cx="47457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92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name, species, breed, age, health status, and shelter assignment.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6263640" y="1965960"/>
            <a:ext cx="5257800" cy="1298448"/>
          </a:xfrm>
          <a:prstGeom prst="roundRect">
            <a:avLst>
              <a:gd name="adj" fmla="val 6338"/>
            </a:avLst>
          </a:prstGeom>
          <a:solidFill>
            <a:srgbClr val="141821"/>
          </a:solidFill>
          <a:ln w="12700">
            <a:solidFill>
              <a:srgbClr val="272C3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19672" y="2203704"/>
            <a:ext cx="420624" cy="420624"/>
          </a:xfrm>
          <a:prstGeom prst="ellipse">
            <a:avLst/>
          </a:prstGeom>
          <a:solidFill>
            <a:srgbClr val="1B202C"/>
          </a:solidFill>
          <a:ln w="15875">
            <a:solidFill>
              <a:srgbClr val="E3B2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19672" y="220370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086600" y="2167128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&amp; browse inventory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19672" y="2752344"/>
            <a:ext cx="47457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92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detail view of any pet's record across every linked shelter.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777240" y="3493008"/>
            <a:ext cx="5257800" cy="1298448"/>
          </a:xfrm>
          <a:prstGeom prst="roundRect">
            <a:avLst>
              <a:gd name="adj" fmla="val 6338"/>
            </a:avLst>
          </a:prstGeom>
          <a:solidFill>
            <a:srgbClr val="141821"/>
          </a:solidFill>
          <a:ln w="12700">
            <a:solidFill>
              <a:srgbClr val="272C3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33272" y="3730752"/>
            <a:ext cx="420624" cy="420624"/>
          </a:xfrm>
          <a:prstGeom prst="ellipse">
            <a:avLst/>
          </a:prstGeom>
          <a:solidFill>
            <a:srgbClr val="1B202C"/>
          </a:solidFill>
          <a:ln w="15875">
            <a:solidFill>
              <a:srgbClr val="E3B2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33272" y="373075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600200" y="3694176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age &amp; health status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33272" y="4279392"/>
            <a:ext cx="47457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92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medical and demographic details current as pets are re-assessed.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6263640" y="3493008"/>
            <a:ext cx="5257800" cy="1298448"/>
          </a:xfrm>
          <a:prstGeom prst="roundRect">
            <a:avLst>
              <a:gd name="adj" fmla="val 6338"/>
            </a:avLst>
          </a:prstGeom>
          <a:solidFill>
            <a:srgbClr val="141821"/>
          </a:solidFill>
          <a:ln w="12700">
            <a:solidFill>
              <a:srgbClr val="272C3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19672" y="3730752"/>
            <a:ext cx="420624" cy="420624"/>
          </a:xfrm>
          <a:prstGeom prst="ellipse">
            <a:avLst/>
          </a:prstGeom>
          <a:solidFill>
            <a:srgbClr val="1B202C"/>
          </a:solidFill>
          <a:ln w="15875">
            <a:solidFill>
              <a:srgbClr val="E3B2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19672" y="373075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086600" y="3694176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adoption status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519672" y="4279392"/>
            <a:ext cx="47457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92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pets through Available → Pending → Adopted / Unavailable.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777240" y="5020056"/>
            <a:ext cx="5257800" cy="1298448"/>
          </a:xfrm>
          <a:prstGeom prst="roundRect">
            <a:avLst>
              <a:gd name="adj" fmla="val 6338"/>
            </a:avLst>
          </a:prstGeom>
          <a:solidFill>
            <a:srgbClr val="141821"/>
          </a:solidFill>
          <a:ln w="12700">
            <a:solidFill>
              <a:srgbClr val="272C3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33272" y="5257800"/>
            <a:ext cx="420624" cy="420624"/>
          </a:xfrm>
          <a:prstGeom prst="ellipse">
            <a:avLst/>
          </a:prstGeom>
          <a:solidFill>
            <a:srgbClr val="1B202C"/>
          </a:solidFill>
          <a:ln w="15875">
            <a:solidFill>
              <a:srgbClr val="E3B2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33272" y="5257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600200" y="5221224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pet records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33272" y="5806440"/>
            <a:ext cx="47457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92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retired or duplicate entries cleanly from the catalog.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6263640" y="5020056"/>
            <a:ext cx="5257800" cy="1298448"/>
          </a:xfrm>
          <a:prstGeom prst="roundRect">
            <a:avLst>
              <a:gd name="adj" fmla="val 6338"/>
            </a:avLst>
          </a:prstGeom>
          <a:solidFill>
            <a:srgbClr val="141821"/>
          </a:solidFill>
          <a:ln w="12700">
            <a:solidFill>
              <a:srgbClr val="272C3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19672" y="5257800"/>
            <a:ext cx="420624" cy="420624"/>
          </a:xfrm>
          <a:prstGeom prst="ellipse">
            <a:avLst/>
          </a:prstGeom>
          <a:solidFill>
            <a:srgbClr val="1B202C"/>
          </a:solidFill>
          <a:ln w="15875">
            <a:solidFill>
              <a:srgbClr val="E3B2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19672" y="5257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086600" y="5221224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Multi-shelter tracking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519672" y="5806440"/>
            <a:ext cx="47457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92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pet is linked to a Shelter_ID, enabling cross-location visibility.</a:t>
            </a:r>
            <a:endParaRPr lang="en-US" sz="1080" dirty="0"/>
          </a:p>
        </p:txBody>
      </p:sp>
      <p:sp>
        <p:nvSpPr>
          <p:cNvPr id="36" name="Text 34"/>
          <p:cNvSpPr/>
          <p:nvPr/>
        </p:nvSpPr>
        <p:spPr>
          <a:xfrm>
            <a:off x="502920" y="652881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6A6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 ADOPTION &amp; RESCUE MANAGEMENT SYSTEM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1247120" y="6528816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A6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9525">
            <a:solidFill>
              <a:srgbClr val="272C38"/>
            </a:solidFill>
            <a:prstDash val="solid"/>
          </a:ln>
        </p:spPr>
      </p: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C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E3B23C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6692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77240" y="841248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Pet Search &amp; Discovery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77240" y="1481328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2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Helping adopters find the right match, fast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2057400"/>
            <a:ext cx="457200" cy="457200"/>
          </a:xfrm>
          <a:prstGeom prst="ellipse">
            <a:avLst/>
          </a:prstGeom>
          <a:solidFill>
            <a:srgbClr val="1B202C"/>
          </a:solidFill>
          <a:ln w="15875">
            <a:solidFill>
              <a:srgbClr val="E3B2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35608" y="2002536"/>
            <a:ext cx="4462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435608" y="2295144"/>
            <a:ext cx="44622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77240" y="3246120"/>
            <a:ext cx="457200" cy="457200"/>
          </a:xfrm>
          <a:prstGeom prst="ellipse">
            <a:avLst/>
          </a:prstGeom>
          <a:solidFill>
            <a:srgbClr val="1B202C"/>
          </a:solidFill>
          <a:ln w="15875">
            <a:solidFill>
              <a:srgbClr val="E3B2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35608" y="3191256"/>
            <a:ext cx="4462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435608" y="3483864"/>
            <a:ext cx="44622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77240" y="4434840"/>
            <a:ext cx="457200" cy="457200"/>
          </a:xfrm>
          <a:prstGeom prst="ellipse">
            <a:avLst/>
          </a:prstGeom>
          <a:solidFill>
            <a:srgbClr val="1B202C"/>
          </a:solidFill>
          <a:ln w="15875">
            <a:solidFill>
              <a:srgbClr val="E3B2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434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35608" y="4379976"/>
            <a:ext cx="4462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435608" y="4672584"/>
            <a:ext cx="44622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63640" y="2057400"/>
            <a:ext cx="457200" cy="457200"/>
          </a:xfrm>
          <a:prstGeom prst="ellipse">
            <a:avLst/>
          </a:prstGeom>
          <a:solidFill>
            <a:srgbClr val="1B202C"/>
          </a:solidFill>
          <a:ln w="15875">
            <a:solidFill>
              <a:srgbClr val="E3B2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922008" y="2002536"/>
            <a:ext cx="4462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922008" y="2295144"/>
            <a:ext cx="44622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63640" y="3246120"/>
            <a:ext cx="457200" cy="457200"/>
          </a:xfrm>
          <a:prstGeom prst="ellipse">
            <a:avLst/>
          </a:prstGeom>
          <a:solidFill>
            <a:srgbClr val="1B202C"/>
          </a:solidFill>
          <a:ln w="15875">
            <a:solidFill>
              <a:srgbClr val="E3B2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6364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922008" y="3191256"/>
            <a:ext cx="4462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922008" y="3483864"/>
            <a:ext cx="44622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263640" y="4434840"/>
            <a:ext cx="457200" cy="457200"/>
          </a:xfrm>
          <a:prstGeom prst="ellipse">
            <a:avLst/>
          </a:prstGeom>
          <a:solidFill>
            <a:srgbClr val="1B202C"/>
          </a:solidFill>
          <a:ln w="15875">
            <a:solidFill>
              <a:srgbClr val="E3B2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63640" y="4434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922008" y="4379976"/>
            <a:ext cx="4462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6922008" y="4672584"/>
            <a:ext cx="44622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77240" y="5532120"/>
            <a:ext cx="10607040" cy="548640"/>
          </a:xfrm>
          <a:prstGeom prst="roundRect">
            <a:avLst>
              <a:gd name="adj" fmla="val 13333"/>
            </a:avLst>
          </a:prstGeom>
          <a:solidFill>
            <a:srgbClr val="12151C"/>
          </a:solidFill>
          <a:ln w="12700">
            <a:solidFill>
              <a:srgbClr val="49B9A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553212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9B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render instantly as formatted tables via tabulate — no scrolling through raw rows.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2920" y="652881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6A6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 ADOPTION &amp; RESCUE MANAGEMENT SYSTEM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1247120" y="6528816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A6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9525">
            <a:solidFill>
              <a:srgbClr val="272C38"/>
            </a:solidFill>
            <a:prstDash val="solid"/>
          </a:ln>
        </p:spPr>
      </p:sp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C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0" y="6217920"/>
            <a:ext cx="5486400" cy="5486400"/>
          </a:xfrm>
          <a:prstGeom prst="ellipse">
            <a:avLst/>
          </a:prstGeom>
          <a:solidFill>
            <a:srgbClr val="E3B23C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6692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77240" y="841248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Vaccination &amp; Medical Records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77240" y="1481328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2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get full control; adopters get transparency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1965960"/>
            <a:ext cx="5257800" cy="1298448"/>
          </a:xfrm>
          <a:prstGeom prst="roundRect">
            <a:avLst>
              <a:gd name="adj" fmla="val 6338"/>
            </a:avLst>
          </a:prstGeom>
          <a:solidFill>
            <a:srgbClr val="141821"/>
          </a:solidFill>
          <a:ln w="12700">
            <a:solidFill>
              <a:srgbClr val="272C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33272" y="2203704"/>
            <a:ext cx="420624" cy="420624"/>
          </a:xfrm>
          <a:prstGeom prst="ellipse">
            <a:avLst/>
          </a:prstGeom>
          <a:solidFill>
            <a:srgbClr val="1B202C"/>
          </a:solidFill>
          <a:ln w="15875">
            <a:solidFill>
              <a:srgbClr val="E3B2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3272" y="220370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00200" y="2167128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vaccinations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33272" y="2752344"/>
            <a:ext cx="47457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92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vaccine name, date administered, next due date, and veterinarian.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6263640" y="1965960"/>
            <a:ext cx="5257800" cy="1298448"/>
          </a:xfrm>
          <a:prstGeom prst="roundRect">
            <a:avLst>
              <a:gd name="adj" fmla="val 6338"/>
            </a:avLst>
          </a:prstGeom>
          <a:solidFill>
            <a:srgbClr val="141821"/>
          </a:solidFill>
          <a:ln w="12700">
            <a:solidFill>
              <a:srgbClr val="272C3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19672" y="2203704"/>
            <a:ext cx="420624" cy="420624"/>
          </a:xfrm>
          <a:prstGeom prst="ellipse">
            <a:avLst/>
          </a:prstGeom>
          <a:solidFill>
            <a:srgbClr val="1B202C"/>
          </a:solidFill>
          <a:ln w="15875">
            <a:solidFill>
              <a:srgbClr val="E3B2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19672" y="220370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086600" y="2167128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vaccination records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19672" y="2752344"/>
            <a:ext cx="47457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92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or update entries as medical information changes.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777240" y="3493008"/>
            <a:ext cx="5257800" cy="1298448"/>
          </a:xfrm>
          <a:prstGeom prst="roundRect">
            <a:avLst>
              <a:gd name="adj" fmla="val 6338"/>
            </a:avLst>
          </a:prstGeom>
          <a:solidFill>
            <a:srgbClr val="141821"/>
          </a:solidFill>
          <a:ln w="12700">
            <a:solidFill>
              <a:srgbClr val="272C3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33272" y="3730752"/>
            <a:ext cx="420624" cy="420624"/>
          </a:xfrm>
          <a:prstGeom prst="ellipse">
            <a:avLst/>
          </a:prstGeom>
          <a:solidFill>
            <a:srgbClr val="1B202C"/>
          </a:solidFill>
          <a:ln w="15875">
            <a:solidFill>
              <a:srgbClr val="E3B2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33272" y="373075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600200" y="3694176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Due-date alerts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33272" y="4279392"/>
            <a:ext cx="47457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92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every pet whose next vaccination is approaching or overdue.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6263640" y="3493008"/>
            <a:ext cx="5257800" cy="1298448"/>
          </a:xfrm>
          <a:prstGeom prst="roundRect">
            <a:avLst>
              <a:gd name="adj" fmla="val 6338"/>
            </a:avLst>
          </a:prstGeom>
          <a:solidFill>
            <a:srgbClr val="141821"/>
          </a:solidFill>
          <a:ln w="12700">
            <a:solidFill>
              <a:srgbClr val="272C3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19672" y="3730752"/>
            <a:ext cx="420624" cy="420624"/>
          </a:xfrm>
          <a:prstGeom prst="ellipse">
            <a:avLst/>
          </a:prstGeom>
          <a:solidFill>
            <a:srgbClr val="1B202C"/>
          </a:solidFill>
          <a:ln w="15875">
            <a:solidFill>
              <a:srgbClr val="E3B2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19672" y="373075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086600" y="3694176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medically ineligible pets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519672" y="4279392"/>
            <a:ext cx="47457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92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a pet Unavailable when it isn't fit for adoption yet.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777240" y="5020056"/>
            <a:ext cx="5257800" cy="1298448"/>
          </a:xfrm>
          <a:prstGeom prst="roundRect">
            <a:avLst>
              <a:gd name="adj" fmla="val 6338"/>
            </a:avLst>
          </a:prstGeom>
          <a:solidFill>
            <a:srgbClr val="141821"/>
          </a:solidFill>
          <a:ln w="12700">
            <a:solidFill>
              <a:srgbClr val="272C3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33272" y="5257800"/>
            <a:ext cx="420624" cy="420624"/>
          </a:xfrm>
          <a:prstGeom prst="ellipse">
            <a:avLst/>
          </a:prstGeom>
          <a:solidFill>
            <a:srgbClr val="1B202C"/>
          </a:solidFill>
          <a:ln w="15875">
            <a:solidFill>
              <a:srgbClr val="E3B2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33272" y="5257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600200" y="5221224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history per pet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33272" y="5806440"/>
            <a:ext cx="47457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92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every vaccination record tied to a specific Pet_ID.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6263640" y="5020056"/>
            <a:ext cx="5257800" cy="1298448"/>
          </a:xfrm>
          <a:prstGeom prst="roundRect">
            <a:avLst>
              <a:gd name="adj" fmla="val 6338"/>
            </a:avLst>
          </a:prstGeom>
          <a:solidFill>
            <a:srgbClr val="141821"/>
          </a:solidFill>
          <a:ln w="12700">
            <a:solidFill>
              <a:srgbClr val="272C3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19672" y="5257800"/>
            <a:ext cx="420624" cy="420624"/>
          </a:xfrm>
          <a:prstGeom prst="ellipse">
            <a:avLst/>
          </a:prstGeom>
          <a:solidFill>
            <a:srgbClr val="1B202C"/>
          </a:solidFill>
          <a:ln w="15875">
            <a:solidFill>
              <a:srgbClr val="E3B2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19672" y="5257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086600" y="5221224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adopter access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519672" y="5806440"/>
            <a:ext cx="47457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92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Adopters can view vaccination records but never edit them.</a:t>
            </a:r>
            <a:endParaRPr lang="en-US" sz="1080" dirty="0"/>
          </a:p>
        </p:txBody>
      </p:sp>
      <p:sp>
        <p:nvSpPr>
          <p:cNvPr id="36" name="Text 34"/>
          <p:cNvSpPr/>
          <p:nvPr/>
        </p:nvSpPr>
        <p:spPr>
          <a:xfrm>
            <a:off x="502920" y="652881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6A6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 ADOPTION &amp; RESCUE MANAGEMENT SYSTEM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1247120" y="6528816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A6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9525">
            <a:solidFill>
              <a:srgbClr val="272C38"/>
            </a:solidFill>
            <a:prstDash val="solid"/>
          </a:ln>
        </p:spPr>
      </p:sp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C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6217920"/>
            <a:ext cx="5486400" cy="5486400"/>
          </a:xfrm>
          <a:prstGeom prst="ellipse">
            <a:avLst/>
          </a:prstGeom>
          <a:solidFill>
            <a:srgbClr val="49B9AE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6692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77240" y="841248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Adoption Transactions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77240" y="1481328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2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lifecycle of a request, from submission to return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2057400"/>
            <a:ext cx="1960474" cy="2331720"/>
          </a:xfrm>
          <a:prstGeom prst="roundRect">
            <a:avLst>
              <a:gd name="adj" fmla="val 4198"/>
            </a:avLst>
          </a:prstGeom>
          <a:solidFill>
            <a:srgbClr val="141821"/>
          </a:solidFill>
          <a:ln w="12700">
            <a:solidFill>
              <a:srgbClr val="272C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28877" y="2286000"/>
            <a:ext cx="457200" cy="457200"/>
          </a:xfrm>
          <a:prstGeom prst="ellipse">
            <a:avLst/>
          </a:prstGeom>
          <a:solidFill>
            <a:srgbClr val="1B202C"/>
          </a:solidFill>
          <a:ln w="15875">
            <a:solidFill>
              <a:srgbClr val="E3B2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28877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86968" y="2880360"/>
            <a:ext cx="174101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14400" y="3246120"/>
            <a:ext cx="168615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92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Adopter submits a request; pet flips to Pending and is linked to the requester.</a:t>
            </a:r>
            <a:endParaRPr lang="en-US" sz="930" dirty="0"/>
          </a:p>
        </p:txBody>
      </p:sp>
      <p:sp>
        <p:nvSpPr>
          <p:cNvPr id="11" name="Text 9"/>
          <p:cNvSpPr/>
          <p:nvPr/>
        </p:nvSpPr>
        <p:spPr>
          <a:xfrm>
            <a:off x="2719426" y="2880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C7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938882" y="2057400"/>
            <a:ext cx="1960474" cy="2331720"/>
          </a:xfrm>
          <a:prstGeom prst="roundRect">
            <a:avLst>
              <a:gd name="adj" fmla="val 4198"/>
            </a:avLst>
          </a:prstGeom>
          <a:solidFill>
            <a:srgbClr val="141821"/>
          </a:solidFill>
          <a:ln w="12700">
            <a:solidFill>
              <a:srgbClr val="272C3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90518" y="2286000"/>
            <a:ext cx="457200" cy="457200"/>
          </a:xfrm>
          <a:prstGeom prst="ellipse">
            <a:avLst/>
          </a:prstGeom>
          <a:solidFill>
            <a:srgbClr val="1B202C"/>
          </a:solidFill>
          <a:ln w="15875">
            <a:solidFill>
              <a:srgbClr val="E3B2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90518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048610" y="2880360"/>
            <a:ext cx="174101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076042" y="3246120"/>
            <a:ext cx="168615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92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blocks duplicate applications and checks real-time availability.</a:t>
            </a:r>
            <a:endParaRPr lang="en-US" sz="930" dirty="0"/>
          </a:p>
        </p:txBody>
      </p:sp>
      <p:sp>
        <p:nvSpPr>
          <p:cNvPr id="17" name="Text 15"/>
          <p:cNvSpPr/>
          <p:nvPr/>
        </p:nvSpPr>
        <p:spPr>
          <a:xfrm>
            <a:off x="4881067" y="2880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C7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100523" y="2057400"/>
            <a:ext cx="1960474" cy="2331720"/>
          </a:xfrm>
          <a:prstGeom prst="roundRect">
            <a:avLst>
              <a:gd name="adj" fmla="val 4198"/>
            </a:avLst>
          </a:prstGeom>
          <a:solidFill>
            <a:srgbClr val="141821"/>
          </a:solidFill>
          <a:ln w="12700">
            <a:solidFill>
              <a:srgbClr val="272C3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52160" y="2286000"/>
            <a:ext cx="457200" cy="457200"/>
          </a:xfrm>
          <a:prstGeom prst="ellipse">
            <a:avLst/>
          </a:prstGeom>
          <a:solidFill>
            <a:srgbClr val="1B202C"/>
          </a:solidFill>
          <a:ln w="15875">
            <a:solidFill>
              <a:srgbClr val="E3B2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5216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210251" y="2880360"/>
            <a:ext cx="174101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237683" y="3246120"/>
            <a:ext cx="168615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92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sees every pending request in a queue, ready to approve or reject.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7042709" y="2880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C7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262165" y="2057400"/>
            <a:ext cx="1960474" cy="2331720"/>
          </a:xfrm>
          <a:prstGeom prst="roundRect">
            <a:avLst>
              <a:gd name="adj" fmla="val 4198"/>
            </a:avLst>
          </a:prstGeom>
          <a:solidFill>
            <a:srgbClr val="141821"/>
          </a:solidFill>
          <a:ln w="12700">
            <a:solidFill>
              <a:srgbClr val="272C3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13802" y="2286000"/>
            <a:ext cx="457200" cy="457200"/>
          </a:xfrm>
          <a:prstGeom prst="ellipse">
            <a:avLst/>
          </a:prstGeom>
          <a:solidFill>
            <a:srgbClr val="1B202C"/>
          </a:solidFill>
          <a:ln w="15875">
            <a:solidFill>
              <a:srgbClr val="E3B2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13802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371893" y="2880360"/>
            <a:ext cx="174101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399325" y="3246120"/>
            <a:ext cx="168615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92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→ transaction recorded with date. Reject → pet freed back up.</a:t>
            </a:r>
            <a:endParaRPr lang="en-US" sz="930" dirty="0"/>
          </a:p>
        </p:txBody>
      </p:sp>
      <p:sp>
        <p:nvSpPr>
          <p:cNvPr id="29" name="Text 27"/>
          <p:cNvSpPr/>
          <p:nvPr/>
        </p:nvSpPr>
        <p:spPr>
          <a:xfrm>
            <a:off x="9204350" y="2880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C7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9423806" y="2057400"/>
            <a:ext cx="1960474" cy="2331720"/>
          </a:xfrm>
          <a:prstGeom prst="roundRect">
            <a:avLst>
              <a:gd name="adj" fmla="val 4198"/>
            </a:avLst>
          </a:prstGeom>
          <a:solidFill>
            <a:srgbClr val="141821"/>
          </a:solidFill>
          <a:ln w="12700">
            <a:solidFill>
              <a:srgbClr val="272C3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175443" y="2286000"/>
            <a:ext cx="457200" cy="457200"/>
          </a:xfrm>
          <a:prstGeom prst="ellipse">
            <a:avLst/>
          </a:prstGeom>
          <a:solidFill>
            <a:srgbClr val="1B202C"/>
          </a:solidFill>
          <a:ln w="15875">
            <a:solidFill>
              <a:srgbClr val="E3B23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175443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9533534" y="2880360"/>
            <a:ext cx="174101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&amp; Return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9560966" y="3246120"/>
            <a:ext cx="168615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92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adoption history per adopter; pets can later be processed as returned.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77240" y="470916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A6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adoption transaction is permanently tied to both its Pet_ID and Adopter_Id — full traceability, no ambiguity.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02920" y="652881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6A6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 ADOPTION &amp; RESCUE MANAGEMENT SYSTEM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1247120" y="6528816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A6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9525">
            <a:solidFill>
              <a:srgbClr val="272C38"/>
            </a:solidFill>
            <a:prstDash val="solid"/>
          </a:ln>
        </p:spPr>
      </p:sp>
    </p:spTree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C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0" y="-914400"/>
            <a:ext cx="5486400" cy="5486400"/>
          </a:xfrm>
          <a:prstGeom prst="ellipse">
            <a:avLst/>
          </a:prstGeom>
          <a:solidFill>
            <a:srgbClr val="E3B23C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6692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06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77240" y="841248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 Dashboard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77240" y="1481328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2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Admin-only reporting — tabular and visual, powered by matplotlib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2011680"/>
            <a:ext cx="457200" cy="457200"/>
          </a:xfrm>
          <a:prstGeom prst="ellipse">
            <a:avLst/>
          </a:prstGeom>
          <a:solidFill>
            <a:srgbClr val="1B202C"/>
          </a:solidFill>
          <a:ln w="15875">
            <a:solidFill>
              <a:srgbClr val="E3B2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35608" y="1956816"/>
            <a:ext cx="4370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435608" y="2249424"/>
            <a:ext cx="43708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77240" y="2971800"/>
            <a:ext cx="457200" cy="457200"/>
          </a:xfrm>
          <a:prstGeom prst="ellipse">
            <a:avLst/>
          </a:prstGeom>
          <a:solidFill>
            <a:srgbClr val="1B202C"/>
          </a:solidFill>
          <a:ln w="15875">
            <a:solidFill>
              <a:srgbClr val="E3B2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35608" y="2916936"/>
            <a:ext cx="4370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435608" y="3209544"/>
            <a:ext cx="43708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77240" y="3931920"/>
            <a:ext cx="457200" cy="457200"/>
          </a:xfrm>
          <a:prstGeom prst="ellipse">
            <a:avLst/>
          </a:prstGeom>
          <a:solidFill>
            <a:srgbClr val="1B202C"/>
          </a:solidFill>
          <a:ln w="15875">
            <a:solidFill>
              <a:srgbClr val="E3B2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35608" y="3877056"/>
            <a:ext cx="4370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435608" y="4169664"/>
            <a:ext cx="43708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77240" y="4892040"/>
            <a:ext cx="457200" cy="457200"/>
          </a:xfrm>
          <a:prstGeom prst="ellipse">
            <a:avLst/>
          </a:prstGeom>
          <a:solidFill>
            <a:srgbClr val="1B202C"/>
          </a:solidFill>
          <a:ln w="15875">
            <a:solidFill>
              <a:srgbClr val="E3B2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892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435608" y="4837176"/>
            <a:ext cx="4370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1435608" y="5129784"/>
            <a:ext cx="43708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63640" y="1965960"/>
            <a:ext cx="5120640" cy="4114800"/>
          </a:xfrm>
          <a:prstGeom prst="roundRect">
            <a:avLst>
              <a:gd name="adj" fmla="val 2222"/>
            </a:avLst>
          </a:prstGeom>
          <a:solidFill>
            <a:srgbClr val="141821"/>
          </a:solidFill>
          <a:ln w="12700">
            <a:solidFill>
              <a:srgbClr val="272C3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37960" y="21488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Shelter occupancy — bar chart</a:t>
            </a:r>
            <a:endParaRPr lang="en-US" sz="125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6537960" y="2606040"/>
          <a:ext cx="457200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Text 22"/>
          <p:cNvSpPr/>
          <p:nvPr/>
        </p:nvSpPr>
        <p:spPr>
          <a:xfrm>
            <a:off x="502920" y="652881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6A6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 ADOPTION &amp; RESCUE MANAGEMENT SYSTEM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11247120" y="6528816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A6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9525">
            <a:solidFill>
              <a:srgbClr val="272C38"/>
            </a:solidFill>
            <a:prstDash val="solid"/>
          </a:ln>
        </p:spPr>
      </p:sp>
    </p:spTree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C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371600"/>
            <a:ext cx="5486400" cy="5486400"/>
          </a:xfrm>
          <a:prstGeom prst="ellipse">
            <a:avLst/>
          </a:prstGeom>
          <a:solidFill>
            <a:srgbClr val="49B9AE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6692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07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77240" y="841248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Donations &amp; Invoicing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77240" y="1481328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2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bonus module the team built beyond spec — funding tracked end-to-end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1965960"/>
            <a:ext cx="5257800" cy="1298448"/>
          </a:xfrm>
          <a:prstGeom prst="roundRect">
            <a:avLst>
              <a:gd name="adj" fmla="val 6338"/>
            </a:avLst>
          </a:prstGeom>
          <a:solidFill>
            <a:srgbClr val="141821"/>
          </a:solidFill>
          <a:ln w="12700">
            <a:solidFill>
              <a:srgbClr val="272C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33272" y="2203704"/>
            <a:ext cx="420624" cy="420624"/>
          </a:xfrm>
          <a:prstGeom prst="ellipse">
            <a:avLst/>
          </a:prstGeom>
          <a:solidFill>
            <a:srgbClr val="1B202C"/>
          </a:solidFill>
          <a:ln w="15875">
            <a:solidFill>
              <a:srgbClr val="E3B2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3272" y="220370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00200" y="2167128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donation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33272" y="2752344"/>
            <a:ext cx="47457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92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Adopters give an amount, method, and purpose in a guided flow.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6263640" y="1965960"/>
            <a:ext cx="5257800" cy="1298448"/>
          </a:xfrm>
          <a:prstGeom prst="roundRect">
            <a:avLst>
              <a:gd name="adj" fmla="val 6338"/>
            </a:avLst>
          </a:prstGeom>
          <a:solidFill>
            <a:srgbClr val="141821"/>
          </a:solidFill>
          <a:ln w="12700">
            <a:solidFill>
              <a:srgbClr val="272C3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19672" y="2203704"/>
            <a:ext cx="420624" cy="420624"/>
          </a:xfrm>
          <a:prstGeom prst="ellipse">
            <a:avLst/>
          </a:prstGeom>
          <a:solidFill>
            <a:srgbClr val="1B202C"/>
          </a:solidFill>
          <a:ln w="15875">
            <a:solidFill>
              <a:srgbClr val="E3B2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19672" y="220370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086600" y="2167128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Walk-in donor recording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19672" y="2752344"/>
            <a:ext cx="47457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92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log donations from non-registered donors by name &amp; email.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777240" y="3493008"/>
            <a:ext cx="5257800" cy="1298448"/>
          </a:xfrm>
          <a:prstGeom prst="roundRect">
            <a:avLst>
              <a:gd name="adj" fmla="val 6338"/>
            </a:avLst>
          </a:prstGeom>
          <a:solidFill>
            <a:srgbClr val="141821"/>
          </a:solidFill>
          <a:ln w="12700">
            <a:solidFill>
              <a:srgbClr val="272C3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33272" y="3730752"/>
            <a:ext cx="420624" cy="420624"/>
          </a:xfrm>
          <a:prstGeom prst="ellipse">
            <a:avLst/>
          </a:prstGeom>
          <a:solidFill>
            <a:srgbClr val="1B202C"/>
          </a:solidFill>
          <a:ln w="15875">
            <a:solidFill>
              <a:srgbClr val="E3B2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33272" y="373075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600200" y="3694176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invoices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33272" y="4279392"/>
            <a:ext cx="47457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92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+ plain-text invoice built per donation and emailed automatically.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6263640" y="3493008"/>
            <a:ext cx="5257800" cy="1298448"/>
          </a:xfrm>
          <a:prstGeom prst="roundRect">
            <a:avLst>
              <a:gd name="adj" fmla="val 6338"/>
            </a:avLst>
          </a:prstGeom>
          <a:solidFill>
            <a:srgbClr val="141821"/>
          </a:solidFill>
          <a:ln w="12700">
            <a:solidFill>
              <a:srgbClr val="272C3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19672" y="3730752"/>
            <a:ext cx="420624" cy="420624"/>
          </a:xfrm>
          <a:prstGeom prst="ellipse">
            <a:avLst/>
          </a:prstGeom>
          <a:solidFill>
            <a:srgbClr val="1B202C"/>
          </a:solidFill>
          <a:ln w="15875">
            <a:solidFill>
              <a:srgbClr val="E3B2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19672" y="373075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086600" y="3694176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→ Confirmed workflow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519672" y="4279392"/>
            <a:ext cx="47457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92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Cash/offline donations start Pending until an admin confirms them.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777240" y="5020056"/>
            <a:ext cx="5257800" cy="1298448"/>
          </a:xfrm>
          <a:prstGeom prst="roundRect">
            <a:avLst>
              <a:gd name="adj" fmla="val 6338"/>
            </a:avLst>
          </a:prstGeom>
          <a:solidFill>
            <a:srgbClr val="141821"/>
          </a:solidFill>
          <a:ln w="12700">
            <a:solidFill>
              <a:srgbClr val="272C3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33272" y="5257800"/>
            <a:ext cx="420624" cy="420624"/>
          </a:xfrm>
          <a:prstGeom prst="ellipse">
            <a:avLst/>
          </a:prstGeom>
          <a:solidFill>
            <a:srgbClr val="1B202C"/>
          </a:solidFill>
          <a:ln w="15875">
            <a:solidFill>
              <a:srgbClr val="E3B2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33272" y="5257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600200" y="5221224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full history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33272" y="5806440"/>
            <a:ext cx="47457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92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adopter can review their own donation history; admins can search all.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6263640" y="5020056"/>
            <a:ext cx="5257800" cy="1298448"/>
          </a:xfrm>
          <a:prstGeom prst="roundRect">
            <a:avLst>
              <a:gd name="adj" fmla="val 6338"/>
            </a:avLst>
          </a:prstGeom>
          <a:solidFill>
            <a:srgbClr val="141821"/>
          </a:solidFill>
          <a:ln w="12700">
            <a:solidFill>
              <a:srgbClr val="272C3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19672" y="5257800"/>
            <a:ext cx="420624" cy="420624"/>
          </a:xfrm>
          <a:prstGeom prst="ellipse">
            <a:avLst/>
          </a:prstGeom>
          <a:solidFill>
            <a:srgbClr val="1B202C"/>
          </a:solidFill>
          <a:ln w="15875">
            <a:solidFill>
              <a:srgbClr val="E3B2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19672" y="5257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086600" y="5221224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Resend invoice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519672" y="5806440"/>
            <a:ext cx="47457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92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can regenerate and resend a receipt for any past donation.</a:t>
            </a:r>
            <a:endParaRPr lang="en-US" sz="1080" dirty="0"/>
          </a:p>
        </p:txBody>
      </p:sp>
      <p:sp>
        <p:nvSpPr>
          <p:cNvPr id="36" name="Text 34"/>
          <p:cNvSpPr/>
          <p:nvPr/>
        </p:nvSpPr>
        <p:spPr>
          <a:xfrm>
            <a:off x="502920" y="652881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6A6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 ADOPTION &amp; RESCUE MANAGEMENT SYSTEM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1247120" y="6528816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A6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9525">
            <a:solidFill>
              <a:srgbClr val="272C38"/>
            </a:solidFill>
            <a:prstDash val="solid"/>
          </a:ln>
        </p:spPr>
      </p:sp>
    </p:spTree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C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0" y="3383280"/>
            <a:ext cx="5486400" cy="5486400"/>
          </a:xfrm>
          <a:prstGeom prst="ellipse">
            <a:avLst/>
          </a:prstGeom>
          <a:solidFill>
            <a:srgbClr val="E3B23C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943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77240" y="86868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role can actually do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1874520"/>
            <a:ext cx="10607040" cy="457200"/>
          </a:xfrm>
          <a:prstGeom prst="roundRect">
            <a:avLst>
              <a:gd name="adj" fmla="val 12000"/>
            </a:avLst>
          </a:prstGeom>
          <a:solidFill>
            <a:srgbClr val="1B202C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8745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26680" y="18745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9B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Adopter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555480" y="18745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7240" y="2331720"/>
            <a:ext cx="10607040" cy="457200"/>
          </a:xfrm>
          <a:prstGeom prst="rect">
            <a:avLst/>
          </a:prstGeom>
          <a:solidFill>
            <a:srgbClr val="141821">
              <a:alpha val="6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3317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&amp; search pets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726680" y="23317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9B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555480" y="23317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27889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adoption request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726680" y="27889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9B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555480" y="27889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6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77240" y="3246120"/>
            <a:ext cx="10607040" cy="457200"/>
          </a:xfrm>
          <a:prstGeom prst="rect">
            <a:avLst/>
          </a:prstGeom>
          <a:solidFill>
            <a:srgbClr val="141821">
              <a:alpha val="6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2461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vaccination records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726680" y="32461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9B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555480" y="32461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6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" y="3703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pet inventory (CRUD)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726680" y="37033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6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555480" y="37033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77240" y="4160520"/>
            <a:ext cx="10607040" cy="457200"/>
          </a:xfrm>
          <a:prstGeom prst="rect">
            <a:avLst/>
          </a:prstGeom>
          <a:solidFill>
            <a:srgbClr val="141821">
              <a:alpha val="6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005840" y="41605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/ edit vaccinations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726680" y="41605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6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555480" y="41605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05840" y="46177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or reject adoptions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726680" y="46177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6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555480" y="46177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77240" y="5074920"/>
            <a:ext cx="10607040" cy="457200"/>
          </a:xfrm>
          <a:prstGeom prst="rect">
            <a:avLst/>
          </a:prstGeom>
          <a:solidFill>
            <a:srgbClr val="141821">
              <a:alpha val="6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1005840" y="50749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analytics dashboard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726680" y="50749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6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555480" y="50749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005840" y="55321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admin privileges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7726680" y="55321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6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555480" y="55321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777240" y="5989320"/>
            <a:ext cx="10607040" cy="0"/>
          </a:xfrm>
          <a:prstGeom prst="line">
            <a:avLst/>
          </a:prstGeom>
          <a:noFill/>
          <a:ln w="12700">
            <a:solidFill>
              <a:srgbClr val="272C3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652881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6A6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 ADOPTION &amp; RESCUE MANAGEMENT SYSTEM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1247120" y="6528816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A6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9525">
            <a:solidFill>
              <a:srgbClr val="272C38"/>
            </a:solidFill>
            <a:prstDash val="solid"/>
          </a:ln>
        </p:spPr>
      </p:sp>
    </p:spTree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C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371600"/>
            <a:ext cx="5486400" cy="5486400"/>
          </a:xfrm>
          <a:prstGeom prst="ellipse">
            <a:avLst/>
          </a:prstGeom>
          <a:solidFill>
            <a:srgbClr val="E3B23C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943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INTEGRITY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77240" y="86868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Trust, built into the data layer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2011680"/>
            <a:ext cx="457200" cy="457200"/>
          </a:xfrm>
          <a:prstGeom prst="ellipse">
            <a:avLst/>
          </a:prstGeom>
          <a:solidFill>
            <a:srgbClr val="1B202C"/>
          </a:solidFill>
          <a:ln w="15875">
            <a:solidFill>
              <a:srgbClr val="E3B2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35608" y="1956816"/>
            <a:ext cx="4462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435608" y="2249424"/>
            <a:ext cx="446227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77240" y="3246120"/>
            <a:ext cx="457200" cy="457200"/>
          </a:xfrm>
          <a:prstGeom prst="ellipse">
            <a:avLst/>
          </a:prstGeom>
          <a:solidFill>
            <a:srgbClr val="1B202C"/>
          </a:solidFill>
          <a:ln w="15875">
            <a:solidFill>
              <a:srgbClr val="E3B2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35608" y="3191256"/>
            <a:ext cx="4462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435608" y="3483864"/>
            <a:ext cx="446227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77240" y="4480560"/>
            <a:ext cx="457200" cy="457200"/>
          </a:xfrm>
          <a:prstGeom prst="ellipse">
            <a:avLst/>
          </a:prstGeom>
          <a:solidFill>
            <a:srgbClr val="1B202C"/>
          </a:solidFill>
          <a:ln w="15875">
            <a:solidFill>
              <a:srgbClr val="E3B2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480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435608" y="4425696"/>
            <a:ext cx="4462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1435608" y="4718304"/>
            <a:ext cx="446227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63640" y="2011680"/>
            <a:ext cx="457200" cy="457200"/>
          </a:xfrm>
          <a:prstGeom prst="ellipse">
            <a:avLst/>
          </a:prstGeom>
          <a:solidFill>
            <a:srgbClr val="1B202C"/>
          </a:solidFill>
          <a:ln w="15875">
            <a:solidFill>
              <a:srgbClr val="E3B2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922008" y="1956816"/>
            <a:ext cx="4462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6922008" y="2249424"/>
            <a:ext cx="446227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63640" y="3246120"/>
            <a:ext cx="457200" cy="457200"/>
          </a:xfrm>
          <a:prstGeom prst="ellipse">
            <a:avLst/>
          </a:prstGeom>
          <a:solidFill>
            <a:srgbClr val="1B202C"/>
          </a:solidFill>
          <a:ln w="15875">
            <a:solidFill>
              <a:srgbClr val="E3B2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6364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922008" y="3191256"/>
            <a:ext cx="4462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6922008" y="3483864"/>
            <a:ext cx="446227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263640" y="4480560"/>
            <a:ext cx="457200" cy="457200"/>
          </a:xfrm>
          <a:prstGeom prst="ellipse">
            <a:avLst/>
          </a:prstGeom>
          <a:solidFill>
            <a:srgbClr val="1B202C"/>
          </a:solidFill>
          <a:ln w="15875">
            <a:solidFill>
              <a:srgbClr val="E3B2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63640" y="4480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922008" y="4425696"/>
            <a:ext cx="4462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6922008" y="4718304"/>
            <a:ext cx="446227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02920" y="652881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6A6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 ADOPTION &amp; RESCUE MANAGEMENT SYSTEM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1247120" y="6528816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A6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9525">
            <a:solidFill>
              <a:srgbClr val="272C38"/>
            </a:solidFill>
            <a:prstDash val="solid"/>
          </a:ln>
        </p:spPr>
      </p:sp>
    </p:spTree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C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0" y="6217920"/>
            <a:ext cx="5486400" cy="5486400"/>
          </a:xfrm>
          <a:prstGeom prst="ellipse">
            <a:avLst/>
          </a:prstGeom>
          <a:solidFill>
            <a:srgbClr val="49B9AE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943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PHILOSOPHY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77240" y="8686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Deliberate constraints, not shortcuts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1874520"/>
            <a:ext cx="384048" cy="384048"/>
          </a:xfrm>
          <a:prstGeom prst="ellipse">
            <a:avLst/>
          </a:prstGeom>
          <a:solidFill>
            <a:srgbClr val="1B202C"/>
          </a:solidFill>
          <a:ln w="15875">
            <a:solidFill>
              <a:srgbClr val="E3B2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74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98448" y="1828800"/>
            <a:ext cx="9784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JSON, no session layer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98448" y="2121408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92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module reads and writes directly against SQLite — one predictable source of truth.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777240" y="2715768"/>
            <a:ext cx="384048" cy="384048"/>
          </a:xfrm>
          <a:prstGeom prst="ellipse">
            <a:avLst/>
          </a:prstGeom>
          <a:solidFill>
            <a:srgbClr val="1B202C"/>
          </a:solidFill>
          <a:ln w="15875">
            <a:solidFill>
              <a:srgbClr val="E3B2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7157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98448" y="2670048"/>
            <a:ext cx="9784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Role-checking centralized in dashboards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98448" y="2962656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92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modules stay simple; access control lives in one place, not scattered across six.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777240" y="3557016"/>
            <a:ext cx="384048" cy="384048"/>
          </a:xfrm>
          <a:prstGeom prst="ellipse">
            <a:avLst/>
          </a:prstGeom>
          <a:solidFill>
            <a:srgbClr val="1B202C"/>
          </a:solidFill>
          <a:ln w="15875">
            <a:solidFill>
              <a:srgbClr val="E3B2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5570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98448" y="3511296"/>
            <a:ext cx="9784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Module-level current_user, not passed arguments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98448" y="3803904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92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module keeps its own current_user, so functions stay clean with minimal parameters.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777240" y="4398264"/>
            <a:ext cx="384048" cy="384048"/>
          </a:xfrm>
          <a:prstGeom prst="ellipse">
            <a:avLst/>
          </a:prstGeom>
          <a:solidFill>
            <a:srgbClr val="1B202C"/>
          </a:solidFill>
          <a:ln w="15875">
            <a:solidFill>
              <a:srgbClr val="E3B2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3982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98448" y="4352544"/>
            <a:ext cx="9784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entry points per module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98448" y="4645152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92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module exposes exactly one adopter-facing and one admin-facing function for the dashboards to call.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777240" y="5239512"/>
            <a:ext cx="384048" cy="384048"/>
          </a:xfrm>
          <a:prstGeom prst="ellipse">
            <a:avLst/>
          </a:prstGeom>
          <a:solidFill>
            <a:srgbClr val="1B202C"/>
          </a:solidFill>
          <a:ln w="15875">
            <a:solidFill>
              <a:srgbClr val="E3B2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52395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98448" y="5193792"/>
            <a:ext cx="9784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“INTEGRATION POINT” markers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98448" y="5486400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92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comments in the codebase show teammates exactly where their module plugs into the whole.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502920" y="652881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6A6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 ADOPTION &amp; RESCUE MANAGEMENT SYSTEM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247120" y="6528816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A6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9525">
            <a:solidFill>
              <a:srgbClr val="272C38"/>
            </a:solidFill>
            <a:prstDash val="solid"/>
          </a:ln>
        </p:spPr>
      </p:sp>
    </p:spTree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C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3657600"/>
            <a:ext cx="8229600" cy="8229600"/>
          </a:xfrm>
          <a:prstGeom prst="ellipse">
            <a:avLst/>
          </a:prstGeom>
          <a:solidFill>
            <a:srgbClr val="E3B23C">
              <a:alpha val="7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943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NUMBERS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77240" y="8686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system at a glance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2011680"/>
            <a:ext cx="2514600" cy="1600200"/>
          </a:xfrm>
          <a:prstGeom prst="roundRect">
            <a:avLst>
              <a:gd name="adj" fmla="val 5143"/>
            </a:avLst>
          </a:prstGeom>
          <a:solidFill>
            <a:srgbClr val="141821"/>
          </a:solidFill>
          <a:ln w="12700">
            <a:solidFill>
              <a:srgbClr val="272C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212848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3B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14400" y="3035808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2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74720" y="2011680"/>
            <a:ext cx="2514600" cy="1600200"/>
          </a:xfrm>
          <a:prstGeom prst="roundRect">
            <a:avLst>
              <a:gd name="adj" fmla="val 5143"/>
            </a:avLst>
          </a:prstGeom>
          <a:solidFill>
            <a:srgbClr val="141821"/>
          </a:solidFill>
          <a:ln w="12700">
            <a:solidFill>
              <a:srgbClr val="272C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2212848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3B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611880" y="3035808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2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2011680"/>
            <a:ext cx="2514600" cy="1600200"/>
          </a:xfrm>
          <a:prstGeom prst="roundRect">
            <a:avLst>
              <a:gd name="adj" fmla="val 5143"/>
            </a:avLst>
          </a:prstGeom>
          <a:solidFill>
            <a:srgbClr val="141821"/>
          </a:solidFill>
          <a:ln w="12700">
            <a:solidFill>
              <a:srgbClr val="272C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72200" y="2212848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3B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60+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309360" y="3035808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2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Implemented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869680" y="2011680"/>
            <a:ext cx="2514600" cy="1600200"/>
          </a:xfrm>
          <a:prstGeom prst="roundRect">
            <a:avLst>
              <a:gd name="adj" fmla="val 5143"/>
            </a:avLst>
          </a:prstGeom>
          <a:solidFill>
            <a:srgbClr val="141821"/>
          </a:solidFill>
          <a:ln w="12700">
            <a:solidFill>
              <a:srgbClr val="272C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0" y="2212848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3B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3,200+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006840" y="3035808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2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Python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77240" y="3813048"/>
            <a:ext cx="2514600" cy="1600200"/>
          </a:xfrm>
          <a:prstGeom prst="roundRect">
            <a:avLst>
              <a:gd name="adj" fmla="val 5143"/>
            </a:avLst>
          </a:prstGeom>
          <a:solidFill>
            <a:srgbClr val="141821"/>
          </a:solidFill>
          <a:ln w="12700">
            <a:solidFill>
              <a:srgbClr val="272C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014216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3B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914400" y="4837176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2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Dashboards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474720" y="3813048"/>
            <a:ext cx="2514600" cy="1600200"/>
          </a:xfrm>
          <a:prstGeom prst="roundRect">
            <a:avLst>
              <a:gd name="adj" fmla="val 5143"/>
            </a:avLst>
          </a:prstGeom>
          <a:solidFill>
            <a:srgbClr val="141821"/>
          </a:solidFill>
          <a:ln w="12700">
            <a:solidFill>
              <a:srgbClr val="272C3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4014216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3B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3611880" y="4837176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2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Visualizations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72200" y="3813048"/>
            <a:ext cx="2514600" cy="1600200"/>
          </a:xfrm>
          <a:prstGeom prst="roundRect">
            <a:avLst>
              <a:gd name="adj" fmla="val 5143"/>
            </a:avLst>
          </a:prstGeom>
          <a:solidFill>
            <a:srgbClr val="141821"/>
          </a:solidFill>
          <a:ln w="12700">
            <a:solidFill>
              <a:srgbClr val="272C3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72200" y="4014216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3B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6309360" y="4837176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2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869680" y="3813048"/>
            <a:ext cx="2514600" cy="1600200"/>
          </a:xfrm>
          <a:prstGeom prst="roundRect">
            <a:avLst>
              <a:gd name="adj" fmla="val 5143"/>
            </a:avLst>
          </a:prstGeom>
          <a:solidFill>
            <a:srgbClr val="141821"/>
          </a:solidFill>
          <a:ln w="12700">
            <a:solidFill>
              <a:srgbClr val="272C3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69680" y="4014216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3B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9006840" y="4837176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2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SQLite Database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02920" y="652881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6A6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 ADOPTION &amp; RESCUE MANAGEMENT SYSTEM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1247120" y="6528816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A6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9525">
            <a:solidFill>
              <a:srgbClr val="272C38"/>
            </a:solidFill>
            <a:prstDash val="solid"/>
          </a:ln>
        </p:spPr>
      </p:sp>
    </p:spTree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C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49B9AE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943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77240" y="86868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&amp; future enhancements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1965960"/>
            <a:ext cx="5257800" cy="1298448"/>
          </a:xfrm>
          <a:prstGeom prst="roundRect">
            <a:avLst>
              <a:gd name="adj" fmla="val 6338"/>
            </a:avLst>
          </a:prstGeom>
          <a:solidFill>
            <a:srgbClr val="141821"/>
          </a:solidFill>
          <a:ln w="12700">
            <a:solidFill>
              <a:srgbClr val="272C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3272" y="2203704"/>
            <a:ext cx="420624" cy="420624"/>
          </a:xfrm>
          <a:prstGeom prst="ellipse">
            <a:avLst/>
          </a:prstGeom>
          <a:solidFill>
            <a:srgbClr val="1B202C"/>
          </a:solidFill>
          <a:ln w="15875">
            <a:solidFill>
              <a:srgbClr val="E3B2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220370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00200" y="2167128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Graphical / web front-end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33272" y="2752344"/>
            <a:ext cx="47457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92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beyond the terminal to a browser or GUI client over the same schema.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6263640" y="1965960"/>
            <a:ext cx="5257800" cy="1298448"/>
          </a:xfrm>
          <a:prstGeom prst="roundRect">
            <a:avLst>
              <a:gd name="adj" fmla="val 6338"/>
            </a:avLst>
          </a:prstGeom>
          <a:solidFill>
            <a:srgbClr val="141821"/>
          </a:solidFill>
          <a:ln w="12700">
            <a:solidFill>
              <a:srgbClr val="272C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19672" y="2203704"/>
            <a:ext cx="420624" cy="420624"/>
          </a:xfrm>
          <a:prstGeom prst="ellipse">
            <a:avLst/>
          </a:prstGeom>
          <a:solidFill>
            <a:srgbClr val="1B202C"/>
          </a:solidFill>
          <a:ln w="15875">
            <a:solidFill>
              <a:srgbClr val="E3B2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9672" y="220370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086600" y="2167128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19672" y="2752344"/>
            <a:ext cx="47457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92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vaccination and pending-request alerts instead of on-login checks.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777240" y="3493008"/>
            <a:ext cx="5257800" cy="1298448"/>
          </a:xfrm>
          <a:prstGeom prst="roundRect">
            <a:avLst>
              <a:gd name="adj" fmla="val 6338"/>
            </a:avLst>
          </a:prstGeom>
          <a:solidFill>
            <a:srgbClr val="141821"/>
          </a:solidFill>
          <a:ln w="12700">
            <a:solidFill>
              <a:srgbClr val="272C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33272" y="3730752"/>
            <a:ext cx="420624" cy="420624"/>
          </a:xfrm>
          <a:prstGeom prst="ellipse">
            <a:avLst/>
          </a:prstGeom>
          <a:solidFill>
            <a:srgbClr val="1B202C"/>
          </a:solidFill>
          <a:ln w="15875">
            <a:solidFill>
              <a:srgbClr val="E3B2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3272" y="373075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00200" y="3694176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attachments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33272" y="4279392"/>
            <a:ext cx="47457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92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and display pet images alongside each catalog entry.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6263640" y="3493008"/>
            <a:ext cx="5257800" cy="1298448"/>
          </a:xfrm>
          <a:prstGeom prst="roundRect">
            <a:avLst>
              <a:gd name="adj" fmla="val 6338"/>
            </a:avLst>
          </a:prstGeom>
          <a:solidFill>
            <a:srgbClr val="141821"/>
          </a:solidFill>
          <a:ln w="12700">
            <a:solidFill>
              <a:srgbClr val="272C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19672" y="3730752"/>
            <a:ext cx="420624" cy="420624"/>
          </a:xfrm>
          <a:prstGeom prst="ellipse">
            <a:avLst/>
          </a:prstGeom>
          <a:solidFill>
            <a:srgbClr val="1B202C"/>
          </a:solidFill>
          <a:ln w="15875">
            <a:solidFill>
              <a:srgbClr val="E3B2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19672" y="373075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086600" y="3694176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Richer analytics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19672" y="4279392"/>
            <a:ext cx="47457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92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retention, donor lifetime value, and shelter capacity forecasting.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777240" y="5020056"/>
            <a:ext cx="5257800" cy="1298448"/>
          </a:xfrm>
          <a:prstGeom prst="roundRect">
            <a:avLst>
              <a:gd name="adj" fmla="val 6338"/>
            </a:avLst>
          </a:prstGeom>
          <a:solidFill>
            <a:srgbClr val="141821"/>
          </a:solidFill>
          <a:ln w="12700">
            <a:solidFill>
              <a:srgbClr val="272C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33272" y="5257800"/>
            <a:ext cx="420624" cy="420624"/>
          </a:xfrm>
          <a:prstGeom prst="ellipse">
            <a:avLst/>
          </a:prstGeom>
          <a:solidFill>
            <a:srgbClr val="1B202C"/>
          </a:solidFill>
          <a:ln w="15875">
            <a:solidFill>
              <a:srgbClr val="E3B2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33272" y="5257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600200" y="5221224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Session-based API layer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33272" y="5806440"/>
            <a:ext cx="47457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92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the same modules over REST for multi-client access.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6263640" y="5020056"/>
            <a:ext cx="5257800" cy="1298448"/>
          </a:xfrm>
          <a:prstGeom prst="roundRect">
            <a:avLst>
              <a:gd name="adj" fmla="val 6338"/>
            </a:avLst>
          </a:prstGeom>
          <a:solidFill>
            <a:srgbClr val="141821"/>
          </a:solidFill>
          <a:ln w="12700">
            <a:solidFill>
              <a:srgbClr val="272C3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19672" y="5257800"/>
            <a:ext cx="420624" cy="420624"/>
          </a:xfrm>
          <a:prstGeom prst="ellipse">
            <a:avLst/>
          </a:prstGeom>
          <a:solidFill>
            <a:srgbClr val="1B202C"/>
          </a:solidFill>
          <a:ln w="15875">
            <a:solidFill>
              <a:srgbClr val="E3B23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19672" y="5257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086600" y="5221224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 suite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519672" y="5806440"/>
            <a:ext cx="47457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92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and integration coverage across all six modules.</a:t>
            </a:r>
            <a:endParaRPr lang="en-US" sz="1080" dirty="0"/>
          </a:p>
        </p:txBody>
      </p:sp>
      <p:sp>
        <p:nvSpPr>
          <p:cNvPr id="35" name="Text 33"/>
          <p:cNvSpPr/>
          <p:nvPr/>
        </p:nvSpPr>
        <p:spPr>
          <a:xfrm>
            <a:off x="502920" y="652881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6A6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 ADOPTION &amp; RESCUE MANAGEMENT SYSTEM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1247120" y="6528816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A6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9525">
            <a:solidFill>
              <a:srgbClr val="272C38"/>
            </a:solidFill>
            <a:prstDash val="solid"/>
          </a:ln>
        </p:spPr>
      </p:sp>
    </p:spTree>
  </p:cSld>
  <p:clrMapOvr>
    <a:masterClrMapping/>
  </p:clrMapOvr>
  <p:transition spd="slow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C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2011680"/>
            <a:ext cx="7315200" cy="7315200"/>
          </a:xfrm>
          <a:prstGeom prst="ellipse">
            <a:avLst/>
          </a:prstGeom>
          <a:solidFill>
            <a:srgbClr val="E3B23C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5029200"/>
            <a:ext cx="6400800" cy="6400800"/>
          </a:xfrm>
          <a:prstGeom prst="ellipse">
            <a:avLst/>
          </a:prstGeom>
          <a:solidFill>
            <a:srgbClr val="49B9AE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95528" y="246888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795528" y="34290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Pet Adoption &amp; Rescue Management System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95528" y="3977640"/>
            <a:ext cx="2011680" cy="0"/>
          </a:xfrm>
          <a:prstGeom prst="line">
            <a:avLst/>
          </a:prstGeom>
          <a:noFill/>
          <a:ln w="19050">
            <a:solidFill>
              <a:srgbClr val="9C7A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4160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2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Sarthak, Shravani, Kadambari, Avishkar, Nishtha &amp; Shaun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95528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6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feedback welcome.</a:t>
            </a:r>
            <a:endParaRPr lang="en-US" sz="1150" dirty="0"/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2026-07-13T20:07:55Z</dcterms:created>
  <dcterms:modified xsi:type="dcterms:W3CDTF">2026-07-13T20:07:55Z</dcterms:modified>
</cp:coreProperties>
</file>